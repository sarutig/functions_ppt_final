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6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27" r:id="rId46"/>
    <p:sldId id="328" r:id="rId47"/>
    <p:sldId id="300" r:id="rId48"/>
    <p:sldId id="303" r:id="rId49"/>
    <p:sldId id="304" r:id="rId50"/>
    <p:sldId id="305" r:id="rId51"/>
    <p:sldId id="306" r:id="rId52"/>
    <p:sldId id="321" r:id="rId53"/>
    <p:sldId id="322" r:id="rId54"/>
    <p:sldId id="323" r:id="rId55"/>
    <p:sldId id="324" r:id="rId56"/>
    <p:sldId id="325" r:id="rId57"/>
    <p:sldId id="326" r:id="rId58"/>
    <p:sldId id="307" r:id="rId59"/>
    <p:sldId id="308" r:id="rId60"/>
    <p:sldId id="309" r:id="rId61"/>
    <p:sldId id="310" r:id="rId62"/>
    <p:sldId id="311" r:id="rId63"/>
    <p:sldId id="312" r:id="rId64"/>
    <p:sldId id="313" r:id="rId6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CA988B56-EC91-44F6-A333-468A488B75A1}" type="datetimeFigureOut">
              <a:rPr lang="en-US"/>
              <a:pPr>
                <a:defRPr/>
              </a:pPr>
              <a:t>2/22/2015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DF6B320D-4200-4B8E-B450-8DBE77D197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52113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F6B320D-4200-4B8E-B450-8DBE77D197DE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2996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EC028B6-EB87-4886-8B4E-9018A47A35D7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29</a:t>
            </a:fld>
            <a:endParaRPr lang="en-US" smtClean="0"/>
          </a:p>
        </p:txBody>
      </p:sp>
      <p:sp>
        <p:nvSpPr>
          <p:cNvPr id="69635" name="Rectangle 2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9636" name="Rectangle 3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2525" y="692150"/>
            <a:ext cx="4554538" cy="3416300"/>
          </a:xfrm>
          <a:noFill/>
          <a:ln cap="flat">
            <a:solidFill>
              <a:schemeClr val="tx1"/>
            </a:solidFill>
            <a:miter lim="800000"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5084393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CFB0873-23DA-414B-91BF-6EC455DF42CA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39</a:t>
            </a:fld>
            <a:endParaRPr lang="en-US" smtClean="0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2525" y="692150"/>
            <a:ext cx="4554538" cy="3416300"/>
          </a:xfrm>
          <a:noFill/>
          <a:ln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9945454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72F0F91-C8C7-409F-AD18-6A7CEEF70851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40</a:t>
            </a:fld>
            <a:endParaRPr lang="en-US" smtClean="0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2525" y="692150"/>
            <a:ext cx="4554538" cy="3416300"/>
          </a:xfrm>
          <a:noFill/>
          <a:ln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1402726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2F626FF-0EC4-467C-8898-6F57F0E68E76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48</a:t>
            </a:fld>
            <a:endParaRPr lang="en-US" smtClean="0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2525" y="692150"/>
            <a:ext cx="4554538" cy="3416300"/>
          </a:xfrm>
          <a:noFill/>
          <a:ln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776221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C911E73-01FD-475A-8967-CDFD2A49D053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51</a:t>
            </a:fld>
            <a:endParaRPr lang="en-US" smtClean="0"/>
          </a:p>
        </p:txBody>
      </p:sp>
      <p:sp>
        <p:nvSpPr>
          <p:cNvPr id="73731" name="Rectangle 2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smtClean="0"/>
              <a:t>first invocation assigns t a value of 3 and does nothing to s since passed by value</a:t>
            </a:r>
          </a:p>
          <a:p>
            <a:pPr eaLnBrk="1" hangingPunct="1">
              <a:spcBef>
                <a:spcPct val="0"/>
              </a:spcBef>
            </a:pPr>
            <a:endParaRPr lang="en-US" smtClean="0"/>
          </a:p>
          <a:p>
            <a:pPr eaLnBrk="1" hangingPunct="1">
              <a:spcBef>
                <a:spcPct val="0"/>
              </a:spcBef>
            </a:pPr>
            <a:r>
              <a:rPr lang="en-US" smtClean="0"/>
              <a:t>second invocation assigns t a value of 3 and again nothing to s</a:t>
            </a:r>
          </a:p>
          <a:p>
            <a:pPr eaLnBrk="1" hangingPunct="1">
              <a:spcBef>
                <a:spcPct val="0"/>
              </a:spcBef>
            </a:pPr>
            <a:endParaRPr lang="en-US" smtClean="0"/>
          </a:p>
          <a:p>
            <a:pPr eaLnBrk="1" hangingPunct="1">
              <a:spcBef>
                <a:spcPct val="0"/>
              </a:spcBef>
            </a:pPr>
            <a:r>
              <a:rPr lang="en-US" smtClean="0"/>
              <a:t>Third invocation assigns t a value of 3 and second assignment makes copy of t =4 but again has no effect on t.</a:t>
            </a:r>
          </a:p>
          <a:p>
            <a:pPr eaLnBrk="1" hangingPunct="1">
              <a:spcBef>
                <a:spcPct val="0"/>
              </a:spcBef>
            </a:pPr>
            <a:endParaRPr lang="en-US" smtClean="0"/>
          </a:p>
          <a:p>
            <a:pPr eaLnBrk="1" hangingPunct="1">
              <a:spcBef>
                <a:spcPct val="0"/>
              </a:spcBef>
            </a:pPr>
            <a:r>
              <a:rPr lang="en-US" smtClean="0"/>
              <a:t>Point out that pointers can be passed by value or reference as well, and must be passed by reference if the value of the address itself is to be changed.</a:t>
            </a:r>
          </a:p>
        </p:txBody>
      </p:sp>
      <p:sp>
        <p:nvSpPr>
          <p:cNvPr id="73732" name="Rectangle 3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2525" y="692150"/>
            <a:ext cx="4554538" cy="3416300"/>
          </a:xfrm>
          <a:noFill/>
          <a:ln cap="flat">
            <a:solidFill>
              <a:schemeClr val="tx1"/>
            </a:solidFill>
            <a:miter lim="800000"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7583723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18F702-0D7F-468D-AF05-182D9E9D42D2}" type="datetime1">
              <a:rPr lang="en-US" smtClean="0"/>
              <a:t>2/22/2015</a:t>
            </a:fld>
            <a:endParaRPr lang="en-US"/>
          </a:p>
        </p:txBody>
      </p:sp>
      <p:sp>
        <p:nvSpPr>
          <p:cNvPr id="5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96BDF4-DC9D-4142-BEEE-5C166B1389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4142FE-935E-49FD-8001-0A6593A5B37F}" type="datetime1">
              <a:rPr lang="en-US" smtClean="0"/>
              <a:t>2/22/2015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5EC264-D841-470F-9BEA-E237821978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F81193-C8E8-40E8-8E2C-B4E8FA528767}" type="datetime1">
              <a:rPr lang="en-US" smtClean="0"/>
              <a:t>2/22/2015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639CBC-52C5-47C2-BD65-597FABE6993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0C5339-4E24-423B-AEAE-B91BA6C40BC6}" type="datetime1">
              <a:rPr lang="en-US" smtClean="0"/>
              <a:t>2/22/2015</a:t>
            </a:fld>
            <a:endParaRPr lang="en-US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2EBF31-E102-4C7C-B0F9-9E06F719903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1786D0-14C0-44E7-A0F4-010F9BE0DB8D}" type="datetime1">
              <a:rPr lang="en-US" smtClean="0"/>
              <a:t>2/22/2015</a:t>
            </a:fld>
            <a:endParaRPr lang="en-US"/>
          </a:p>
        </p:txBody>
      </p:sp>
      <p:sp>
        <p:nvSpPr>
          <p:cNvPr id="8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323B87-6E3E-45B9-80EE-B50DAE08B0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47DDDD-3FEC-4ECD-AD32-89FB42F68009}" type="datetime1">
              <a:rPr lang="en-US" smtClean="0"/>
              <a:t>2/22/2015</a:t>
            </a:fld>
            <a:endParaRPr lang="en-US"/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4B79B8-3A0C-42E6-BC31-66F038F18E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1FE858-AFA2-4D9E-9174-8796888EEC76}" type="datetime1">
              <a:rPr lang="en-US" smtClean="0"/>
              <a:t>2/22/2015</a:t>
            </a:fld>
            <a:endParaRPr lang="en-US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03A6E2-1777-42AB-AFA6-6C29F2D48B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C72C20-9AF1-4AA4-A1E9-60DB432439A7}" type="datetime1">
              <a:rPr lang="en-US" smtClean="0"/>
              <a:t>2/22/2015</a:t>
            </a:fld>
            <a:endParaRPr lang="en-US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CBBF31-CCED-4B78-A663-F93723659A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and Round Single Corner Rectangle 4"/>
          <p:cNvSpPr/>
          <p:nvPr/>
        </p:nvSpPr>
        <p:spPr>
          <a:xfrm rot="420000" flipV="1">
            <a:off x="3165475" y="1108075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ight Triangle 5"/>
          <p:cNvSpPr/>
          <p:nvPr/>
        </p:nvSpPr>
        <p:spPr>
          <a:xfrm rot="420000" flipV="1">
            <a:off x="8004175" y="5359400"/>
            <a:ext cx="155575" cy="155575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Freeform 6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lIns="45720" rIns="45720" bIns="45720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0C4EF1-E90E-4292-B416-48A946D8DF02}" type="datetime1">
              <a:rPr lang="en-US" smtClean="0"/>
              <a:t>2/22/2015</a:t>
            </a:fld>
            <a:endParaRPr lang="en-US"/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033A35-E1BF-4A20-A23C-DDB2111731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863FCB-866B-4A44-B93B-472CECCD1E22}" type="datetime1">
              <a:rPr lang="en-US" smtClean="0"/>
              <a:t>2/22/2015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42B716-98B5-4BA4-A621-FB01223BEDD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1283F1-5FCD-4E3D-BC49-97B4C8FBD949}" type="datetime1">
              <a:rPr lang="en-US" smtClean="0"/>
              <a:t>2/22/2015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EC6F49-AFCB-40A3-93B5-4B38AE847A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938"/>
            <a:ext cx="9163050" cy="104140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938"/>
            <a:ext cx="4762500" cy="6381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028" name="Title Placeholder 8"/>
          <p:cNvSpPr>
            <a:spLocks noGrp="1"/>
          </p:cNvSpPr>
          <p:nvPr>
            <p:ph type="title"/>
          </p:nvPr>
        </p:nvSpPr>
        <p:spPr bwMode="auto">
          <a:xfrm>
            <a:off x="457200" y="70485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9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935163"/>
            <a:ext cx="8229600" cy="438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>
                    <a:shade val="9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1E835E67-5124-4E15-AD98-870039D44392}" type="datetime1">
              <a:rPr lang="en-US" smtClean="0"/>
              <a:t>2/22/2015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>
                    <a:shade val="9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>
                    <a:shade val="9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E6EDE530-AC09-43A3-8D9D-C91EB41E92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1033" name="Group 1"/>
          <p:cNvGrpSpPr>
            <a:grpSpLocks/>
          </p:cNvGrpSpPr>
          <p:nvPr/>
        </p:nvGrpSpPr>
        <p:grpSpPr bwMode="auto">
          <a:xfrm>
            <a:off x="-19050" y="203200"/>
            <a:ext cx="9180513" cy="647700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3759" r:id="rId2"/>
    <p:sldLayoutId id="2147483768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9" r:id="rId9"/>
    <p:sldLayoutId id="2147483765" r:id="rId10"/>
    <p:sldLayoutId id="2147483766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5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95000"/>
        <a:buFont typeface="Wingdings 2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460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0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 2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2095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65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209550" algn="l" rtl="0" eaLnBrk="0" fontAlgn="base" hangingPunct="0">
        <a:spcBef>
          <a:spcPct val="20000"/>
        </a:spcBef>
        <a:spcAft>
          <a:spcPct val="0"/>
        </a:spcAft>
        <a:buClr>
          <a:srgbClr val="10CF9B"/>
        </a:buClr>
        <a:buSzPct val="65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Pointers and Dynamic Memory Allocation</a:t>
            </a:r>
            <a:endParaRPr lang="en-US" dirty="0"/>
          </a:p>
        </p:txBody>
      </p:sp>
      <p:sp>
        <p:nvSpPr>
          <p:cNvPr id="5123" name="Subtitle 2"/>
          <p:cNvSpPr>
            <a:spLocks noGrp="1"/>
          </p:cNvSpPr>
          <p:nvPr>
            <p:ph type="subTitle" idx="1"/>
          </p:nvPr>
        </p:nvSpPr>
        <p:spPr>
          <a:xfrm>
            <a:off x="533400" y="3228975"/>
            <a:ext cx="7854950" cy="1752600"/>
          </a:xfrm>
        </p:spPr>
        <p:txBody>
          <a:bodyPr/>
          <a:lstStyle/>
          <a:p>
            <a:pPr marR="0" eaLnBrk="1" hangingPunct="1"/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Pointers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828799"/>
            <a:ext cx="8077200" cy="5029201"/>
          </a:xfrm>
        </p:spPr>
        <p:txBody>
          <a:bodyPr/>
          <a:lstStyle/>
          <a:p>
            <a:pPr eaLnBrk="1" hangingPunct="1"/>
            <a:r>
              <a:rPr lang="en-US" dirty="0" smtClean="0"/>
              <a:t>Pointers</a:t>
            </a:r>
          </a:p>
          <a:p>
            <a:pPr lvl="1" eaLnBrk="1" hangingPunct="1"/>
            <a:r>
              <a:rPr lang="en-US" dirty="0" smtClean="0"/>
              <a:t>Powerful feature of the C++ language</a:t>
            </a:r>
          </a:p>
          <a:p>
            <a:pPr lvl="1" eaLnBrk="1" hangingPunct="1"/>
            <a:r>
              <a:rPr lang="en-US" dirty="0" smtClean="0"/>
              <a:t>Essential for construction of interesting data structures</a:t>
            </a:r>
          </a:p>
          <a:p>
            <a:pPr lvl="1" eaLnBrk="1" hangingPunct="1"/>
            <a:r>
              <a:rPr lang="en-IN" dirty="0"/>
              <a:t>Pointers are variables that store memory address</a:t>
            </a:r>
            <a:r>
              <a:rPr lang="en-IN" dirty="0" smtClean="0"/>
              <a:t>.</a:t>
            </a:r>
          </a:p>
          <a:p>
            <a:pPr marL="668337" lvl="2" indent="0" eaLnBrk="1" hangingPunct="1">
              <a:buNone/>
            </a:pPr>
            <a:r>
              <a:rPr lang="en-IN" sz="1400" dirty="0"/>
              <a:t>#include &lt;</a:t>
            </a:r>
            <a:r>
              <a:rPr lang="en-IN" sz="1400" dirty="0" err="1"/>
              <a:t>iostream.h</a:t>
            </a:r>
            <a:r>
              <a:rPr lang="en-IN" sz="1400" dirty="0"/>
              <a:t>&gt;</a:t>
            </a:r>
          </a:p>
          <a:p>
            <a:pPr marL="668337" lvl="2" indent="0" eaLnBrk="1" hangingPunct="1">
              <a:buNone/>
            </a:pPr>
            <a:r>
              <a:rPr lang="en-IN" sz="1400" dirty="0" err="1"/>
              <a:t>int</a:t>
            </a:r>
            <a:r>
              <a:rPr lang="en-IN" sz="1400" dirty="0"/>
              <a:t> main ( )</a:t>
            </a:r>
          </a:p>
          <a:p>
            <a:pPr marL="668337" lvl="2" indent="0" eaLnBrk="1" hangingPunct="1">
              <a:buNone/>
            </a:pPr>
            <a:r>
              <a:rPr lang="en-IN" sz="1400" dirty="0"/>
              <a:t>{</a:t>
            </a:r>
          </a:p>
          <a:p>
            <a:pPr marL="668337" lvl="2" indent="0" eaLnBrk="1" hangingPunct="1">
              <a:buNone/>
            </a:pPr>
            <a:r>
              <a:rPr lang="en-IN" sz="1400" dirty="0" err="1"/>
              <a:t>int</a:t>
            </a:r>
            <a:r>
              <a:rPr lang="en-IN" sz="1400" dirty="0"/>
              <a:t> </a:t>
            </a:r>
            <a:r>
              <a:rPr lang="en-IN" sz="1400" dirty="0" err="1"/>
              <a:t>var</a:t>
            </a:r>
            <a:r>
              <a:rPr lang="en-IN" sz="1400" dirty="0"/>
              <a:t>=100;</a:t>
            </a:r>
          </a:p>
          <a:p>
            <a:pPr marL="668337" lvl="2" indent="0" eaLnBrk="1" hangingPunct="1">
              <a:buNone/>
            </a:pPr>
            <a:r>
              <a:rPr lang="en-IN" sz="1400" dirty="0" err="1"/>
              <a:t>cout</a:t>
            </a:r>
            <a:r>
              <a:rPr lang="en-IN" sz="1400" dirty="0"/>
              <a:t>&lt;&lt;"Value : "&lt;&lt;</a:t>
            </a:r>
            <a:r>
              <a:rPr lang="en-IN" sz="1400" dirty="0" err="1"/>
              <a:t>var</a:t>
            </a:r>
            <a:r>
              <a:rPr lang="en-IN" sz="1400" dirty="0"/>
              <a:t>; </a:t>
            </a:r>
          </a:p>
          <a:p>
            <a:pPr marL="668337" lvl="2" indent="0" eaLnBrk="1" hangingPunct="1">
              <a:buNone/>
            </a:pPr>
            <a:r>
              <a:rPr lang="en-IN" sz="1400" dirty="0" err="1"/>
              <a:t>cout</a:t>
            </a:r>
            <a:r>
              <a:rPr lang="en-IN" sz="1400" dirty="0"/>
              <a:t>&lt;&lt;"\</a:t>
            </a:r>
            <a:r>
              <a:rPr lang="en-IN" sz="1400" dirty="0" err="1"/>
              <a:t>nAddress</a:t>
            </a:r>
            <a:r>
              <a:rPr lang="en-IN" sz="1400" dirty="0"/>
              <a:t> : "&lt;&lt;&amp;</a:t>
            </a:r>
            <a:r>
              <a:rPr lang="en-IN" sz="1400" dirty="0" err="1"/>
              <a:t>var</a:t>
            </a:r>
            <a:r>
              <a:rPr lang="en-IN" sz="1400" dirty="0"/>
              <a:t>;// Output will be the address of </a:t>
            </a:r>
            <a:r>
              <a:rPr lang="en-IN" sz="1400" dirty="0" err="1"/>
              <a:t>var</a:t>
            </a:r>
            <a:endParaRPr lang="en-IN" sz="1400" dirty="0"/>
          </a:p>
          <a:p>
            <a:pPr marL="668337" lvl="2" indent="0" eaLnBrk="1" hangingPunct="1">
              <a:buNone/>
            </a:pPr>
            <a:r>
              <a:rPr lang="en-IN" sz="1400" dirty="0"/>
              <a:t>return 0;</a:t>
            </a:r>
          </a:p>
          <a:p>
            <a:pPr marL="668337" lvl="2" indent="0" eaLnBrk="1" hangingPunct="1">
              <a:buNone/>
            </a:pPr>
            <a:r>
              <a:rPr lang="en-IN" sz="1400" dirty="0"/>
              <a:t>}</a:t>
            </a:r>
          </a:p>
          <a:p>
            <a:pPr marL="668337" lvl="2" indent="0" eaLnBrk="1" hangingPunct="1">
              <a:buNone/>
            </a:pPr>
            <a:r>
              <a:rPr lang="en-IN" sz="1400" dirty="0"/>
              <a:t>The output would be:</a:t>
            </a:r>
          </a:p>
          <a:p>
            <a:pPr marL="668337" lvl="2" indent="0" eaLnBrk="1" hangingPunct="1">
              <a:buNone/>
            </a:pPr>
            <a:endParaRPr lang="en-IN" sz="1400" dirty="0"/>
          </a:p>
          <a:p>
            <a:pPr marL="668337" lvl="2" indent="0" eaLnBrk="1" hangingPunct="1">
              <a:buNone/>
            </a:pPr>
            <a:r>
              <a:rPr lang="en-IN" sz="1400" dirty="0"/>
              <a:t>Value : 100</a:t>
            </a:r>
          </a:p>
          <a:p>
            <a:pPr marL="668337" lvl="2" indent="0" eaLnBrk="1" hangingPunct="1">
              <a:buNone/>
            </a:pPr>
            <a:r>
              <a:rPr lang="en-IN" sz="1400" dirty="0"/>
              <a:t>Address : 006AFDF4</a:t>
            </a:r>
            <a:endParaRPr lang="en-US" sz="1400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C03871-3D6B-4E58-96F0-B0F059FD8FA2}" type="slidenum">
              <a:rPr lang="en-US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Addresses and Pointers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905000"/>
            <a:ext cx="7924800" cy="4419600"/>
          </a:xfrm>
        </p:spPr>
        <p:txBody>
          <a:bodyPr lIns="0" rIns="0"/>
          <a:lstStyle/>
          <a:p>
            <a:pPr eaLnBrk="1" hangingPunct="1"/>
            <a:r>
              <a:rPr lang="en-US" sz="2800" smtClean="0"/>
              <a:t>C++ allows two ways of accessing variables</a:t>
            </a:r>
          </a:p>
          <a:p>
            <a:pPr lvl="1" eaLnBrk="1" hangingPunct="1"/>
            <a:r>
              <a:rPr lang="en-US" smtClean="0"/>
              <a:t>Name (C++ keeps track of the address of the first location allocated to the variable)</a:t>
            </a:r>
          </a:p>
          <a:p>
            <a:pPr lvl="1" eaLnBrk="1" hangingPunct="1"/>
            <a:r>
              <a:rPr lang="en-US" smtClean="0"/>
              <a:t>Address/Pointer </a:t>
            </a:r>
          </a:p>
          <a:p>
            <a:pPr eaLnBrk="1" hangingPunct="1"/>
            <a:r>
              <a:rPr lang="en-US" sz="2800" smtClean="0"/>
              <a:t>Symbol </a:t>
            </a:r>
            <a:r>
              <a:rPr lang="en-US" sz="2800" b="1" smtClean="0">
                <a:solidFill>
                  <a:schemeClr val="tx2"/>
                </a:solidFill>
                <a:latin typeface="Courier New" pitchFamily="49" charset="0"/>
              </a:rPr>
              <a:t>&amp;</a:t>
            </a:r>
            <a:r>
              <a:rPr lang="en-US" sz="2800" smtClean="0"/>
              <a:t> gets the address of the variable that follows it</a:t>
            </a:r>
          </a:p>
          <a:p>
            <a:pPr eaLnBrk="1" hangingPunct="1"/>
            <a:r>
              <a:rPr lang="en-US" sz="2800" smtClean="0"/>
              <a:t>Addresses/Pointers can be displayed by the </a:t>
            </a:r>
            <a:r>
              <a:rPr lang="en-US" sz="2800" b="1" smtClean="0">
                <a:solidFill>
                  <a:schemeClr val="tx2"/>
                </a:solidFill>
                <a:latin typeface="Courier New" pitchFamily="49" charset="0"/>
              </a:rPr>
              <a:t>cout</a:t>
            </a:r>
            <a:r>
              <a:rPr lang="en-US" sz="2800" smtClean="0"/>
              <a:t> statement</a:t>
            </a:r>
          </a:p>
          <a:p>
            <a:pPr lvl="1" eaLnBrk="1" hangingPunct="1"/>
            <a:r>
              <a:rPr lang="en-US" smtClean="0"/>
              <a:t>Addresses displayed in HEXADECIMAL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8DA1AC-C4AC-4351-9C55-6798C10443C0}" type="slidenum">
              <a:rPr lang="en-US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9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9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9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9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9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9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5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Example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05000"/>
            <a:ext cx="6172200" cy="4343400"/>
          </a:xfrm>
        </p:spPr>
        <p:txBody>
          <a:bodyPr lIns="0" tIns="46038" rIns="0" bIns="46038"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000" b="1" smtClean="0">
                <a:solidFill>
                  <a:schemeClr val="tx2"/>
                </a:solidFill>
                <a:latin typeface="Courier New" pitchFamily="49" charset="0"/>
              </a:rPr>
              <a:t>#include &lt;iostream.h&gt;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sz="2000" b="1" smtClean="0">
              <a:solidFill>
                <a:schemeClr val="tx2"/>
              </a:solidFill>
              <a:latin typeface="Courier New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000" b="1" smtClean="0">
                <a:solidFill>
                  <a:schemeClr val="tx2"/>
                </a:solidFill>
                <a:latin typeface="Courier New" pitchFamily="49" charset="0"/>
              </a:rPr>
              <a:t>void main( 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000" b="1" smtClean="0">
                <a:solidFill>
                  <a:schemeClr val="tx2"/>
                </a:solidFill>
                <a:latin typeface="Courier New" pitchFamily="49" charset="0"/>
              </a:rPr>
              <a:t>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000" b="1" smtClean="0">
                <a:solidFill>
                  <a:schemeClr val="tx2"/>
                </a:solidFill>
                <a:latin typeface="Courier New" pitchFamily="49" charset="0"/>
              </a:rPr>
              <a:t>   int data = 100;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000" b="1" smtClean="0">
                <a:solidFill>
                  <a:schemeClr val="tx2"/>
                </a:solidFill>
                <a:latin typeface="Courier New" pitchFamily="49" charset="0"/>
              </a:rPr>
              <a:t>   float value = 56.47;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000" b="1" smtClean="0">
                <a:solidFill>
                  <a:schemeClr val="tx2"/>
                </a:solidFill>
                <a:latin typeface="Courier New" pitchFamily="49" charset="0"/>
              </a:rPr>
              <a:t>   cout &lt;&lt; data &lt;&lt; &amp;data &lt;&lt; endl;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000" b="1" smtClean="0">
                <a:solidFill>
                  <a:schemeClr val="tx2"/>
                </a:solidFill>
                <a:latin typeface="Courier New" pitchFamily="49" charset="0"/>
              </a:rPr>
              <a:t>   cout &lt;&lt; value &lt;&lt; &amp;value &lt;&lt; endl;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000" b="1" smtClean="0">
                <a:solidFill>
                  <a:schemeClr val="tx2"/>
                </a:solidFill>
                <a:latin typeface="Courier New" pitchFamily="49" charset="0"/>
              </a:rPr>
              <a:t>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sz="1800" b="1" smtClean="0">
              <a:solidFill>
                <a:schemeClr val="tx2"/>
              </a:solidFill>
              <a:latin typeface="Courier New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u="sng" smtClean="0"/>
              <a:t>Output:</a:t>
            </a:r>
            <a:endParaRPr lang="en-US" sz="2000" smtClean="0"/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sz="2000" smtClean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000" b="1" smtClean="0">
                <a:latin typeface="Courier New" pitchFamily="49" charset="0"/>
              </a:rPr>
              <a:t>100 FFF4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000" b="1" smtClean="0">
                <a:latin typeface="Courier New" pitchFamily="49" charset="0"/>
              </a:rPr>
              <a:t>56.47 FFF0</a:t>
            </a:r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0FF0EA-2682-4419-A77A-50835E89F71D}" type="slidenum">
              <a:rPr lang="en-US"/>
              <a:pPr>
                <a:defRPr/>
              </a:pPr>
              <a:t>4</a:t>
            </a:fld>
            <a:endParaRPr lang="en-US"/>
          </a:p>
        </p:txBody>
      </p:sp>
      <p:grpSp>
        <p:nvGrpSpPr>
          <p:cNvPr id="8198" name="Group 4"/>
          <p:cNvGrpSpPr>
            <a:grpSpLocks/>
          </p:cNvGrpSpPr>
          <p:nvPr/>
        </p:nvGrpSpPr>
        <p:grpSpPr bwMode="auto">
          <a:xfrm>
            <a:off x="6400800" y="1936750"/>
            <a:ext cx="2606675" cy="3810000"/>
            <a:chOff x="4032" y="1220"/>
            <a:chExt cx="1642" cy="2400"/>
          </a:xfrm>
        </p:grpSpPr>
        <p:sp>
          <p:nvSpPr>
            <p:cNvPr id="8199" name="Rectangle 5"/>
            <p:cNvSpPr>
              <a:spLocks noChangeArrowheads="1"/>
            </p:cNvSpPr>
            <p:nvPr/>
          </p:nvSpPr>
          <p:spPr bwMode="auto">
            <a:xfrm>
              <a:off x="5098" y="1460"/>
              <a:ext cx="576" cy="240"/>
            </a:xfrm>
            <a:prstGeom prst="rect">
              <a:avLst/>
            </a:prstGeom>
            <a:solidFill>
              <a:srgbClr val="3333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>
                <a:latin typeface="Tahoma" pitchFamily="34" charset="0"/>
              </a:endParaRPr>
            </a:p>
          </p:txBody>
        </p:sp>
        <p:sp>
          <p:nvSpPr>
            <p:cNvPr id="8200" name="Rectangle 6"/>
            <p:cNvSpPr>
              <a:spLocks noChangeArrowheads="1"/>
            </p:cNvSpPr>
            <p:nvPr/>
          </p:nvSpPr>
          <p:spPr bwMode="auto">
            <a:xfrm>
              <a:off x="5098" y="1220"/>
              <a:ext cx="576" cy="240"/>
            </a:xfrm>
            <a:prstGeom prst="rect">
              <a:avLst/>
            </a:prstGeom>
            <a:solidFill>
              <a:srgbClr val="3333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>
                  <a:solidFill>
                    <a:schemeClr val="accent2"/>
                  </a:solidFill>
                  <a:latin typeface="Tahoma" pitchFamily="34" charset="0"/>
                </a:rPr>
                <a:t>56.47</a:t>
              </a:r>
              <a:endParaRPr lang="en-US" sz="1400">
                <a:solidFill>
                  <a:schemeClr val="accent2"/>
                </a:solidFill>
                <a:latin typeface="Tahoma" pitchFamily="34" charset="0"/>
              </a:endParaRPr>
            </a:p>
          </p:txBody>
        </p:sp>
        <p:sp>
          <p:nvSpPr>
            <p:cNvPr id="8201" name="Rectangle 7"/>
            <p:cNvSpPr>
              <a:spLocks noChangeArrowheads="1"/>
            </p:cNvSpPr>
            <p:nvPr/>
          </p:nvSpPr>
          <p:spPr bwMode="auto">
            <a:xfrm>
              <a:off x="5098" y="3380"/>
              <a:ext cx="576" cy="240"/>
            </a:xfrm>
            <a:prstGeom prst="rect">
              <a:avLst/>
            </a:prstGeom>
            <a:solidFill>
              <a:srgbClr val="3333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onstantia" pitchFamily="18" charset="0"/>
              </a:endParaRPr>
            </a:p>
          </p:txBody>
        </p:sp>
        <p:sp>
          <p:nvSpPr>
            <p:cNvPr id="8202" name="Rectangle 8"/>
            <p:cNvSpPr>
              <a:spLocks noChangeArrowheads="1"/>
            </p:cNvSpPr>
            <p:nvPr/>
          </p:nvSpPr>
          <p:spPr bwMode="auto">
            <a:xfrm>
              <a:off x="5098" y="1700"/>
              <a:ext cx="576" cy="240"/>
            </a:xfrm>
            <a:prstGeom prst="rect">
              <a:avLst/>
            </a:prstGeom>
            <a:solidFill>
              <a:srgbClr val="3333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onstantia" pitchFamily="18" charset="0"/>
              </a:endParaRPr>
            </a:p>
          </p:txBody>
        </p:sp>
        <p:sp>
          <p:nvSpPr>
            <p:cNvPr id="8203" name="Rectangle 9"/>
            <p:cNvSpPr>
              <a:spLocks noChangeArrowheads="1"/>
            </p:cNvSpPr>
            <p:nvPr/>
          </p:nvSpPr>
          <p:spPr bwMode="auto">
            <a:xfrm>
              <a:off x="5098" y="1940"/>
              <a:ext cx="576" cy="240"/>
            </a:xfrm>
            <a:prstGeom prst="rect">
              <a:avLst/>
            </a:prstGeom>
            <a:solidFill>
              <a:srgbClr val="3333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onstantia" pitchFamily="18" charset="0"/>
              </a:endParaRPr>
            </a:p>
          </p:txBody>
        </p:sp>
        <p:sp>
          <p:nvSpPr>
            <p:cNvPr id="8204" name="Rectangle 10"/>
            <p:cNvSpPr>
              <a:spLocks noChangeArrowheads="1"/>
            </p:cNvSpPr>
            <p:nvPr/>
          </p:nvSpPr>
          <p:spPr bwMode="auto">
            <a:xfrm>
              <a:off x="5098" y="2180"/>
              <a:ext cx="576" cy="240"/>
            </a:xfrm>
            <a:prstGeom prst="rect">
              <a:avLst/>
            </a:prstGeom>
            <a:solidFill>
              <a:srgbClr val="3333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>
                  <a:solidFill>
                    <a:schemeClr val="accent2"/>
                  </a:solidFill>
                  <a:latin typeface="Tahoma" pitchFamily="34" charset="0"/>
                </a:rPr>
                <a:t>100</a:t>
              </a:r>
            </a:p>
          </p:txBody>
        </p:sp>
        <p:sp>
          <p:nvSpPr>
            <p:cNvPr id="8205" name="Rectangle 11"/>
            <p:cNvSpPr>
              <a:spLocks noChangeArrowheads="1"/>
            </p:cNvSpPr>
            <p:nvPr/>
          </p:nvSpPr>
          <p:spPr bwMode="auto">
            <a:xfrm>
              <a:off x="5098" y="2420"/>
              <a:ext cx="576" cy="240"/>
            </a:xfrm>
            <a:prstGeom prst="rect">
              <a:avLst/>
            </a:prstGeom>
            <a:solidFill>
              <a:srgbClr val="3333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onstantia" pitchFamily="18" charset="0"/>
              </a:endParaRPr>
            </a:p>
          </p:txBody>
        </p:sp>
        <p:sp>
          <p:nvSpPr>
            <p:cNvPr id="8206" name="Rectangle 12"/>
            <p:cNvSpPr>
              <a:spLocks noChangeArrowheads="1"/>
            </p:cNvSpPr>
            <p:nvPr/>
          </p:nvSpPr>
          <p:spPr bwMode="auto">
            <a:xfrm>
              <a:off x="5098" y="2660"/>
              <a:ext cx="576" cy="240"/>
            </a:xfrm>
            <a:prstGeom prst="rect">
              <a:avLst/>
            </a:prstGeom>
            <a:solidFill>
              <a:srgbClr val="3333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onstantia" pitchFamily="18" charset="0"/>
              </a:endParaRPr>
            </a:p>
          </p:txBody>
        </p:sp>
        <p:sp>
          <p:nvSpPr>
            <p:cNvPr id="8207" name="Line 13" descr="Light upward diagonal"/>
            <p:cNvSpPr>
              <a:spLocks noChangeShapeType="1"/>
            </p:cNvSpPr>
            <p:nvPr/>
          </p:nvSpPr>
          <p:spPr bwMode="auto">
            <a:xfrm>
              <a:off x="5386" y="2948"/>
              <a:ext cx="1" cy="384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8" name="Rectangle 14"/>
            <p:cNvSpPr>
              <a:spLocks noChangeArrowheads="1"/>
            </p:cNvSpPr>
            <p:nvPr/>
          </p:nvSpPr>
          <p:spPr bwMode="auto">
            <a:xfrm>
              <a:off x="4570" y="1460"/>
              <a:ext cx="528" cy="240"/>
            </a:xfrm>
            <a:prstGeom prst="rect">
              <a:avLst/>
            </a:prstGeom>
            <a:solidFill>
              <a:srgbClr val="3333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b="1">
                  <a:latin typeface="Courier New" pitchFamily="49" charset="0"/>
                </a:rPr>
                <a:t>FFF1</a:t>
              </a:r>
            </a:p>
          </p:txBody>
        </p:sp>
        <p:sp>
          <p:nvSpPr>
            <p:cNvPr id="8209" name="Rectangle 15"/>
            <p:cNvSpPr>
              <a:spLocks noChangeArrowheads="1"/>
            </p:cNvSpPr>
            <p:nvPr/>
          </p:nvSpPr>
          <p:spPr bwMode="auto">
            <a:xfrm>
              <a:off x="4570" y="1220"/>
              <a:ext cx="528" cy="240"/>
            </a:xfrm>
            <a:prstGeom prst="rect">
              <a:avLst/>
            </a:prstGeom>
            <a:solidFill>
              <a:srgbClr val="3333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b="1">
                  <a:latin typeface="Courier New" pitchFamily="49" charset="0"/>
                </a:rPr>
                <a:t>FFF0</a:t>
              </a:r>
              <a:endParaRPr lang="en-US" sz="1200" b="1">
                <a:latin typeface="Courier New" pitchFamily="49" charset="0"/>
              </a:endParaRPr>
            </a:p>
          </p:txBody>
        </p:sp>
        <p:sp>
          <p:nvSpPr>
            <p:cNvPr id="8210" name="Rectangle 16"/>
            <p:cNvSpPr>
              <a:spLocks noChangeArrowheads="1"/>
            </p:cNvSpPr>
            <p:nvPr/>
          </p:nvSpPr>
          <p:spPr bwMode="auto">
            <a:xfrm>
              <a:off x="4570" y="3380"/>
              <a:ext cx="528" cy="240"/>
            </a:xfrm>
            <a:prstGeom prst="rect">
              <a:avLst/>
            </a:prstGeom>
            <a:solidFill>
              <a:srgbClr val="3333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>
                <a:latin typeface="Tahoma" pitchFamily="34" charset="0"/>
              </a:endParaRPr>
            </a:p>
          </p:txBody>
        </p:sp>
        <p:sp>
          <p:nvSpPr>
            <p:cNvPr id="8211" name="Rectangle 17"/>
            <p:cNvSpPr>
              <a:spLocks noChangeArrowheads="1"/>
            </p:cNvSpPr>
            <p:nvPr/>
          </p:nvSpPr>
          <p:spPr bwMode="auto">
            <a:xfrm>
              <a:off x="4570" y="1700"/>
              <a:ext cx="528" cy="240"/>
            </a:xfrm>
            <a:prstGeom prst="rect">
              <a:avLst/>
            </a:prstGeom>
            <a:solidFill>
              <a:srgbClr val="3333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b="1">
                  <a:latin typeface="Courier New" pitchFamily="49" charset="0"/>
                </a:rPr>
                <a:t>FFF2</a:t>
              </a:r>
            </a:p>
          </p:txBody>
        </p:sp>
        <p:sp>
          <p:nvSpPr>
            <p:cNvPr id="8212" name="Rectangle 18"/>
            <p:cNvSpPr>
              <a:spLocks noChangeArrowheads="1"/>
            </p:cNvSpPr>
            <p:nvPr/>
          </p:nvSpPr>
          <p:spPr bwMode="auto">
            <a:xfrm>
              <a:off x="4570" y="1940"/>
              <a:ext cx="528" cy="240"/>
            </a:xfrm>
            <a:prstGeom prst="rect">
              <a:avLst/>
            </a:prstGeom>
            <a:solidFill>
              <a:srgbClr val="3333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b="1">
                  <a:latin typeface="Courier New" pitchFamily="49" charset="0"/>
                </a:rPr>
                <a:t>FFF3</a:t>
              </a:r>
            </a:p>
          </p:txBody>
        </p:sp>
        <p:sp>
          <p:nvSpPr>
            <p:cNvPr id="8213" name="Rectangle 19"/>
            <p:cNvSpPr>
              <a:spLocks noChangeArrowheads="1"/>
            </p:cNvSpPr>
            <p:nvPr/>
          </p:nvSpPr>
          <p:spPr bwMode="auto">
            <a:xfrm>
              <a:off x="4570" y="2180"/>
              <a:ext cx="528" cy="240"/>
            </a:xfrm>
            <a:prstGeom prst="rect">
              <a:avLst/>
            </a:prstGeom>
            <a:solidFill>
              <a:srgbClr val="3333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b="1">
                  <a:latin typeface="Courier New" pitchFamily="49" charset="0"/>
                </a:rPr>
                <a:t>FFF4</a:t>
              </a:r>
            </a:p>
          </p:txBody>
        </p:sp>
        <p:sp>
          <p:nvSpPr>
            <p:cNvPr id="8214" name="Rectangle 20"/>
            <p:cNvSpPr>
              <a:spLocks noChangeArrowheads="1"/>
            </p:cNvSpPr>
            <p:nvPr/>
          </p:nvSpPr>
          <p:spPr bwMode="auto">
            <a:xfrm>
              <a:off x="4570" y="2420"/>
              <a:ext cx="528" cy="240"/>
            </a:xfrm>
            <a:prstGeom prst="rect">
              <a:avLst/>
            </a:prstGeom>
            <a:solidFill>
              <a:srgbClr val="3333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b="1">
                  <a:latin typeface="Courier New" pitchFamily="49" charset="0"/>
                </a:rPr>
                <a:t>FFF5</a:t>
              </a:r>
            </a:p>
          </p:txBody>
        </p:sp>
        <p:sp>
          <p:nvSpPr>
            <p:cNvPr id="8215" name="Rectangle 21"/>
            <p:cNvSpPr>
              <a:spLocks noChangeArrowheads="1"/>
            </p:cNvSpPr>
            <p:nvPr/>
          </p:nvSpPr>
          <p:spPr bwMode="auto">
            <a:xfrm>
              <a:off x="4570" y="2660"/>
              <a:ext cx="528" cy="240"/>
            </a:xfrm>
            <a:prstGeom prst="rect">
              <a:avLst/>
            </a:prstGeom>
            <a:solidFill>
              <a:srgbClr val="3333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b="1">
                  <a:latin typeface="Courier New" pitchFamily="49" charset="0"/>
                </a:rPr>
                <a:t>FFF6</a:t>
              </a:r>
            </a:p>
          </p:txBody>
        </p:sp>
        <p:sp>
          <p:nvSpPr>
            <p:cNvPr id="8216" name="Line 22"/>
            <p:cNvSpPr>
              <a:spLocks noChangeShapeType="1"/>
            </p:cNvSpPr>
            <p:nvPr/>
          </p:nvSpPr>
          <p:spPr bwMode="auto">
            <a:xfrm>
              <a:off x="4810" y="2948"/>
              <a:ext cx="1" cy="384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17" name="Text Box 23"/>
            <p:cNvSpPr txBox="1">
              <a:spLocks noChangeArrowheads="1"/>
            </p:cNvSpPr>
            <p:nvPr/>
          </p:nvSpPr>
          <p:spPr bwMode="auto">
            <a:xfrm>
              <a:off x="4032" y="1248"/>
              <a:ext cx="432" cy="25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rIns="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000" i="1">
                  <a:solidFill>
                    <a:schemeClr val="tx2"/>
                  </a:solidFill>
                  <a:latin typeface="Tahoma" pitchFamily="34" charset="0"/>
                </a:rPr>
                <a:t>value</a:t>
              </a:r>
              <a:endParaRPr lang="en-US" sz="1200" i="1">
                <a:solidFill>
                  <a:schemeClr val="tx2"/>
                </a:solidFill>
                <a:latin typeface="Tahoma" pitchFamily="34" charset="0"/>
              </a:endParaRPr>
            </a:p>
          </p:txBody>
        </p:sp>
        <p:sp>
          <p:nvSpPr>
            <p:cNvPr id="8218" name="Text Box 24"/>
            <p:cNvSpPr txBox="1">
              <a:spLocks noChangeArrowheads="1"/>
            </p:cNvSpPr>
            <p:nvPr/>
          </p:nvSpPr>
          <p:spPr bwMode="auto">
            <a:xfrm>
              <a:off x="4042" y="2132"/>
              <a:ext cx="432" cy="25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rIns="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000" i="1">
                  <a:solidFill>
                    <a:schemeClr val="tx2"/>
                  </a:solidFill>
                  <a:latin typeface="Tahoma" pitchFamily="34" charset="0"/>
                </a:rPr>
                <a:t>data</a:t>
              </a:r>
              <a:endParaRPr lang="en-US" sz="1200" i="1">
                <a:solidFill>
                  <a:schemeClr val="tx2"/>
                </a:solidFill>
                <a:latin typeface="Tahoma" pitchFamily="34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Pointer Variables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5000"/>
              </a:lnSpc>
            </a:pPr>
            <a:r>
              <a:rPr lang="en-US" smtClean="0"/>
              <a:t>The pointer data type</a:t>
            </a:r>
          </a:p>
          <a:p>
            <a:pPr lvl="1" eaLnBrk="1" hangingPunct="1">
              <a:lnSpc>
                <a:spcPct val="85000"/>
              </a:lnSpc>
            </a:pPr>
            <a:r>
              <a:rPr lang="en-US" smtClean="0"/>
              <a:t>A data type for containing an address rather than a data value</a:t>
            </a:r>
          </a:p>
          <a:p>
            <a:pPr lvl="1" eaLnBrk="1" hangingPunct="1">
              <a:lnSpc>
                <a:spcPct val="85000"/>
              </a:lnSpc>
            </a:pPr>
            <a:r>
              <a:rPr lang="en-US" smtClean="0"/>
              <a:t>Integral, similar to </a:t>
            </a:r>
            <a:r>
              <a:rPr lang="en-US" b="1" smtClean="0">
                <a:solidFill>
                  <a:schemeClr val="tx2"/>
                </a:solidFill>
                <a:latin typeface="Courier New" pitchFamily="49" charset="0"/>
              </a:rPr>
              <a:t>int</a:t>
            </a:r>
            <a:endParaRPr lang="en-US" smtClean="0">
              <a:solidFill>
                <a:schemeClr val="tx2"/>
              </a:solidFill>
              <a:latin typeface="Courier New" pitchFamily="49" charset="0"/>
            </a:endParaRPr>
          </a:p>
          <a:p>
            <a:pPr lvl="1" eaLnBrk="1" hangingPunct="1">
              <a:lnSpc>
                <a:spcPct val="85000"/>
              </a:lnSpc>
            </a:pPr>
            <a:r>
              <a:rPr lang="en-US" smtClean="0"/>
              <a:t>Size is the number of bytes in which the target computer stores a memory address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Provides indirect access to values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3E9C541-56C3-4B89-8DC0-8DD51CA1E68C}" type="slidenum">
              <a:rPr lang="en-US"/>
              <a:pPr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1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3" grpId="0" build="p" bldLvl="2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Declaration of Pointer Variables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A pointer variable is declared by: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b="1" smtClean="0">
                <a:solidFill>
                  <a:schemeClr val="tx2"/>
                </a:solidFill>
                <a:latin typeface="Courier New" pitchFamily="49" charset="0"/>
              </a:rPr>
              <a:t>       dataType *pointerVarName;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The pointer variable </a:t>
            </a:r>
            <a:r>
              <a:rPr lang="en-US" i="1" smtClean="0">
                <a:solidFill>
                  <a:schemeClr val="tx2"/>
                </a:solidFill>
              </a:rPr>
              <a:t>pointerVarName</a:t>
            </a:r>
            <a:r>
              <a:rPr lang="en-US" smtClean="0"/>
              <a:t> is used to point to a value of type </a:t>
            </a:r>
            <a:r>
              <a:rPr lang="en-US" i="1" smtClean="0">
                <a:solidFill>
                  <a:schemeClr val="tx2"/>
                </a:solidFill>
              </a:rPr>
              <a:t>dataType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The </a:t>
            </a:r>
            <a:r>
              <a:rPr lang="en-US" smtClean="0">
                <a:solidFill>
                  <a:schemeClr val="tx2"/>
                </a:solidFill>
              </a:rPr>
              <a:t>*</a:t>
            </a:r>
            <a:r>
              <a:rPr lang="en-US" smtClean="0"/>
              <a:t> before the </a:t>
            </a:r>
            <a:r>
              <a:rPr lang="en-US" i="1" smtClean="0">
                <a:solidFill>
                  <a:schemeClr val="tx2"/>
                </a:solidFill>
              </a:rPr>
              <a:t>pointerVarName</a:t>
            </a:r>
            <a:r>
              <a:rPr lang="en-US" smtClean="0"/>
              <a:t> indicates that this is a pointer variable, not a regular variable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The </a:t>
            </a:r>
            <a:r>
              <a:rPr lang="en-US" smtClean="0">
                <a:solidFill>
                  <a:schemeClr val="tx2"/>
                </a:solidFill>
              </a:rPr>
              <a:t>*</a:t>
            </a:r>
            <a:r>
              <a:rPr lang="en-US" smtClean="0"/>
              <a:t> is not a part of the pointer variable name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FFDE5DA-14F9-4EE3-B674-DB15A4C91BBC}" type="slidenum">
              <a:rPr lang="en-US"/>
              <a:pPr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Declaration of Pointer Variables (Cont ..)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905000"/>
            <a:ext cx="77724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Example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b="1" smtClean="0">
                <a:solidFill>
                  <a:schemeClr val="tx2"/>
                </a:solidFill>
                <a:latin typeface="Courier New" pitchFamily="49" charset="0"/>
              </a:rPr>
              <a:t>   int *ptr1;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b="1" smtClean="0">
                <a:solidFill>
                  <a:schemeClr val="tx2"/>
                </a:solidFill>
                <a:latin typeface="Courier New" pitchFamily="49" charset="0"/>
              </a:rPr>
              <a:t>   float *ptr2;</a:t>
            </a:r>
          </a:p>
          <a:p>
            <a:pPr lvl="1" eaLnBrk="1" hangingPunct="1">
              <a:lnSpc>
                <a:spcPct val="90000"/>
              </a:lnSpc>
            </a:pPr>
            <a:r>
              <a:rPr lang="en-US" b="1" smtClean="0">
                <a:solidFill>
                  <a:schemeClr val="tx2"/>
                </a:solidFill>
                <a:latin typeface="Courier New" pitchFamily="49" charset="0"/>
              </a:rPr>
              <a:t>ptr1</a:t>
            </a:r>
            <a:r>
              <a:rPr lang="en-US" smtClean="0"/>
              <a:t> is a pointer to an </a:t>
            </a:r>
            <a:r>
              <a:rPr lang="en-US" b="1" smtClean="0">
                <a:solidFill>
                  <a:schemeClr val="tx2"/>
                </a:solidFill>
                <a:latin typeface="Courier New" pitchFamily="49" charset="0"/>
              </a:rPr>
              <a:t>int</a:t>
            </a:r>
            <a:r>
              <a:rPr lang="en-US" smtClean="0"/>
              <a:t> value i.e., it can have the address of the memory location (or the first of more than one memory locations) allocated to an </a:t>
            </a:r>
            <a:r>
              <a:rPr lang="en-US" b="1" smtClean="0">
                <a:solidFill>
                  <a:schemeClr val="tx2"/>
                </a:solidFill>
                <a:latin typeface="Courier New" pitchFamily="49" charset="0"/>
              </a:rPr>
              <a:t>int</a:t>
            </a:r>
            <a:r>
              <a:rPr lang="en-US" smtClean="0"/>
              <a:t> value</a:t>
            </a:r>
          </a:p>
          <a:p>
            <a:pPr lvl="1" eaLnBrk="1" hangingPunct="1">
              <a:lnSpc>
                <a:spcPct val="90000"/>
              </a:lnSpc>
            </a:pPr>
            <a:r>
              <a:rPr lang="en-US" b="1" smtClean="0">
                <a:solidFill>
                  <a:schemeClr val="tx2"/>
                </a:solidFill>
                <a:latin typeface="Courier New" pitchFamily="49" charset="0"/>
              </a:rPr>
              <a:t>ptr2</a:t>
            </a:r>
            <a:r>
              <a:rPr lang="en-US" b="1" smtClean="0">
                <a:latin typeface="Courier New" pitchFamily="49" charset="0"/>
              </a:rPr>
              <a:t> </a:t>
            </a:r>
            <a:r>
              <a:rPr lang="en-US" smtClean="0"/>
              <a:t>is a pointer to a </a:t>
            </a:r>
            <a:r>
              <a:rPr lang="en-US" b="1" smtClean="0">
                <a:solidFill>
                  <a:schemeClr val="tx2"/>
                </a:solidFill>
                <a:latin typeface="Courier New" pitchFamily="49" charset="0"/>
              </a:rPr>
              <a:t>float</a:t>
            </a:r>
            <a:r>
              <a:rPr lang="en-US" smtClean="0"/>
              <a:t> value i.e., it can have the address of the memory location (or the first of more than one memory locations) allocated to a </a:t>
            </a:r>
            <a:r>
              <a:rPr lang="en-US" b="1" smtClean="0">
                <a:solidFill>
                  <a:schemeClr val="tx2"/>
                </a:solidFill>
                <a:latin typeface="Courier New" pitchFamily="49" charset="0"/>
              </a:rPr>
              <a:t>float</a:t>
            </a:r>
            <a:r>
              <a:rPr lang="en-US" smtClean="0"/>
              <a:t> value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325302-D8FA-4F4A-B470-03156ED291A5}" type="slidenum">
              <a:rPr lang="en-US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 build="p" bldLvl="2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Declaration of Pointer Variables (Cont ..)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Whitespace doesn’t matter and each of the following will declare </a:t>
            </a:r>
            <a:r>
              <a:rPr lang="en-US" b="1" smtClean="0">
                <a:solidFill>
                  <a:schemeClr val="tx2"/>
                </a:solidFill>
                <a:latin typeface="Courier New" pitchFamily="49" charset="0"/>
              </a:rPr>
              <a:t>ptr</a:t>
            </a:r>
            <a:r>
              <a:rPr lang="en-US" smtClean="0"/>
              <a:t> as a pointer (to a </a:t>
            </a:r>
            <a:r>
              <a:rPr lang="en-US" b="1" smtClean="0">
                <a:solidFill>
                  <a:schemeClr val="tx2"/>
                </a:solidFill>
                <a:latin typeface="Courier New" pitchFamily="49" charset="0"/>
              </a:rPr>
              <a:t>float</a:t>
            </a:r>
            <a:r>
              <a:rPr lang="en-US" smtClean="0"/>
              <a:t>) variable and </a:t>
            </a:r>
            <a:r>
              <a:rPr lang="en-US" b="1" smtClean="0">
                <a:solidFill>
                  <a:schemeClr val="tx2"/>
                </a:solidFill>
                <a:latin typeface="Courier New" pitchFamily="49" charset="0"/>
              </a:rPr>
              <a:t>data</a:t>
            </a:r>
            <a:r>
              <a:rPr lang="en-US" smtClean="0"/>
              <a:t> as a </a:t>
            </a:r>
            <a:r>
              <a:rPr lang="en-US" b="1" smtClean="0">
                <a:solidFill>
                  <a:schemeClr val="tx2"/>
                </a:solidFill>
                <a:latin typeface="Courier New" pitchFamily="49" charset="0"/>
              </a:rPr>
              <a:t>float</a:t>
            </a:r>
            <a:r>
              <a:rPr lang="en-US" smtClean="0"/>
              <a:t> variable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sz="2400" b="1" smtClean="0">
              <a:latin typeface="Courier New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b="1" smtClean="0">
                <a:solidFill>
                  <a:srgbClr val="C00000"/>
                </a:solidFill>
                <a:latin typeface="Courier New" pitchFamily="49" charset="0"/>
              </a:rPr>
              <a:t>        float *ptr, data;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b="1" smtClean="0">
                <a:solidFill>
                  <a:srgbClr val="C00000"/>
                </a:solidFill>
                <a:latin typeface="Courier New" pitchFamily="49" charset="0"/>
              </a:rPr>
              <a:t>        float* ptr, data;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b="1" smtClean="0">
                <a:solidFill>
                  <a:srgbClr val="C00000"/>
                </a:solidFill>
                <a:latin typeface="Courier New" pitchFamily="49" charset="0"/>
              </a:rPr>
              <a:t>        float (*ptr), data;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b="1" smtClean="0">
                <a:solidFill>
                  <a:srgbClr val="C00000"/>
                </a:solidFill>
                <a:latin typeface="Courier New" pitchFamily="49" charset="0"/>
              </a:rPr>
              <a:t>        float data, *ptr</a:t>
            </a:r>
            <a:r>
              <a:rPr lang="en-US" sz="2400" b="1" smtClean="0">
                <a:solidFill>
                  <a:schemeClr val="hlink"/>
                </a:solidFill>
                <a:latin typeface="Courier New" pitchFamily="49" charset="0"/>
              </a:rPr>
              <a:t>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2E4C94-FB20-4A48-85A9-59E38A0F6444}" type="slidenum">
              <a:rPr lang="en-US"/>
              <a:pPr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Assignment of Pointer Variables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828800"/>
            <a:ext cx="7772400" cy="4114800"/>
          </a:xfrm>
        </p:spPr>
        <p:txBody>
          <a:bodyPr lIns="0" rIns="0">
            <a:normAutofit lnSpcReduction="10000"/>
          </a:bodyPr>
          <a:lstStyle/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sz="2800"/>
              <a:t>A pointer variable has to be assigned a valid memory address before it can be used in the program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sz="2800"/>
              <a:t>Example:</a:t>
            </a:r>
          </a:p>
          <a:p>
            <a:pPr lvl="2" indent="-246888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US" b="1">
                <a:solidFill>
                  <a:schemeClr val="tx2"/>
                </a:solidFill>
                <a:latin typeface="Courier New" pitchFamily="49" charset="0"/>
              </a:rPr>
              <a:t>  float data = 50.8;</a:t>
            </a:r>
          </a:p>
          <a:p>
            <a:pPr lvl="2" indent="-246888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US" b="1">
                <a:solidFill>
                  <a:schemeClr val="tx2"/>
                </a:solidFill>
                <a:latin typeface="Courier New" pitchFamily="49" charset="0"/>
              </a:rPr>
              <a:t>  float *ptr;</a:t>
            </a:r>
          </a:p>
          <a:p>
            <a:pPr lvl="2" indent="-246888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US" b="1">
                <a:solidFill>
                  <a:schemeClr val="tx2"/>
                </a:solidFill>
                <a:latin typeface="Courier New" pitchFamily="49" charset="0"/>
              </a:rPr>
              <a:t>  ptr = &amp;data;</a:t>
            </a:r>
          </a:p>
          <a:p>
            <a:pPr marL="640080" lvl="1" indent="-246888" eaLnBrk="1" fontAlgn="auto" hangingPunct="1">
              <a:lnSpc>
                <a:spcPct val="9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en-US"/>
              <a:t>This will assign the address of the memory location allocated for the floating point variable </a:t>
            </a:r>
            <a:r>
              <a:rPr lang="en-US" b="1">
                <a:solidFill>
                  <a:schemeClr val="tx2"/>
                </a:solidFill>
                <a:latin typeface="Courier New" pitchFamily="49" charset="0"/>
              </a:rPr>
              <a:t>data</a:t>
            </a:r>
            <a:r>
              <a:rPr lang="en-US"/>
              <a:t> to the pointer variable </a:t>
            </a:r>
            <a:r>
              <a:rPr lang="en-US" b="1">
                <a:solidFill>
                  <a:schemeClr val="tx2"/>
                </a:solidFill>
                <a:latin typeface="Courier New" pitchFamily="49" charset="0"/>
              </a:rPr>
              <a:t>ptr</a:t>
            </a:r>
            <a:r>
              <a:rPr lang="en-US"/>
              <a:t>. This is OK, since the variable </a:t>
            </a:r>
            <a:r>
              <a:rPr lang="en-US" b="1">
                <a:solidFill>
                  <a:schemeClr val="tx2"/>
                </a:solidFill>
                <a:latin typeface="Courier New" pitchFamily="49" charset="0"/>
              </a:rPr>
              <a:t>data</a:t>
            </a:r>
            <a:r>
              <a:rPr lang="en-US"/>
              <a:t> has already been allocated some memory space having a valid address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644292-FE75-4819-9F22-6A69D62419B8}" type="slidenum">
              <a:rPr lang="en-US"/>
              <a:pPr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5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5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55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55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39" grpId="0" build="p" bldLvl="2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Assignment of Pointer Variables (Cont ..)</a:t>
            </a:r>
          </a:p>
        </p:txBody>
      </p:sp>
      <p:sp>
        <p:nvSpPr>
          <p:cNvPr id="26" name="Slide Number Placeholder 2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3E14AC-FEDC-4E1D-AE4E-60BF96375992}" type="slidenum">
              <a:rPr lang="en-US"/>
              <a:pPr>
                <a:defRPr/>
              </a:pPr>
              <a:t>10</a:t>
            </a:fld>
            <a:endParaRPr lang="en-US"/>
          </a:p>
        </p:txBody>
      </p:sp>
      <p:sp>
        <p:nvSpPr>
          <p:cNvPr id="14341" name="Rectangle 4"/>
          <p:cNvSpPr>
            <a:spLocks noChangeArrowheads="1"/>
          </p:cNvSpPr>
          <p:nvPr/>
        </p:nvSpPr>
        <p:spPr bwMode="auto">
          <a:xfrm>
            <a:off x="762000" y="1828800"/>
            <a:ext cx="3886200" cy="411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46038" rIns="0" bIns="46038"/>
          <a:lstStyle/>
          <a:p>
            <a:pPr marL="342900" indent="-342900">
              <a:lnSpc>
                <a:spcPct val="80000"/>
              </a:lnSpc>
              <a:spcBef>
                <a:spcPct val="20000"/>
              </a:spcBef>
            </a:pPr>
            <a:endParaRPr lang="en-US" sz="2000" b="1">
              <a:solidFill>
                <a:schemeClr val="tx2"/>
              </a:solidFill>
              <a:latin typeface="Courier New" pitchFamily="49" charset="0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</a:pPr>
            <a:endParaRPr lang="en-US" sz="2000" b="1">
              <a:solidFill>
                <a:schemeClr val="tx2"/>
              </a:solidFill>
              <a:latin typeface="Courier New" pitchFamily="49" charset="0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</a:pPr>
            <a:endParaRPr lang="en-US" sz="2000" b="1">
              <a:solidFill>
                <a:schemeClr val="tx2"/>
              </a:solidFill>
              <a:latin typeface="Courier New" pitchFamily="49" charset="0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</a:pPr>
            <a:endParaRPr lang="en-US" sz="2000" b="1">
              <a:solidFill>
                <a:schemeClr val="tx2"/>
              </a:solidFill>
              <a:latin typeface="Courier New" pitchFamily="49" charset="0"/>
            </a:endParaRP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</a:pPr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   float data = 50.8;</a:t>
            </a: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</a:pPr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   float *ptr;</a:t>
            </a: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</a:pPr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   ptr = &amp;data;</a:t>
            </a:r>
          </a:p>
        </p:txBody>
      </p:sp>
      <p:sp>
        <p:nvSpPr>
          <p:cNvPr id="14342" name="Rectangle 5" descr="Light upward diagonal"/>
          <p:cNvSpPr>
            <a:spLocks noChangeArrowheads="1"/>
          </p:cNvSpPr>
          <p:nvPr/>
        </p:nvSpPr>
        <p:spPr bwMode="auto">
          <a:xfrm>
            <a:off x="7499350" y="2644775"/>
            <a:ext cx="1116013" cy="4333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sz="2000">
              <a:latin typeface="Tahoma" pitchFamily="34" charset="0"/>
            </a:endParaRPr>
          </a:p>
        </p:txBody>
      </p:sp>
      <p:sp>
        <p:nvSpPr>
          <p:cNvPr id="14343" name="Rectangle 6" descr="Light upward diagonal"/>
          <p:cNvSpPr>
            <a:spLocks noChangeArrowheads="1"/>
          </p:cNvSpPr>
          <p:nvPr/>
        </p:nvSpPr>
        <p:spPr bwMode="auto">
          <a:xfrm>
            <a:off x="7499350" y="2209800"/>
            <a:ext cx="1116013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sz="1400">
              <a:latin typeface="Tahoma" pitchFamily="34" charset="0"/>
            </a:endParaRPr>
          </a:p>
        </p:txBody>
      </p:sp>
      <p:sp>
        <p:nvSpPr>
          <p:cNvPr id="14344" name="Rectangle 7" descr="Light upward diagonal"/>
          <p:cNvSpPr>
            <a:spLocks noChangeArrowheads="1"/>
          </p:cNvSpPr>
          <p:nvPr/>
        </p:nvSpPr>
        <p:spPr bwMode="auto">
          <a:xfrm>
            <a:off x="7499350" y="5791200"/>
            <a:ext cx="1116013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14345" name="Rectangle 8" descr="Light upward diagonal"/>
          <p:cNvSpPr>
            <a:spLocks noChangeArrowheads="1"/>
          </p:cNvSpPr>
          <p:nvPr/>
        </p:nvSpPr>
        <p:spPr bwMode="auto">
          <a:xfrm>
            <a:off x="7499350" y="3078163"/>
            <a:ext cx="1116013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14346" name="Rectangle 9" descr="Light upward diagonal"/>
          <p:cNvSpPr>
            <a:spLocks noChangeArrowheads="1"/>
          </p:cNvSpPr>
          <p:nvPr/>
        </p:nvSpPr>
        <p:spPr bwMode="auto">
          <a:xfrm>
            <a:off x="7499350" y="3513138"/>
            <a:ext cx="1116013" cy="4333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14347" name="Rectangle 10" descr="Light upward diagonal"/>
          <p:cNvSpPr>
            <a:spLocks noChangeArrowheads="1"/>
          </p:cNvSpPr>
          <p:nvPr/>
        </p:nvSpPr>
        <p:spPr bwMode="auto">
          <a:xfrm>
            <a:off x="7499350" y="3946525"/>
            <a:ext cx="1116013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000">
                <a:solidFill>
                  <a:schemeClr val="accent2"/>
                </a:solidFill>
                <a:latin typeface="Tahoma" pitchFamily="34" charset="0"/>
              </a:rPr>
              <a:t>50.8</a:t>
            </a:r>
          </a:p>
        </p:txBody>
      </p:sp>
      <p:sp>
        <p:nvSpPr>
          <p:cNvPr id="14348" name="Rectangle 11" descr="Light upward diagonal"/>
          <p:cNvSpPr>
            <a:spLocks noChangeArrowheads="1"/>
          </p:cNvSpPr>
          <p:nvPr/>
        </p:nvSpPr>
        <p:spPr bwMode="auto">
          <a:xfrm>
            <a:off x="7499350" y="4381500"/>
            <a:ext cx="1116013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14349" name="Rectangle 12" descr="Light upward diagonal"/>
          <p:cNvSpPr>
            <a:spLocks noChangeArrowheads="1"/>
          </p:cNvSpPr>
          <p:nvPr/>
        </p:nvSpPr>
        <p:spPr bwMode="auto">
          <a:xfrm>
            <a:off x="7499350" y="4816475"/>
            <a:ext cx="1116013" cy="4333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14350" name="Line 13" descr="Light upward diagonal"/>
          <p:cNvSpPr>
            <a:spLocks noChangeShapeType="1"/>
          </p:cNvSpPr>
          <p:nvPr/>
        </p:nvSpPr>
        <p:spPr bwMode="auto">
          <a:xfrm>
            <a:off x="8058150" y="5337175"/>
            <a:ext cx="1588" cy="377825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51" name="Rectangle 14"/>
          <p:cNvSpPr>
            <a:spLocks noChangeArrowheads="1"/>
          </p:cNvSpPr>
          <p:nvPr/>
        </p:nvSpPr>
        <p:spPr bwMode="auto">
          <a:xfrm>
            <a:off x="6477000" y="2644775"/>
            <a:ext cx="1022350" cy="4333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FFF1</a:t>
            </a:r>
          </a:p>
        </p:txBody>
      </p:sp>
      <p:sp>
        <p:nvSpPr>
          <p:cNvPr id="14352" name="Rectangle 15"/>
          <p:cNvSpPr>
            <a:spLocks noChangeArrowheads="1"/>
          </p:cNvSpPr>
          <p:nvPr/>
        </p:nvSpPr>
        <p:spPr bwMode="auto">
          <a:xfrm>
            <a:off x="6477000" y="2209800"/>
            <a:ext cx="1022350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FFF0</a:t>
            </a:r>
          </a:p>
        </p:txBody>
      </p:sp>
      <p:sp>
        <p:nvSpPr>
          <p:cNvPr id="14353" name="Rectangle 16"/>
          <p:cNvSpPr>
            <a:spLocks noChangeArrowheads="1"/>
          </p:cNvSpPr>
          <p:nvPr/>
        </p:nvSpPr>
        <p:spPr bwMode="auto">
          <a:xfrm>
            <a:off x="6477000" y="5791200"/>
            <a:ext cx="1022350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b="1">
              <a:latin typeface="Courier New" pitchFamily="49" charset="0"/>
            </a:endParaRPr>
          </a:p>
        </p:txBody>
      </p:sp>
      <p:sp>
        <p:nvSpPr>
          <p:cNvPr id="14354" name="Rectangle 17"/>
          <p:cNvSpPr>
            <a:spLocks noChangeArrowheads="1"/>
          </p:cNvSpPr>
          <p:nvPr/>
        </p:nvSpPr>
        <p:spPr bwMode="auto">
          <a:xfrm>
            <a:off x="6477000" y="3078163"/>
            <a:ext cx="1022350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FFF2</a:t>
            </a:r>
          </a:p>
        </p:txBody>
      </p:sp>
      <p:sp>
        <p:nvSpPr>
          <p:cNvPr id="14355" name="Rectangle 18"/>
          <p:cNvSpPr>
            <a:spLocks noChangeArrowheads="1"/>
          </p:cNvSpPr>
          <p:nvPr/>
        </p:nvSpPr>
        <p:spPr bwMode="auto">
          <a:xfrm>
            <a:off x="6477000" y="3513138"/>
            <a:ext cx="1022350" cy="4333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FFF3</a:t>
            </a:r>
          </a:p>
        </p:txBody>
      </p:sp>
      <p:sp>
        <p:nvSpPr>
          <p:cNvPr id="14356" name="Rectangle 19"/>
          <p:cNvSpPr>
            <a:spLocks noChangeArrowheads="1"/>
          </p:cNvSpPr>
          <p:nvPr/>
        </p:nvSpPr>
        <p:spPr bwMode="auto">
          <a:xfrm>
            <a:off x="6477000" y="3946525"/>
            <a:ext cx="1022350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FFF4</a:t>
            </a:r>
          </a:p>
        </p:txBody>
      </p:sp>
      <p:sp>
        <p:nvSpPr>
          <p:cNvPr id="14357" name="Rectangle 20"/>
          <p:cNvSpPr>
            <a:spLocks noChangeArrowheads="1"/>
          </p:cNvSpPr>
          <p:nvPr/>
        </p:nvSpPr>
        <p:spPr bwMode="auto">
          <a:xfrm>
            <a:off x="6477000" y="4381500"/>
            <a:ext cx="1022350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FFF5</a:t>
            </a:r>
          </a:p>
        </p:txBody>
      </p:sp>
      <p:sp>
        <p:nvSpPr>
          <p:cNvPr id="14358" name="Rectangle 21"/>
          <p:cNvSpPr>
            <a:spLocks noChangeArrowheads="1"/>
          </p:cNvSpPr>
          <p:nvPr/>
        </p:nvSpPr>
        <p:spPr bwMode="auto">
          <a:xfrm>
            <a:off x="6477000" y="4816475"/>
            <a:ext cx="1022350" cy="4333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FFF6</a:t>
            </a:r>
          </a:p>
        </p:txBody>
      </p:sp>
      <p:sp>
        <p:nvSpPr>
          <p:cNvPr id="14359" name="Line 22"/>
          <p:cNvSpPr>
            <a:spLocks noChangeShapeType="1"/>
          </p:cNvSpPr>
          <p:nvPr/>
        </p:nvSpPr>
        <p:spPr bwMode="auto">
          <a:xfrm>
            <a:off x="6942138" y="5337175"/>
            <a:ext cx="1587" cy="377825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60" name="Text Box 23"/>
          <p:cNvSpPr txBox="1">
            <a:spLocks noChangeArrowheads="1"/>
          </p:cNvSpPr>
          <p:nvPr/>
        </p:nvSpPr>
        <p:spPr bwMode="auto">
          <a:xfrm>
            <a:off x="5643563" y="3962400"/>
            <a:ext cx="685800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rIns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i="1">
                <a:solidFill>
                  <a:schemeClr val="tx2"/>
                </a:solidFill>
                <a:latin typeface="Tahoma" pitchFamily="34" charset="0"/>
              </a:rPr>
              <a:t>data</a:t>
            </a:r>
          </a:p>
        </p:txBody>
      </p:sp>
      <p:sp>
        <p:nvSpPr>
          <p:cNvPr id="14361" name="AutoShape 24"/>
          <p:cNvSpPr>
            <a:spLocks noChangeArrowheads="1"/>
          </p:cNvSpPr>
          <p:nvPr/>
        </p:nvSpPr>
        <p:spPr bwMode="auto">
          <a:xfrm>
            <a:off x="228600" y="3200400"/>
            <a:ext cx="533400" cy="152400"/>
          </a:xfrm>
          <a:prstGeom prst="rightArrow">
            <a:avLst>
              <a:gd name="adj1" fmla="val 50000"/>
              <a:gd name="adj2" fmla="val 875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Assignment of Pointer Variables (Cont ..)</a:t>
            </a:r>
          </a:p>
        </p:txBody>
      </p:sp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0116692-C8FA-4B23-9F45-00E6B82F30FD}" type="slidenum">
              <a:rPr lang="en-US"/>
              <a:pPr>
                <a:defRPr/>
              </a:pPr>
              <a:t>11</a:t>
            </a:fld>
            <a:endParaRPr lang="en-US"/>
          </a:p>
        </p:txBody>
      </p:sp>
      <p:sp>
        <p:nvSpPr>
          <p:cNvPr id="15365" name="Rectangle 4"/>
          <p:cNvSpPr>
            <a:spLocks noChangeArrowheads="1"/>
          </p:cNvSpPr>
          <p:nvPr/>
        </p:nvSpPr>
        <p:spPr bwMode="auto">
          <a:xfrm>
            <a:off x="762000" y="1828800"/>
            <a:ext cx="3886200" cy="411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46038" rIns="0" bIns="46038"/>
          <a:lstStyle/>
          <a:p>
            <a:pPr marL="342900" indent="-342900">
              <a:lnSpc>
                <a:spcPct val="80000"/>
              </a:lnSpc>
              <a:spcBef>
                <a:spcPct val="20000"/>
              </a:spcBef>
            </a:pPr>
            <a:endParaRPr lang="en-US" sz="2000" b="1">
              <a:solidFill>
                <a:schemeClr val="tx2"/>
              </a:solidFill>
              <a:latin typeface="Courier New" pitchFamily="49" charset="0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</a:pPr>
            <a:endParaRPr lang="en-US" sz="2000" b="1">
              <a:solidFill>
                <a:schemeClr val="tx2"/>
              </a:solidFill>
              <a:latin typeface="Courier New" pitchFamily="49" charset="0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</a:pPr>
            <a:endParaRPr lang="en-US" sz="2000" b="1">
              <a:solidFill>
                <a:schemeClr val="tx2"/>
              </a:solidFill>
              <a:latin typeface="Courier New" pitchFamily="49" charset="0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</a:pPr>
            <a:endParaRPr lang="en-US" sz="2000" b="1">
              <a:solidFill>
                <a:schemeClr val="tx2"/>
              </a:solidFill>
              <a:latin typeface="Courier New" pitchFamily="49" charset="0"/>
            </a:endParaRP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</a:pPr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   float data = 50.8;</a:t>
            </a: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</a:pPr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   float *ptr;</a:t>
            </a: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</a:pPr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   ptr = &amp;data;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</a:pPr>
            <a:endParaRPr lang="en-US" sz="2000" b="1">
              <a:solidFill>
                <a:schemeClr val="tx2"/>
              </a:solidFill>
              <a:latin typeface="Courier New" pitchFamily="49" charset="0"/>
            </a:endParaRPr>
          </a:p>
        </p:txBody>
      </p:sp>
      <p:sp>
        <p:nvSpPr>
          <p:cNvPr id="15366" name="Rectangle 5" descr="Light upward diagonal"/>
          <p:cNvSpPr>
            <a:spLocks noChangeArrowheads="1"/>
          </p:cNvSpPr>
          <p:nvPr/>
        </p:nvSpPr>
        <p:spPr bwMode="auto">
          <a:xfrm>
            <a:off x="7499350" y="2644775"/>
            <a:ext cx="1116013" cy="4333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sz="2000">
              <a:latin typeface="Tahoma" pitchFamily="34" charset="0"/>
            </a:endParaRPr>
          </a:p>
        </p:txBody>
      </p:sp>
      <p:sp>
        <p:nvSpPr>
          <p:cNvPr id="15367" name="Rectangle 6" descr="Light upward diagonal"/>
          <p:cNvSpPr>
            <a:spLocks noChangeArrowheads="1"/>
          </p:cNvSpPr>
          <p:nvPr/>
        </p:nvSpPr>
        <p:spPr bwMode="auto">
          <a:xfrm>
            <a:off x="7499350" y="2209800"/>
            <a:ext cx="1116013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sz="2000">
              <a:latin typeface="Tahoma" pitchFamily="34" charset="0"/>
            </a:endParaRPr>
          </a:p>
        </p:txBody>
      </p:sp>
      <p:sp>
        <p:nvSpPr>
          <p:cNvPr id="15368" name="Rectangle 8" descr="Light upward diagonal"/>
          <p:cNvSpPr>
            <a:spLocks noChangeArrowheads="1"/>
          </p:cNvSpPr>
          <p:nvPr/>
        </p:nvSpPr>
        <p:spPr bwMode="auto">
          <a:xfrm>
            <a:off x="7499350" y="3078163"/>
            <a:ext cx="1116013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15369" name="Rectangle 9" descr="Light upward diagonal"/>
          <p:cNvSpPr>
            <a:spLocks noChangeArrowheads="1"/>
          </p:cNvSpPr>
          <p:nvPr/>
        </p:nvSpPr>
        <p:spPr bwMode="auto">
          <a:xfrm>
            <a:off x="7499350" y="3513138"/>
            <a:ext cx="1116013" cy="4333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15370" name="Rectangle 10" descr="Light upward diagonal"/>
          <p:cNvSpPr>
            <a:spLocks noChangeArrowheads="1"/>
          </p:cNvSpPr>
          <p:nvPr/>
        </p:nvSpPr>
        <p:spPr bwMode="auto">
          <a:xfrm>
            <a:off x="7499350" y="3946525"/>
            <a:ext cx="1116013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000">
                <a:solidFill>
                  <a:schemeClr val="accent2"/>
                </a:solidFill>
                <a:latin typeface="Tahoma" pitchFamily="34" charset="0"/>
              </a:rPr>
              <a:t>50.8</a:t>
            </a:r>
          </a:p>
        </p:txBody>
      </p:sp>
      <p:sp>
        <p:nvSpPr>
          <p:cNvPr id="15371" name="Rectangle 11" descr="Light upward diagonal"/>
          <p:cNvSpPr>
            <a:spLocks noChangeArrowheads="1"/>
          </p:cNvSpPr>
          <p:nvPr/>
        </p:nvSpPr>
        <p:spPr bwMode="auto">
          <a:xfrm>
            <a:off x="7499350" y="4381500"/>
            <a:ext cx="1116013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15372" name="Rectangle 12" descr="Light upward diagonal"/>
          <p:cNvSpPr>
            <a:spLocks noChangeArrowheads="1"/>
          </p:cNvSpPr>
          <p:nvPr/>
        </p:nvSpPr>
        <p:spPr bwMode="auto">
          <a:xfrm>
            <a:off x="7499350" y="4816475"/>
            <a:ext cx="1116013" cy="4333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15373" name="Rectangle 14"/>
          <p:cNvSpPr>
            <a:spLocks noChangeArrowheads="1"/>
          </p:cNvSpPr>
          <p:nvPr/>
        </p:nvSpPr>
        <p:spPr bwMode="auto">
          <a:xfrm>
            <a:off x="6477000" y="2644775"/>
            <a:ext cx="1022350" cy="4333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FFF1</a:t>
            </a:r>
          </a:p>
        </p:txBody>
      </p:sp>
      <p:sp>
        <p:nvSpPr>
          <p:cNvPr id="15374" name="Rectangle 15"/>
          <p:cNvSpPr>
            <a:spLocks noChangeArrowheads="1"/>
          </p:cNvSpPr>
          <p:nvPr/>
        </p:nvSpPr>
        <p:spPr bwMode="auto">
          <a:xfrm>
            <a:off x="6477000" y="2209800"/>
            <a:ext cx="1022350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FFF0</a:t>
            </a:r>
          </a:p>
        </p:txBody>
      </p:sp>
      <p:sp>
        <p:nvSpPr>
          <p:cNvPr id="15375" name="Rectangle 17"/>
          <p:cNvSpPr>
            <a:spLocks noChangeArrowheads="1"/>
          </p:cNvSpPr>
          <p:nvPr/>
        </p:nvSpPr>
        <p:spPr bwMode="auto">
          <a:xfrm>
            <a:off x="6477000" y="3078163"/>
            <a:ext cx="1022350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FFF2</a:t>
            </a:r>
          </a:p>
        </p:txBody>
      </p:sp>
      <p:sp>
        <p:nvSpPr>
          <p:cNvPr id="15376" name="Rectangle 18"/>
          <p:cNvSpPr>
            <a:spLocks noChangeArrowheads="1"/>
          </p:cNvSpPr>
          <p:nvPr/>
        </p:nvSpPr>
        <p:spPr bwMode="auto">
          <a:xfrm>
            <a:off x="6477000" y="3513138"/>
            <a:ext cx="1022350" cy="4333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FFF3</a:t>
            </a:r>
          </a:p>
        </p:txBody>
      </p:sp>
      <p:sp>
        <p:nvSpPr>
          <p:cNvPr id="15377" name="Rectangle 19"/>
          <p:cNvSpPr>
            <a:spLocks noChangeArrowheads="1"/>
          </p:cNvSpPr>
          <p:nvPr/>
        </p:nvSpPr>
        <p:spPr bwMode="auto">
          <a:xfrm>
            <a:off x="6477000" y="3946525"/>
            <a:ext cx="1022350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FFF4</a:t>
            </a:r>
          </a:p>
        </p:txBody>
      </p:sp>
      <p:sp>
        <p:nvSpPr>
          <p:cNvPr id="15378" name="Rectangle 20"/>
          <p:cNvSpPr>
            <a:spLocks noChangeArrowheads="1"/>
          </p:cNvSpPr>
          <p:nvPr/>
        </p:nvSpPr>
        <p:spPr bwMode="auto">
          <a:xfrm>
            <a:off x="6477000" y="4381500"/>
            <a:ext cx="1022350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FFF5</a:t>
            </a:r>
          </a:p>
        </p:txBody>
      </p:sp>
      <p:sp>
        <p:nvSpPr>
          <p:cNvPr id="15379" name="Rectangle 21"/>
          <p:cNvSpPr>
            <a:spLocks noChangeArrowheads="1"/>
          </p:cNvSpPr>
          <p:nvPr/>
        </p:nvSpPr>
        <p:spPr bwMode="auto">
          <a:xfrm>
            <a:off x="6477000" y="4816475"/>
            <a:ext cx="1022350" cy="4333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FFF6</a:t>
            </a:r>
          </a:p>
        </p:txBody>
      </p:sp>
      <p:sp>
        <p:nvSpPr>
          <p:cNvPr id="15380" name="Text Box 23"/>
          <p:cNvSpPr txBox="1">
            <a:spLocks noChangeArrowheads="1"/>
          </p:cNvSpPr>
          <p:nvPr/>
        </p:nvSpPr>
        <p:spPr bwMode="auto">
          <a:xfrm>
            <a:off x="5643563" y="2133600"/>
            <a:ext cx="685800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rIns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i="1">
                <a:solidFill>
                  <a:schemeClr val="tx2"/>
                </a:solidFill>
                <a:latin typeface="Tahoma" pitchFamily="34" charset="0"/>
              </a:rPr>
              <a:t>ptr</a:t>
            </a:r>
          </a:p>
        </p:txBody>
      </p:sp>
      <p:sp>
        <p:nvSpPr>
          <p:cNvPr id="15381" name="Text Box 24"/>
          <p:cNvSpPr txBox="1">
            <a:spLocks noChangeArrowheads="1"/>
          </p:cNvSpPr>
          <p:nvPr/>
        </p:nvSpPr>
        <p:spPr bwMode="auto">
          <a:xfrm>
            <a:off x="5643563" y="3962400"/>
            <a:ext cx="685800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rIns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i="1">
                <a:solidFill>
                  <a:schemeClr val="tx2"/>
                </a:solidFill>
                <a:latin typeface="Tahoma" pitchFamily="34" charset="0"/>
              </a:rPr>
              <a:t>data</a:t>
            </a:r>
          </a:p>
        </p:txBody>
      </p:sp>
      <p:sp>
        <p:nvSpPr>
          <p:cNvPr id="15382" name="Rectangle 25"/>
          <p:cNvSpPr>
            <a:spLocks noChangeArrowheads="1"/>
          </p:cNvSpPr>
          <p:nvPr/>
        </p:nvSpPr>
        <p:spPr bwMode="auto">
          <a:xfrm>
            <a:off x="7624763" y="2209800"/>
            <a:ext cx="914400" cy="381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sz="2000">
              <a:latin typeface="Tahoma" pitchFamily="34" charset="0"/>
            </a:endParaRPr>
          </a:p>
        </p:txBody>
      </p:sp>
      <p:sp>
        <p:nvSpPr>
          <p:cNvPr id="15383" name="AutoShape 26"/>
          <p:cNvSpPr>
            <a:spLocks noChangeArrowheads="1"/>
          </p:cNvSpPr>
          <p:nvPr/>
        </p:nvSpPr>
        <p:spPr bwMode="auto">
          <a:xfrm>
            <a:off x="228600" y="3657600"/>
            <a:ext cx="533400" cy="152400"/>
          </a:xfrm>
          <a:prstGeom prst="rightArrow">
            <a:avLst>
              <a:gd name="adj1" fmla="val 50000"/>
              <a:gd name="adj2" fmla="val 875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15384" name="Rectangle 28" descr="Light upward diagonal"/>
          <p:cNvSpPr>
            <a:spLocks noChangeArrowheads="1"/>
          </p:cNvSpPr>
          <p:nvPr/>
        </p:nvSpPr>
        <p:spPr bwMode="auto">
          <a:xfrm>
            <a:off x="7499350" y="5791200"/>
            <a:ext cx="1116013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15385" name="Line 29" descr="Light upward diagonal"/>
          <p:cNvSpPr>
            <a:spLocks noChangeShapeType="1"/>
          </p:cNvSpPr>
          <p:nvPr/>
        </p:nvSpPr>
        <p:spPr bwMode="auto">
          <a:xfrm>
            <a:off x="8058150" y="5337175"/>
            <a:ext cx="1588" cy="377825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86" name="Rectangle 30"/>
          <p:cNvSpPr>
            <a:spLocks noChangeArrowheads="1"/>
          </p:cNvSpPr>
          <p:nvPr/>
        </p:nvSpPr>
        <p:spPr bwMode="auto">
          <a:xfrm>
            <a:off x="6477000" y="5791200"/>
            <a:ext cx="1022350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b="1">
              <a:latin typeface="Courier New" pitchFamily="49" charset="0"/>
            </a:endParaRPr>
          </a:p>
        </p:txBody>
      </p:sp>
      <p:sp>
        <p:nvSpPr>
          <p:cNvPr id="15387" name="Line 31"/>
          <p:cNvSpPr>
            <a:spLocks noChangeShapeType="1"/>
          </p:cNvSpPr>
          <p:nvPr/>
        </p:nvSpPr>
        <p:spPr bwMode="auto">
          <a:xfrm>
            <a:off x="6942138" y="5337175"/>
            <a:ext cx="1587" cy="377825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Assignment of Pointer Variables (Cont ..)</a:t>
            </a:r>
          </a:p>
        </p:txBody>
      </p:sp>
      <p:sp>
        <p:nvSpPr>
          <p:cNvPr id="33" name="Slide Number Placeholder 3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F38325-26DB-4DD1-B401-37F56C6626F2}" type="slidenum">
              <a:rPr lang="en-US"/>
              <a:pPr>
                <a:defRPr/>
              </a:pPr>
              <a:t>12</a:t>
            </a:fld>
            <a:endParaRPr lang="en-US"/>
          </a:p>
        </p:txBody>
      </p:sp>
      <p:sp>
        <p:nvSpPr>
          <p:cNvPr id="16389" name="Rectangle 4"/>
          <p:cNvSpPr>
            <a:spLocks noChangeArrowheads="1"/>
          </p:cNvSpPr>
          <p:nvPr/>
        </p:nvSpPr>
        <p:spPr bwMode="auto">
          <a:xfrm>
            <a:off x="762000" y="1828800"/>
            <a:ext cx="3886200" cy="411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46038" rIns="0" bIns="46038"/>
          <a:lstStyle/>
          <a:p>
            <a:pPr marL="342900" indent="-342900">
              <a:lnSpc>
                <a:spcPct val="80000"/>
              </a:lnSpc>
              <a:spcBef>
                <a:spcPct val="20000"/>
              </a:spcBef>
            </a:pPr>
            <a:endParaRPr lang="en-US" sz="2000" b="1">
              <a:solidFill>
                <a:schemeClr val="tx2"/>
              </a:solidFill>
              <a:latin typeface="Courier New" pitchFamily="49" charset="0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</a:pPr>
            <a:endParaRPr lang="en-US" sz="2000" b="1">
              <a:solidFill>
                <a:schemeClr val="tx2"/>
              </a:solidFill>
              <a:latin typeface="Courier New" pitchFamily="49" charset="0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</a:pPr>
            <a:endParaRPr lang="en-US" sz="2000" b="1">
              <a:solidFill>
                <a:schemeClr val="tx2"/>
              </a:solidFill>
              <a:latin typeface="Courier New" pitchFamily="49" charset="0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</a:pPr>
            <a:endParaRPr lang="en-US" sz="2000" b="1">
              <a:solidFill>
                <a:schemeClr val="tx2"/>
              </a:solidFill>
              <a:latin typeface="Courier New" pitchFamily="49" charset="0"/>
            </a:endParaRP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</a:pPr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   float data = 50.8;</a:t>
            </a: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</a:pPr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   float *ptr;</a:t>
            </a: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</a:pPr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   ptr = &amp;data;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</a:pPr>
            <a:endParaRPr lang="en-US" sz="2000" b="1">
              <a:solidFill>
                <a:schemeClr val="tx2"/>
              </a:solidFill>
              <a:latin typeface="Courier New" pitchFamily="49" charset="0"/>
            </a:endParaRPr>
          </a:p>
        </p:txBody>
      </p:sp>
      <p:sp>
        <p:nvSpPr>
          <p:cNvPr id="16390" name="Rectangle 5" descr="Light upward diagonal"/>
          <p:cNvSpPr>
            <a:spLocks noChangeArrowheads="1"/>
          </p:cNvSpPr>
          <p:nvPr/>
        </p:nvSpPr>
        <p:spPr bwMode="auto">
          <a:xfrm>
            <a:off x="7499350" y="2644775"/>
            <a:ext cx="1116013" cy="4333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sz="2000">
              <a:latin typeface="Tahoma" pitchFamily="34" charset="0"/>
            </a:endParaRPr>
          </a:p>
        </p:txBody>
      </p:sp>
      <p:sp>
        <p:nvSpPr>
          <p:cNvPr id="16391" name="Rectangle 6" descr="Light upward diagonal"/>
          <p:cNvSpPr>
            <a:spLocks noChangeArrowheads="1"/>
          </p:cNvSpPr>
          <p:nvPr/>
        </p:nvSpPr>
        <p:spPr bwMode="auto">
          <a:xfrm>
            <a:off x="7499350" y="2209800"/>
            <a:ext cx="1116013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000">
                <a:solidFill>
                  <a:schemeClr val="accent2"/>
                </a:solidFill>
                <a:latin typeface="Tahoma" pitchFamily="34" charset="0"/>
              </a:rPr>
              <a:t>FFF4</a:t>
            </a:r>
          </a:p>
        </p:txBody>
      </p:sp>
      <p:sp>
        <p:nvSpPr>
          <p:cNvPr id="16392" name="Rectangle 8" descr="Light upward diagonal"/>
          <p:cNvSpPr>
            <a:spLocks noChangeArrowheads="1"/>
          </p:cNvSpPr>
          <p:nvPr/>
        </p:nvSpPr>
        <p:spPr bwMode="auto">
          <a:xfrm>
            <a:off x="7499350" y="3078163"/>
            <a:ext cx="1116013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16393" name="Rectangle 9" descr="Light upward diagonal"/>
          <p:cNvSpPr>
            <a:spLocks noChangeArrowheads="1"/>
          </p:cNvSpPr>
          <p:nvPr/>
        </p:nvSpPr>
        <p:spPr bwMode="auto">
          <a:xfrm>
            <a:off x="7499350" y="3513138"/>
            <a:ext cx="1116013" cy="4333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16394" name="Rectangle 10" descr="Light upward diagonal"/>
          <p:cNvSpPr>
            <a:spLocks noChangeArrowheads="1"/>
          </p:cNvSpPr>
          <p:nvPr/>
        </p:nvSpPr>
        <p:spPr bwMode="auto">
          <a:xfrm>
            <a:off x="7499350" y="3946525"/>
            <a:ext cx="1116013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000">
                <a:solidFill>
                  <a:schemeClr val="accent2"/>
                </a:solidFill>
                <a:latin typeface="Tahoma" pitchFamily="34" charset="0"/>
              </a:rPr>
              <a:t>50.8</a:t>
            </a:r>
          </a:p>
        </p:txBody>
      </p:sp>
      <p:sp>
        <p:nvSpPr>
          <p:cNvPr id="16395" name="Rectangle 11" descr="Light upward diagonal"/>
          <p:cNvSpPr>
            <a:spLocks noChangeArrowheads="1"/>
          </p:cNvSpPr>
          <p:nvPr/>
        </p:nvSpPr>
        <p:spPr bwMode="auto">
          <a:xfrm>
            <a:off x="7499350" y="4381500"/>
            <a:ext cx="1116013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16396" name="Rectangle 12" descr="Light upward diagonal"/>
          <p:cNvSpPr>
            <a:spLocks noChangeArrowheads="1"/>
          </p:cNvSpPr>
          <p:nvPr/>
        </p:nvSpPr>
        <p:spPr bwMode="auto">
          <a:xfrm>
            <a:off x="7499350" y="4816475"/>
            <a:ext cx="1116013" cy="4333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16397" name="Rectangle 14"/>
          <p:cNvSpPr>
            <a:spLocks noChangeArrowheads="1"/>
          </p:cNvSpPr>
          <p:nvPr/>
        </p:nvSpPr>
        <p:spPr bwMode="auto">
          <a:xfrm>
            <a:off x="6477000" y="2644775"/>
            <a:ext cx="1022350" cy="4333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FFF1</a:t>
            </a:r>
          </a:p>
        </p:txBody>
      </p:sp>
      <p:sp>
        <p:nvSpPr>
          <p:cNvPr id="16398" name="Rectangle 15"/>
          <p:cNvSpPr>
            <a:spLocks noChangeArrowheads="1"/>
          </p:cNvSpPr>
          <p:nvPr/>
        </p:nvSpPr>
        <p:spPr bwMode="auto">
          <a:xfrm>
            <a:off x="6477000" y="2209800"/>
            <a:ext cx="1022350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FFF0</a:t>
            </a:r>
          </a:p>
        </p:txBody>
      </p:sp>
      <p:sp>
        <p:nvSpPr>
          <p:cNvPr id="16399" name="Rectangle 17"/>
          <p:cNvSpPr>
            <a:spLocks noChangeArrowheads="1"/>
          </p:cNvSpPr>
          <p:nvPr/>
        </p:nvSpPr>
        <p:spPr bwMode="auto">
          <a:xfrm>
            <a:off x="6477000" y="3078163"/>
            <a:ext cx="1022350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FFF2</a:t>
            </a:r>
          </a:p>
        </p:txBody>
      </p:sp>
      <p:sp>
        <p:nvSpPr>
          <p:cNvPr id="16400" name="Rectangle 18"/>
          <p:cNvSpPr>
            <a:spLocks noChangeArrowheads="1"/>
          </p:cNvSpPr>
          <p:nvPr/>
        </p:nvSpPr>
        <p:spPr bwMode="auto">
          <a:xfrm>
            <a:off x="6477000" y="3513138"/>
            <a:ext cx="1022350" cy="4333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FFF3</a:t>
            </a:r>
          </a:p>
        </p:txBody>
      </p:sp>
      <p:sp>
        <p:nvSpPr>
          <p:cNvPr id="16401" name="Rectangle 19"/>
          <p:cNvSpPr>
            <a:spLocks noChangeArrowheads="1"/>
          </p:cNvSpPr>
          <p:nvPr/>
        </p:nvSpPr>
        <p:spPr bwMode="auto">
          <a:xfrm>
            <a:off x="6477000" y="3946525"/>
            <a:ext cx="1022350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FFF4</a:t>
            </a:r>
          </a:p>
        </p:txBody>
      </p:sp>
      <p:sp>
        <p:nvSpPr>
          <p:cNvPr id="16402" name="Rectangle 20"/>
          <p:cNvSpPr>
            <a:spLocks noChangeArrowheads="1"/>
          </p:cNvSpPr>
          <p:nvPr/>
        </p:nvSpPr>
        <p:spPr bwMode="auto">
          <a:xfrm>
            <a:off x="6477000" y="4381500"/>
            <a:ext cx="1022350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FFF5</a:t>
            </a:r>
          </a:p>
        </p:txBody>
      </p:sp>
      <p:sp>
        <p:nvSpPr>
          <p:cNvPr id="16403" name="Rectangle 21"/>
          <p:cNvSpPr>
            <a:spLocks noChangeArrowheads="1"/>
          </p:cNvSpPr>
          <p:nvPr/>
        </p:nvSpPr>
        <p:spPr bwMode="auto">
          <a:xfrm>
            <a:off x="6477000" y="4816475"/>
            <a:ext cx="1022350" cy="4333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FFF6</a:t>
            </a:r>
          </a:p>
        </p:txBody>
      </p:sp>
      <p:sp>
        <p:nvSpPr>
          <p:cNvPr id="16404" name="Text Box 23"/>
          <p:cNvSpPr txBox="1">
            <a:spLocks noChangeArrowheads="1"/>
          </p:cNvSpPr>
          <p:nvPr/>
        </p:nvSpPr>
        <p:spPr bwMode="auto">
          <a:xfrm>
            <a:off x="5643563" y="2133600"/>
            <a:ext cx="685800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rIns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i="1">
                <a:solidFill>
                  <a:schemeClr val="tx2"/>
                </a:solidFill>
                <a:latin typeface="Tahoma" pitchFamily="34" charset="0"/>
              </a:rPr>
              <a:t>ptr</a:t>
            </a:r>
          </a:p>
        </p:txBody>
      </p:sp>
      <p:sp>
        <p:nvSpPr>
          <p:cNvPr id="16405" name="Text Box 24"/>
          <p:cNvSpPr txBox="1">
            <a:spLocks noChangeArrowheads="1"/>
          </p:cNvSpPr>
          <p:nvPr/>
        </p:nvSpPr>
        <p:spPr bwMode="auto">
          <a:xfrm>
            <a:off x="5643563" y="3962400"/>
            <a:ext cx="685800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rIns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i="1">
                <a:solidFill>
                  <a:schemeClr val="tx2"/>
                </a:solidFill>
                <a:latin typeface="Tahoma" pitchFamily="34" charset="0"/>
              </a:rPr>
              <a:t>data</a:t>
            </a:r>
          </a:p>
        </p:txBody>
      </p:sp>
      <p:grpSp>
        <p:nvGrpSpPr>
          <p:cNvPr id="16406" name="Group 25"/>
          <p:cNvGrpSpPr>
            <a:grpSpLocks/>
          </p:cNvGrpSpPr>
          <p:nvPr/>
        </p:nvGrpSpPr>
        <p:grpSpPr bwMode="auto">
          <a:xfrm>
            <a:off x="6248400" y="1905000"/>
            <a:ext cx="2590800" cy="2286000"/>
            <a:chOff x="1296" y="2640"/>
            <a:chExt cx="1632" cy="1440"/>
          </a:xfrm>
        </p:grpSpPr>
        <p:sp>
          <p:nvSpPr>
            <p:cNvPr id="16412" name="Line 26"/>
            <p:cNvSpPr>
              <a:spLocks noChangeShapeType="1"/>
            </p:cNvSpPr>
            <p:nvPr/>
          </p:nvSpPr>
          <p:spPr bwMode="auto">
            <a:xfrm flipH="1">
              <a:off x="2640" y="2976"/>
              <a:ext cx="2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13" name="Line 27"/>
            <p:cNvSpPr>
              <a:spLocks noChangeShapeType="1"/>
            </p:cNvSpPr>
            <p:nvPr/>
          </p:nvSpPr>
          <p:spPr bwMode="auto">
            <a:xfrm flipH="1" flipV="1">
              <a:off x="2928" y="2640"/>
              <a:ext cx="0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14" name="Line 28"/>
            <p:cNvSpPr>
              <a:spLocks noChangeShapeType="1"/>
            </p:cNvSpPr>
            <p:nvPr/>
          </p:nvSpPr>
          <p:spPr bwMode="auto">
            <a:xfrm>
              <a:off x="1296" y="2640"/>
              <a:ext cx="16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15" name="Line 29"/>
            <p:cNvSpPr>
              <a:spLocks noChangeShapeType="1"/>
            </p:cNvSpPr>
            <p:nvPr/>
          </p:nvSpPr>
          <p:spPr bwMode="auto">
            <a:xfrm flipH="1">
              <a:off x="1296" y="2640"/>
              <a:ext cx="0" cy="14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16" name="Line 30"/>
            <p:cNvSpPr>
              <a:spLocks noChangeShapeType="1"/>
            </p:cNvSpPr>
            <p:nvPr/>
          </p:nvSpPr>
          <p:spPr bwMode="auto">
            <a:xfrm flipV="1">
              <a:off x="1296" y="4080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6407" name="AutoShape 31"/>
          <p:cNvSpPr>
            <a:spLocks noChangeArrowheads="1"/>
          </p:cNvSpPr>
          <p:nvPr/>
        </p:nvSpPr>
        <p:spPr bwMode="auto">
          <a:xfrm>
            <a:off x="228600" y="4114800"/>
            <a:ext cx="533400" cy="152400"/>
          </a:xfrm>
          <a:prstGeom prst="rightArrow">
            <a:avLst>
              <a:gd name="adj1" fmla="val 50000"/>
              <a:gd name="adj2" fmla="val 875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16408" name="Rectangle 33" descr="Light upward diagonal"/>
          <p:cNvSpPr>
            <a:spLocks noChangeArrowheads="1"/>
          </p:cNvSpPr>
          <p:nvPr/>
        </p:nvSpPr>
        <p:spPr bwMode="auto">
          <a:xfrm>
            <a:off x="7499350" y="5791200"/>
            <a:ext cx="1116013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16409" name="Line 34" descr="Light upward diagonal"/>
          <p:cNvSpPr>
            <a:spLocks noChangeShapeType="1"/>
          </p:cNvSpPr>
          <p:nvPr/>
        </p:nvSpPr>
        <p:spPr bwMode="auto">
          <a:xfrm>
            <a:off x="8058150" y="5337175"/>
            <a:ext cx="1588" cy="377825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410" name="Rectangle 35"/>
          <p:cNvSpPr>
            <a:spLocks noChangeArrowheads="1"/>
          </p:cNvSpPr>
          <p:nvPr/>
        </p:nvSpPr>
        <p:spPr bwMode="auto">
          <a:xfrm>
            <a:off x="6477000" y="5791200"/>
            <a:ext cx="1022350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b="1">
              <a:latin typeface="Courier New" pitchFamily="49" charset="0"/>
            </a:endParaRPr>
          </a:p>
        </p:txBody>
      </p:sp>
      <p:sp>
        <p:nvSpPr>
          <p:cNvPr id="16411" name="Line 36"/>
          <p:cNvSpPr>
            <a:spLocks noChangeShapeType="1"/>
          </p:cNvSpPr>
          <p:nvPr/>
        </p:nvSpPr>
        <p:spPr bwMode="auto">
          <a:xfrm>
            <a:off x="6942138" y="5337175"/>
            <a:ext cx="1587" cy="377825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Assignment of Pointer Variables (Cont ..)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828800"/>
            <a:ext cx="8229600" cy="1905000"/>
          </a:xfrm>
        </p:spPr>
        <p:txBody>
          <a:bodyPr/>
          <a:lstStyle/>
          <a:p>
            <a:pPr eaLnBrk="1" hangingPunct="1"/>
            <a:r>
              <a:rPr lang="en-US" sz="2800" smtClean="0"/>
              <a:t>Don’t try to assign a specific integer value to a pointer variable since it can be disastrous</a:t>
            </a:r>
          </a:p>
          <a:p>
            <a:pPr lvl="1" eaLnBrk="1" hangingPunct="1">
              <a:buFontTx/>
              <a:buNone/>
            </a:pPr>
            <a:r>
              <a:rPr lang="en-US" b="1" smtClean="0">
                <a:solidFill>
                  <a:schemeClr val="tx2"/>
                </a:solidFill>
                <a:latin typeface="Courier New" pitchFamily="49" charset="0"/>
              </a:rPr>
              <a:t>      float *ptr;</a:t>
            </a:r>
          </a:p>
          <a:p>
            <a:pPr lvl="1" eaLnBrk="1" hangingPunct="1">
              <a:buFontTx/>
              <a:buNone/>
            </a:pPr>
            <a:r>
              <a:rPr lang="en-US" b="1" smtClean="0">
                <a:solidFill>
                  <a:schemeClr val="tx2"/>
                </a:solidFill>
                <a:latin typeface="Courier New" pitchFamily="49" charset="0"/>
              </a:rPr>
              <a:t>      ptr = 120;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19BEB1-6E97-4327-81F3-89A740D217EE}" type="slidenum">
              <a:rPr lang="en-US"/>
              <a:pPr>
                <a:defRPr/>
              </a:pPr>
              <a:t>13</a:t>
            </a:fld>
            <a:endParaRPr lang="en-US"/>
          </a:p>
        </p:txBody>
      </p:sp>
      <p:sp>
        <p:nvSpPr>
          <p:cNvPr id="69636" name="Rectangle 4"/>
          <p:cNvSpPr>
            <a:spLocks noChangeArrowheads="1"/>
          </p:cNvSpPr>
          <p:nvPr/>
        </p:nvSpPr>
        <p:spPr bwMode="auto">
          <a:xfrm>
            <a:off x="533400" y="3581400"/>
            <a:ext cx="8229600" cy="2971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800">
                <a:solidFill>
                  <a:schemeClr val="bg1"/>
                </a:solidFill>
                <a:latin typeface="Tahoma" pitchFamily="34" charset="0"/>
              </a:rPr>
              <a:t>You cannot assign the address of one type of variable to a pointer variable of another type even though they are both integrals</a:t>
            </a: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</a:pPr>
            <a:r>
              <a:rPr lang="en-US">
                <a:solidFill>
                  <a:schemeClr val="hlink"/>
                </a:solidFill>
                <a:latin typeface="Courier New" pitchFamily="49" charset="0"/>
              </a:rPr>
              <a:t>   </a:t>
            </a:r>
            <a:r>
              <a:rPr lang="en-US" b="1">
                <a:solidFill>
                  <a:schemeClr val="tx2"/>
                </a:solidFill>
                <a:latin typeface="Courier New" pitchFamily="49" charset="0"/>
              </a:rPr>
              <a:t>     int data = 50;</a:t>
            </a:r>
          </a:p>
          <a:p>
            <a:pPr marL="342900" indent="-342900">
              <a:lnSpc>
                <a:spcPct val="70000"/>
              </a:lnSpc>
              <a:spcBef>
                <a:spcPct val="20000"/>
              </a:spcBef>
            </a:pPr>
            <a:r>
              <a:rPr lang="en-US" b="1">
                <a:solidFill>
                  <a:schemeClr val="tx2"/>
                </a:solidFill>
                <a:latin typeface="Courier New" pitchFamily="49" charset="0"/>
              </a:rPr>
              <a:t>        float *ptr;</a:t>
            </a:r>
          </a:p>
          <a:p>
            <a:pPr marL="342900" indent="-342900">
              <a:lnSpc>
                <a:spcPct val="70000"/>
              </a:lnSpc>
              <a:spcBef>
                <a:spcPct val="20000"/>
              </a:spcBef>
            </a:pPr>
            <a:r>
              <a:rPr lang="en-US" b="1">
                <a:solidFill>
                  <a:schemeClr val="tx2"/>
                </a:solidFill>
                <a:latin typeface="Courier New" pitchFamily="49" charset="0"/>
              </a:rPr>
              <a:t>        ptr = &amp;data;</a:t>
            </a:r>
          </a:p>
        </p:txBody>
      </p:sp>
      <p:sp>
        <p:nvSpPr>
          <p:cNvPr id="69637" name="Line 5"/>
          <p:cNvSpPr>
            <a:spLocks noChangeShapeType="1"/>
          </p:cNvSpPr>
          <p:nvPr/>
        </p:nvSpPr>
        <p:spPr bwMode="auto">
          <a:xfrm>
            <a:off x="2209800" y="3429000"/>
            <a:ext cx="1600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9638" name="Line 6"/>
          <p:cNvSpPr>
            <a:spLocks noChangeShapeType="1"/>
          </p:cNvSpPr>
          <p:nvPr/>
        </p:nvSpPr>
        <p:spPr bwMode="auto">
          <a:xfrm>
            <a:off x="2209800" y="5943600"/>
            <a:ext cx="1905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69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9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9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9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5" grpId="0" build="p" autoUpdateAnimBg="0"/>
      <p:bldP spid="69636" grpId="0" autoUpdateAnimBg="0"/>
      <p:bldP spid="69637" grpId="0" animBg="1"/>
      <p:bldP spid="6963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Initializing pointers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905000"/>
            <a:ext cx="8001000" cy="4114800"/>
          </a:xfrm>
        </p:spPr>
        <p:txBody>
          <a:bodyPr lIns="0" rIns="0"/>
          <a:lstStyle/>
          <a:p>
            <a:pPr eaLnBrk="1" hangingPunct="1"/>
            <a:r>
              <a:rPr lang="en-US" sz="2800" smtClean="0"/>
              <a:t>A pointer can be initialized during declaration by assigning it the address of an existing variable</a:t>
            </a:r>
          </a:p>
          <a:p>
            <a:pPr lvl="2" eaLnBrk="1" hangingPunct="1">
              <a:buFontTx/>
              <a:buNone/>
            </a:pPr>
            <a:r>
              <a:rPr lang="en-US" b="1" smtClean="0">
                <a:solidFill>
                  <a:schemeClr val="tx2"/>
                </a:solidFill>
                <a:latin typeface="Courier New" pitchFamily="49" charset="0"/>
              </a:rPr>
              <a:t>  float data = 50.8;</a:t>
            </a:r>
          </a:p>
          <a:p>
            <a:pPr lvl="2" eaLnBrk="1" hangingPunct="1">
              <a:buFontTx/>
              <a:buNone/>
            </a:pPr>
            <a:r>
              <a:rPr lang="en-US" b="1" smtClean="0">
                <a:solidFill>
                  <a:schemeClr val="tx2"/>
                </a:solidFill>
                <a:latin typeface="Courier New" pitchFamily="49" charset="0"/>
              </a:rPr>
              <a:t>  float *ptr = &amp;data;</a:t>
            </a:r>
          </a:p>
          <a:p>
            <a:pPr eaLnBrk="1" hangingPunct="1"/>
            <a:r>
              <a:rPr lang="en-US" sz="2800" smtClean="0"/>
              <a:t>If a pointer is not initialized during declaration, it is wise to give it a </a:t>
            </a:r>
            <a:r>
              <a:rPr lang="en-US" sz="2800" b="1" smtClean="0">
                <a:solidFill>
                  <a:schemeClr val="tx2"/>
                </a:solidFill>
                <a:latin typeface="Courier New" pitchFamily="49" charset="0"/>
              </a:rPr>
              <a:t>NULL</a:t>
            </a:r>
            <a:r>
              <a:rPr lang="en-US" sz="2800" smtClean="0"/>
              <a:t> (0) value</a:t>
            </a:r>
          </a:p>
          <a:p>
            <a:pPr lvl="1" eaLnBrk="1" hangingPunct="1">
              <a:buFontTx/>
              <a:buNone/>
            </a:pPr>
            <a:r>
              <a:rPr lang="en-US" b="1" smtClean="0">
                <a:solidFill>
                  <a:schemeClr val="tx2"/>
                </a:solidFill>
                <a:latin typeface="Courier New" pitchFamily="49" charset="0"/>
              </a:rPr>
              <a:t>    int *ip = 0;</a:t>
            </a:r>
          </a:p>
          <a:p>
            <a:pPr lvl="1" eaLnBrk="1" hangingPunct="1">
              <a:buFontTx/>
              <a:buNone/>
            </a:pPr>
            <a:r>
              <a:rPr lang="en-US" b="1" smtClean="0">
                <a:solidFill>
                  <a:schemeClr val="tx2"/>
                </a:solidFill>
                <a:latin typeface="Courier New" pitchFamily="49" charset="0"/>
              </a:rPr>
              <a:t>    float *fp = NULL;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087661-BCF1-4682-9EED-C5CE33415328}" type="slidenum">
              <a:rPr lang="en-US"/>
              <a:pPr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0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0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0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0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0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0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0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0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0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0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0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0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59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The </a:t>
            </a:r>
            <a:r>
              <a:rPr lang="en-US" b="1" smtClean="0">
                <a:latin typeface="Courier New" pitchFamily="49" charset="0"/>
              </a:rPr>
              <a:t>NULL</a:t>
            </a:r>
            <a:r>
              <a:rPr lang="en-US" smtClean="0"/>
              <a:t> pointer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981200"/>
            <a:ext cx="8001000" cy="4114800"/>
          </a:xfrm>
        </p:spPr>
        <p:txBody>
          <a:bodyPr/>
          <a:lstStyle/>
          <a:p>
            <a:pPr eaLnBrk="1" hangingPunct="1"/>
            <a:r>
              <a:rPr lang="en-US" smtClean="0"/>
              <a:t>The </a:t>
            </a:r>
            <a:r>
              <a:rPr lang="en-US" b="1" smtClean="0">
                <a:solidFill>
                  <a:schemeClr val="tx2"/>
                </a:solidFill>
                <a:latin typeface="Courier New" pitchFamily="49" charset="0"/>
              </a:rPr>
              <a:t>NULL</a:t>
            </a:r>
            <a:r>
              <a:rPr lang="en-US" smtClean="0"/>
              <a:t> pointer is a valid address for any data type.</a:t>
            </a:r>
          </a:p>
          <a:p>
            <a:pPr lvl="1" eaLnBrk="1" hangingPunct="1"/>
            <a:r>
              <a:rPr lang="en-US" smtClean="0"/>
              <a:t>But </a:t>
            </a:r>
            <a:r>
              <a:rPr lang="en-US" b="1" smtClean="0">
                <a:solidFill>
                  <a:schemeClr val="tx2"/>
                </a:solidFill>
                <a:latin typeface="Courier New" pitchFamily="49" charset="0"/>
              </a:rPr>
              <a:t>NULL</a:t>
            </a:r>
            <a:r>
              <a:rPr lang="en-US" smtClean="0"/>
              <a:t> is not memory address 0.</a:t>
            </a:r>
          </a:p>
          <a:p>
            <a:pPr eaLnBrk="1" hangingPunct="1"/>
            <a:r>
              <a:rPr lang="en-US" smtClean="0"/>
              <a:t>It is an error to dereference a pointer whose value is </a:t>
            </a:r>
            <a:r>
              <a:rPr lang="en-US" b="1" smtClean="0">
                <a:solidFill>
                  <a:schemeClr val="tx2"/>
                </a:solidFill>
                <a:latin typeface="Courier New" pitchFamily="49" charset="0"/>
              </a:rPr>
              <a:t>NULL</a:t>
            </a:r>
            <a:r>
              <a:rPr lang="en-US" smtClean="0"/>
              <a:t>.</a:t>
            </a:r>
          </a:p>
          <a:p>
            <a:pPr lvl="1" eaLnBrk="1" hangingPunct="1"/>
            <a:r>
              <a:rPr lang="en-US" smtClean="0"/>
              <a:t>Such an error may cause your program to crash, or behave erratically.</a:t>
            </a:r>
          </a:p>
          <a:p>
            <a:pPr lvl="1" eaLnBrk="1" hangingPunct="1"/>
            <a:r>
              <a:rPr lang="en-US" smtClean="0"/>
              <a:t>It is the programmer’s job to check for this.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D9409A-0CF8-41B6-B9BC-0EFD3B007A33}" type="slidenum">
              <a:rPr lang="en-US"/>
              <a:pPr>
                <a:defRPr/>
              </a:pPr>
              <a:t>15</a:t>
            </a:fld>
            <a:endParaRPr lang="en-US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3" grpId="0" build="p" bldLvl="2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Dereferencing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828800"/>
            <a:ext cx="77724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i="1" smtClean="0">
                <a:solidFill>
                  <a:schemeClr val="tx2"/>
                </a:solidFill>
              </a:rPr>
              <a:t>Dereferencing</a:t>
            </a:r>
            <a:r>
              <a:rPr lang="en-US" smtClean="0"/>
              <a:t> – Using a pointer variable to access the value stored at the location pointed by the variable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Provide indirect access to values and also called </a:t>
            </a:r>
            <a:r>
              <a:rPr lang="en-US" i="1" smtClean="0">
                <a:solidFill>
                  <a:schemeClr val="tx2"/>
                </a:solidFill>
              </a:rPr>
              <a:t>indirection</a:t>
            </a:r>
            <a:endParaRPr lang="en-US" smtClean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Done by using the </a:t>
            </a:r>
            <a:r>
              <a:rPr lang="en-US" i="1" smtClean="0"/>
              <a:t>dereferencing operator</a:t>
            </a:r>
            <a:r>
              <a:rPr lang="en-US" smtClean="0"/>
              <a:t> </a:t>
            </a:r>
            <a:r>
              <a:rPr lang="en-US" sz="2800" b="1" smtClean="0">
                <a:solidFill>
                  <a:schemeClr val="tx2"/>
                </a:solidFill>
                <a:latin typeface="Courier New" pitchFamily="49" charset="0"/>
              </a:rPr>
              <a:t>*</a:t>
            </a:r>
            <a:r>
              <a:rPr lang="en-US" smtClean="0"/>
              <a:t> in front of a pointer variable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Unary operator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Highest precedence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29E300-E37B-45FC-80ED-D4B3A605652A}" type="slidenum">
              <a:rPr lang="en-US"/>
              <a:pPr>
                <a:defRPr/>
              </a:pPr>
              <a:t>16</a:t>
            </a:fld>
            <a:endParaRPr lang="en-US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2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2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2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2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2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2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2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2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2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2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7" grpId="0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Dereferencing (Cont ..)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Example: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b="1" smtClean="0">
                <a:solidFill>
                  <a:schemeClr val="tx2"/>
                </a:solidFill>
                <a:latin typeface="Courier New" pitchFamily="49" charset="0"/>
              </a:rPr>
              <a:t>   float data = 50.8;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b="1" smtClean="0">
                <a:solidFill>
                  <a:schemeClr val="tx2"/>
                </a:solidFill>
                <a:latin typeface="Courier New" pitchFamily="49" charset="0"/>
              </a:rPr>
              <a:t>   float *ptr;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b="1" smtClean="0">
                <a:solidFill>
                  <a:schemeClr val="tx2"/>
                </a:solidFill>
                <a:latin typeface="Courier New" pitchFamily="49" charset="0"/>
              </a:rPr>
              <a:t>   ptr = &amp;data;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b="1" smtClean="0">
                <a:solidFill>
                  <a:schemeClr val="tx2"/>
                </a:solidFill>
                <a:latin typeface="Courier New" pitchFamily="49" charset="0"/>
              </a:rPr>
              <a:t>   cout &lt;&lt; *ptr;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Once the pointer variable </a:t>
            </a:r>
            <a:r>
              <a:rPr lang="en-US" sz="2800" b="1" smtClean="0">
                <a:solidFill>
                  <a:schemeClr val="tx2"/>
                </a:solidFill>
                <a:latin typeface="Courier New" pitchFamily="49" charset="0"/>
              </a:rPr>
              <a:t>ptr</a:t>
            </a:r>
            <a:r>
              <a:rPr lang="en-US" sz="2800" smtClean="0"/>
              <a:t> has been declared, </a:t>
            </a:r>
            <a:r>
              <a:rPr lang="en-US" sz="2800" b="1" smtClean="0">
                <a:solidFill>
                  <a:schemeClr val="tx2"/>
                </a:solidFill>
                <a:latin typeface="Courier New" pitchFamily="49" charset="0"/>
              </a:rPr>
              <a:t>*ptr</a:t>
            </a:r>
            <a:r>
              <a:rPr lang="en-US" sz="2800" smtClean="0"/>
              <a:t> represents the value pointed to by </a:t>
            </a:r>
            <a:r>
              <a:rPr lang="en-US" sz="2800" b="1" smtClean="0">
                <a:solidFill>
                  <a:schemeClr val="tx2"/>
                </a:solidFill>
                <a:latin typeface="Courier New" pitchFamily="49" charset="0"/>
              </a:rPr>
              <a:t>ptr</a:t>
            </a:r>
            <a:r>
              <a:rPr lang="en-US" sz="2800" smtClean="0"/>
              <a:t> (or the value located at the address specified by </a:t>
            </a:r>
            <a:r>
              <a:rPr lang="en-US" sz="2800" b="1" smtClean="0">
                <a:solidFill>
                  <a:schemeClr val="tx2"/>
                </a:solidFill>
                <a:latin typeface="Courier New" pitchFamily="49" charset="0"/>
              </a:rPr>
              <a:t>ptr</a:t>
            </a:r>
            <a:r>
              <a:rPr lang="en-US" sz="2800" smtClean="0"/>
              <a:t>) and may be treated like any other variable of </a:t>
            </a:r>
            <a:r>
              <a:rPr lang="en-US" sz="2800" b="1" smtClean="0">
                <a:solidFill>
                  <a:schemeClr val="tx2"/>
                </a:solidFill>
                <a:latin typeface="Courier New" pitchFamily="49" charset="0"/>
              </a:rPr>
              <a:t>float</a:t>
            </a:r>
            <a:r>
              <a:rPr lang="en-US" sz="2800" smtClean="0"/>
              <a:t> type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6F1DE6-5948-4B1F-99AD-886F049DFC4A}" type="slidenum">
              <a:rPr lang="en-US"/>
              <a:pPr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3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3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1" grpId="0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Dereferencing (Cont ..)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The dereferencing operator </a:t>
            </a:r>
            <a:r>
              <a:rPr lang="en-US" b="1" smtClean="0">
                <a:solidFill>
                  <a:schemeClr val="tx2"/>
                </a:solidFill>
                <a:latin typeface="Courier New" pitchFamily="49" charset="0"/>
              </a:rPr>
              <a:t>*</a:t>
            </a:r>
            <a:r>
              <a:rPr lang="en-US" smtClean="0"/>
              <a:t> can also be used in assignments.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800" b="1" smtClean="0">
                <a:solidFill>
                  <a:schemeClr val="tx2"/>
                </a:solidFill>
                <a:latin typeface="Courier New" pitchFamily="49" charset="0"/>
              </a:rPr>
              <a:t>     *ptr = 200;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Make sure that </a:t>
            </a:r>
            <a:r>
              <a:rPr lang="en-US" b="1" smtClean="0">
                <a:solidFill>
                  <a:schemeClr val="tx2"/>
                </a:solidFill>
                <a:latin typeface="Courier New" pitchFamily="49" charset="0"/>
              </a:rPr>
              <a:t>ptr</a:t>
            </a:r>
            <a:r>
              <a:rPr lang="en-US" smtClean="0"/>
              <a:t> has been properly initialized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A7C412-2774-4600-8BB0-08B344BFF300}" type="slidenum">
              <a:rPr lang="en-US"/>
              <a:pPr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4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4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4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4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5" grpId="0" build="p" bldLvl="2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Dereferencing Example</a:t>
            </a:r>
          </a:p>
        </p:txBody>
      </p:sp>
      <p:sp>
        <p:nvSpPr>
          <p:cNvPr id="33" name="Slide Number Placeholder 3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64B563-2DB0-4C6A-AC44-F69E20D4140F}" type="slidenum">
              <a:rPr lang="en-US"/>
              <a:pPr>
                <a:defRPr/>
              </a:pPr>
              <a:t>19</a:t>
            </a:fld>
            <a:endParaRPr lang="en-US"/>
          </a:p>
        </p:txBody>
      </p:sp>
      <p:sp>
        <p:nvSpPr>
          <p:cNvPr id="23557" name="Rectangle 4"/>
          <p:cNvSpPr>
            <a:spLocks noChangeArrowheads="1"/>
          </p:cNvSpPr>
          <p:nvPr/>
        </p:nvSpPr>
        <p:spPr bwMode="auto">
          <a:xfrm>
            <a:off x="457200" y="1828800"/>
            <a:ext cx="5105400" cy="4648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46038" rIns="0" bIns="46038"/>
          <a:lstStyle/>
          <a:p>
            <a:pPr marL="342900" indent="-342900"/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#include &lt;iostream.h&gt;</a:t>
            </a:r>
          </a:p>
          <a:p>
            <a:pPr marL="342900" indent="-342900"/>
            <a:endParaRPr lang="en-US" sz="2000" b="1">
              <a:solidFill>
                <a:schemeClr val="tx2"/>
              </a:solidFill>
              <a:latin typeface="Courier New" pitchFamily="49" charset="0"/>
            </a:endParaRPr>
          </a:p>
          <a:p>
            <a:pPr marL="342900" indent="-342900"/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void main()</a:t>
            </a:r>
          </a:p>
          <a:p>
            <a:pPr marL="342900" indent="-342900"/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{</a:t>
            </a:r>
          </a:p>
          <a:p>
            <a:pPr marL="342900" indent="-342900"/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   float data = 50.8;</a:t>
            </a:r>
          </a:p>
          <a:p>
            <a:pPr marL="342900" indent="-342900"/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   float *ptr;</a:t>
            </a:r>
          </a:p>
          <a:p>
            <a:pPr marL="342900" indent="-342900"/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   ptr = &amp;data;</a:t>
            </a:r>
          </a:p>
          <a:p>
            <a:pPr marL="342900" indent="-342900"/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   cout &lt;&lt; ptr &lt;&lt; *ptr &lt;&lt; endl;</a:t>
            </a:r>
          </a:p>
          <a:p>
            <a:pPr marL="342900" indent="-342900"/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   *ptr = 27.4;</a:t>
            </a:r>
          </a:p>
          <a:p>
            <a:pPr marL="342900" indent="-342900"/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   cout &lt;&lt; *ptr &lt;&lt; endl;</a:t>
            </a:r>
          </a:p>
          <a:p>
            <a:pPr marL="342900" indent="-342900"/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   cout &lt;&lt; data &lt;&lt; endl;</a:t>
            </a:r>
          </a:p>
          <a:p>
            <a:pPr marL="342900" indent="-342900"/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}</a:t>
            </a:r>
          </a:p>
          <a:p>
            <a:pPr marL="342900" indent="-342900"/>
            <a:endParaRPr lang="en-US" sz="2000" b="1">
              <a:solidFill>
                <a:schemeClr val="tx2"/>
              </a:solidFill>
              <a:latin typeface="Courier New" pitchFamily="49" charset="0"/>
            </a:endParaRPr>
          </a:p>
          <a:p>
            <a:pPr marL="342900" indent="-342900"/>
            <a:r>
              <a:rPr lang="en-US" sz="2000" u="sng">
                <a:solidFill>
                  <a:schemeClr val="bg1"/>
                </a:solidFill>
                <a:latin typeface="Tahoma" pitchFamily="34" charset="0"/>
              </a:rPr>
              <a:t>Output:</a:t>
            </a:r>
          </a:p>
        </p:txBody>
      </p:sp>
      <p:sp>
        <p:nvSpPr>
          <p:cNvPr id="23558" name="AutoShape 5"/>
          <p:cNvSpPr>
            <a:spLocks noChangeArrowheads="1"/>
          </p:cNvSpPr>
          <p:nvPr/>
        </p:nvSpPr>
        <p:spPr bwMode="auto">
          <a:xfrm>
            <a:off x="0" y="3810000"/>
            <a:ext cx="533400" cy="152400"/>
          </a:xfrm>
          <a:prstGeom prst="rightArrow">
            <a:avLst>
              <a:gd name="adj1" fmla="val 50000"/>
              <a:gd name="adj2" fmla="val 875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23559" name="Rectangle 6" descr="Light upward diagonal"/>
          <p:cNvSpPr>
            <a:spLocks noChangeArrowheads="1"/>
          </p:cNvSpPr>
          <p:nvPr/>
        </p:nvSpPr>
        <p:spPr bwMode="auto">
          <a:xfrm>
            <a:off x="7499350" y="2644775"/>
            <a:ext cx="1116013" cy="4333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sz="2000">
              <a:solidFill>
                <a:schemeClr val="accent2"/>
              </a:solidFill>
              <a:latin typeface="Tahoma" pitchFamily="34" charset="0"/>
            </a:endParaRPr>
          </a:p>
        </p:txBody>
      </p:sp>
      <p:sp>
        <p:nvSpPr>
          <p:cNvPr id="23560" name="Rectangle 7" descr="Light upward diagonal"/>
          <p:cNvSpPr>
            <a:spLocks noChangeArrowheads="1"/>
          </p:cNvSpPr>
          <p:nvPr/>
        </p:nvSpPr>
        <p:spPr bwMode="auto">
          <a:xfrm>
            <a:off x="7499350" y="2209800"/>
            <a:ext cx="1116013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000">
                <a:solidFill>
                  <a:schemeClr val="accent2"/>
                </a:solidFill>
                <a:latin typeface="Tahoma" pitchFamily="34" charset="0"/>
              </a:rPr>
              <a:t>FFF4</a:t>
            </a:r>
          </a:p>
        </p:txBody>
      </p:sp>
      <p:sp>
        <p:nvSpPr>
          <p:cNvPr id="23561" name="Rectangle 9" descr="Light upward diagonal"/>
          <p:cNvSpPr>
            <a:spLocks noChangeArrowheads="1"/>
          </p:cNvSpPr>
          <p:nvPr/>
        </p:nvSpPr>
        <p:spPr bwMode="auto">
          <a:xfrm>
            <a:off x="7499350" y="3078163"/>
            <a:ext cx="1116013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23562" name="Rectangle 10" descr="Light upward diagonal"/>
          <p:cNvSpPr>
            <a:spLocks noChangeArrowheads="1"/>
          </p:cNvSpPr>
          <p:nvPr/>
        </p:nvSpPr>
        <p:spPr bwMode="auto">
          <a:xfrm>
            <a:off x="7499350" y="3513138"/>
            <a:ext cx="1116013" cy="4333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23563" name="Rectangle 11" descr="Light upward diagonal"/>
          <p:cNvSpPr>
            <a:spLocks noChangeArrowheads="1"/>
          </p:cNvSpPr>
          <p:nvPr/>
        </p:nvSpPr>
        <p:spPr bwMode="auto">
          <a:xfrm>
            <a:off x="7499350" y="3946525"/>
            <a:ext cx="1116013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000">
                <a:solidFill>
                  <a:schemeClr val="accent2"/>
                </a:solidFill>
                <a:latin typeface="Tahoma" pitchFamily="34" charset="0"/>
              </a:rPr>
              <a:t>50.8</a:t>
            </a:r>
          </a:p>
        </p:txBody>
      </p:sp>
      <p:sp>
        <p:nvSpPr>
          <p:cNvPr id="23564" name="Rectangle 12" descr="Light upward diagonal"/>
          <p:cNvSpPr>
            <a:spLocks noChangeArrowheads="1"/>
          </p:cNvSpPr>
          <p:nvPr/>
        </p:nvSpPr>
        <p:spPr bwMode="auto">
          <a:xfrm>
            <a:off x="7499350" y="4381500"/>
            <a:ext cx="1116013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23565" name="Rectangle 13" descr="Light upward diagonal"/>
          <p:cNvSpPr>
            <a:spLocks noChangeArrowheads="1"/>
          </p:cNvSpPr>
          <p:nvPr/>
        </p:nvSpPr>
        <p:spPr bwMode="auto">
          <a:xfrm>
            <a:off x="7499350" y="4816475"/>
            <a:ext cx="1116013" cy="4333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23566" name="Rectangle 15"/>
          <p:cNvSpPr>
            <a:spLocks noChangeArrowheads="1"/>
          </p:cNvSpPr>
          <p:nvPr/>
        </p:nvSpPr>
        <p:spPr bwMode="auto">
          <a:xfrm>
            <a:off x="6477000" y="2644775"/>
            <a:ext cx="1022350" cy="4333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FFF1</a:t>
            </a:r>
          </a:p>
        </p:txBody>
      </p:sp>
      <p:sp>
        <p:nvSpPr>
          <p:cNvPr id="23567" name="Rectangle 16"/>
          <p:cNvSpPr>
            <a:spLocks noChangeArrowheads="1"/>
          </p:cNvSpPr>
          <p:nvPr/>
        </p:nvSpPr>
        <p:spPr bwMode="auto">
          <a:xfrm>
            <a:off x="6477000" y="2209800"/>
            <a:ext cx="1022350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FFF0</a:t>
            </a:r>
          </a:p>
        </p:txBody>
      </p:sp>
      <p:sp>
        <p:nvSpPr>
          <p:cNvPr id="23568" name="Rectangle 18"/>
          <p:cNvSpPr>
            <a:spLocks noChangeArrowheads="1"/>
          </p:cNvSpPr>
          <p:nvPr/>
        </p:nvSpPr>
        <p:spPr bwMode="auto">
          <a:xfrm>
            <a:off x="6477000" y="3078163"/>
            <a:ext cx="1022350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FFF2</a:t>
            </a:r>
          </a:p>
        </p:txBody>
      </p:sp>
      <p:sp>
        <p:nvSpPr>
          <p:cNvPr id="23569" name="Rectangle 19"/>
          <p:cNvSpPr>
            <a:spLocks noChangeArrowheads="1"/>
          </p:cNvSpPr>
          <p:nvPr/>
        </p:nvSpPr>
        <p:spPr bwMode="auto">
          <a:xfrm>
            <a:off x="6477000" y="3513138"/>
            <a:ext cx="1022350" cy="4333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FFF3</a:t>
            </a:r>
          </a:p>
        </p:txBody>
      </p:sp>
      <p:sp>
        <p:nvSpPr>
          <p:cNvPr id="23570" name="Rectangle 20"/>
          <p:cNvSpPr>
            <a:spLocks noChangeArrowheads="1"/>
          </p:cNvSpPr>
          <p:nvPr/>
        </p:nvSpPr>
        <p:spPr bwMode="auto">
          <a:xfrm>
            <a:off x="6477000" y="3946525"/>
            <a:ext cx="1022350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FFF4</a:t>
            </a:r>
          </a:p>
        </p:txBody>
      </p:sp>
      <p:sp>
        <p:nvSpPr>
          <p:cNvPr id="23571" name="Rectangle 21"/>
          <p:cNvSpPr>
            <a:spLocks noChangeArrowheads="1"/>
          </p:cNvSpPr>
          <p:nvPr/>
        </p:nvSpPr>
        <p:spPr bwMode="auto">
          <a:xfrm>
            <a:off x="6477000" y="4381500"/>
            <a:ext cx="1022350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FFF5</a:t>
            </a:r>
          </a:p>
        </p:txBody>
      </p:sp>
      <p:sp>
        <p:nvSpPr>
          <p:cNvPr id="23572" name="Rectangle 22"/>
          <p:cNvSpPr>
            <a:spLocks noChangeArrowheads="1"/>
          </p:cNvSpPr>
          <p:nvPr/>
        </p:nvSpPr>
        <p:spPr bwMode="auto">
          <a:xfrm>
            <a:off x="6477000" y="4816475"/>
            <a:ext cx="1022350" cy="4333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FFF6</a:t>
            </a:r>
          </a:p>
        </p:txBody>
      </p:sp>
      <p:sp>
        <p:nvSpPr>
          <p:cNvPr id="23573" name="Text Box 24"/>
          <p:cNvSpPr txBox="1">
            <a:spLocks noChangeArrowheads="1"/>
          </p:cNvSpPr>
          <p:nvPr/>
        </p:nvSpPr>
        <p:spPr bwMode="auto">
          <a:xfrm>
            <a:off x="5643563" y="2133600"/>
            <a:ext cx="685800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rIns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i="1">
                <a:solidFill>
                  <a:schemeClr val="tx2"/>
                </a:solidFill>
                <a:latin typeface="Tahoma" pitchFamily="34" charset="0"/>
              </a:rPr>
              <a:t>ptr</a:t>
            </a:r>
            <a:endParaRPr lang="en-US" sz="1200" i="1">
              <a:solidFill>
                <a:schemeClr val="tx2"/>
              </a:solidFill>
              <a:latin typeface="Tahoma" pitchFamily="34" charset="0"/>
            </a:endParaRPr>
          </a:p>
        </p:txBody>
      </p:sp>
      <p:sp>
        <p:nvSpPr>
          <p:cNvPr id="23574" name="Text Box 25"/>
          <p:cNvSpPr txBox="1">
            <a:spLocks noChangeArrowheads="1"/>
          </p:cNvSpPr>
          <p:nvPr/>
        </p:nvSpPr>
        <p:spPr bwMode="auto">
          <a:xfrm>
            <a:off x="5643563" y="3962400"/>
            <a:ext cx="685800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rIns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i="1">
                <a:solidFill>
                  <a:schemeClr val="tx2"/>
                </a:solidFill>
                <a:latin typeface="Tahoma" pitchFamily="34" charset="0"/>
              </a:rPr>
              <a:t>data</a:t>
            </a:r>
            <a:endParaRPr lang="en-US" sz="1200" i="1">
              <a:solidFill>
                <a:schemeClr val="tx2"/>
              </a:solidFill>
              <a:latin typeface="Tahoma" pitchFamily="34" charset="0"/>
            </a:endParaRPr>
          </a:p>
        </p:txBody>
      </p:sp>
      <p:grpSp>
        <p:nvGrpSpPr>
          <p:cNvPr id="23575" name="Group 26"/>
          <p:cNvGrpSpPr>
            <a:grpSpLocks/>
          </p:cNvGrpSpPr>
          <p:nvPr/>
        </p:nvGrpSpPr>
        <p:grpSpPr bwMode="auto">
          <a:xfrm>
            <a:off x="6248400" y="1905000"/>
            <a:ext cx="2590800" cy="2286000"/>
            <a:chOff x="1296" y="2640"/>
            <a:chExt cx="1632" cy="1440"/>
          </a:xfrm>
        </p:grpSpPr>
        <p:sp>
          <p:nvSpPr>
            <p:cNvPr id="23580" name="Line 27"/>
            <p:cNvSpPr>
              <a:spLocks noChangeShapeType="1"/>
            </p:cNvSpPr>
            <p:nvPr/>
          </p:nvSpPr>
          <p:spPr bwMode="auto">
            <a:xfrm flipH="1">
              <a:off x="2640" y="2976"/>
              <a:ext cx="2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81" name="Line 28"/>
            <p:cNvSpPr>
              <a:spLocks noChangeShapeType="1"/>
            </p:cNvSpPr>
            <p:nvPr/>
          </p:nvSpPr>
          <p:spPr bwMode="auto">
            <a:xfrm flipH="1" flipV="1">
              <a:off x="2928" y="2640"/>
              <a:ext cx="0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82" name="Line 29"/>
            <p:cNvSpPr>
              <a:spLocks noChangeShapeType="1"/>
            </p:cNvSpPr>
            <p:nvPr/>
          </p:nvSpPr>
          <p:spPr bwMode="auto">
            <a:xfrm>
              <a:off x="1296" y="2640"/>
              <a:ext cx="16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83" name="Line 30"/>
            <p:cNvSpPr>
              <a:spLocks noChangeShapeType="1"/>
            </p:cNvSpPr>
            <p:nvPr/>
          </p:nvSpPr>
          <p:spPr bwMode="auto">
            <a:xfrm flipH="1">
              <a:off x="1296" y="2640"/>
              <a:ext cx="0" cy="14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84" name="Line 31"/>
            <p:cNvSpPr>
              <a:spLocks noChangeShapeType="1"/>
            </p:cNvSpPr>
            <p:nvPr/>
          </p:nvSpPr>
          <p:spPr bwMode="auto">
            <a:xfrm flipV="1">
              <a:off x="1296" y="4080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3576" name="Rectangle 33" descr="Light upward diagonal"/>
          <p:cNvSpPr>
            <a:spLocks noChangeArrowheads="1"/>
          </p:cNvSpPr>
          <p:nvPr/>
        </p:nvSpPr>
        <p:spPr bwMode="auto">
          <a:xfrm>
            <a:off x="7499350" y="5791200"/>
            <a:ext cx="1116013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23577" name="Line 34" descr="Light upward diagonal"/>
          <p:cNvSpPr>
            <a:spLocks noChangeShapeType="1"/>
          </p:cNvSpPr>
          <p:nvPr/>
        </p:nvSpPr>
        <p:spPr bwMode="auto">
          <a:xfrm>
            <a:off x="8058150" y="5337175"/>
            <a:ext cx="1588" cy="377825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578" name="Rectangle 35"/>
          <p:cNvSpPr>
            <a:spLocks noChangeArrowheads="1"/>
          </p:cNvSpPr>
          <p:nvPr/>
        </p:nvSpPr>
        <p:spPr bwMode="auto">
          <a:xfrm>
            <a:off x="6477000" y="5791200"/>
            <a:ext cx="1022350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b="1">
              <a:latin typeface="Courier New" pitchFamily="49" charset="0"/>
            </a:endParaRPr>
          </a:p>
        </p:txBody>
      </p:sp>
      <p:sp>
        <p:nvSpPr>
          <p:cNvPr id="23579" name="Line 36"/>
          <p:cNvSpPr>
            <a:spLocks noChangeShapeType="1"/>
          </p:cNvSpPr>
          <p:nvPr/>
        </p:nvSpPr>
        <p:spPr bwMode="auto">
          <a:xfrm>
            <a:off x="6942138" y="5337175"/>
            <a:ext cx="1587" cy="377825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Dereferencing Example (Cont ..)</a:t>
            </a:r>
          </a:p>
        </p:txBody>
      </p:sp>
      <p:sp>
        <p:nvSpPr>
          <p:cNvPr id="33" name="Slide Number Placeholder 3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1DC8B9-7491-467B-B464-7A25A79A531D}" type="slidenum">
              <a:rPr lang="en-US"/>
              <a:pPr>
                <a:defRPr/>
              </a:pPr>
              <a:t>20</a:t>
            </a:fld>
            <a:endParaRPr lang="en-US"/>
          </a:p>
        </p:txBody>
      </p:sp>
      <p:sp>
        <p:nvSpPr>
          <p:cNvPr id="24581" name="Rectangle 4"/>
          <p:cNvSpPr>
            <a:spLocks noChangeArrowheads="1"/>
          </p:cNvSpPr>
          <p:nvPr/>
        </p:nvSpPr>
        <p:spPr bwMode="auto">
          <a:xfrm>
            <a:off x="457200" y="1828800"/>
            <a:ext cx="5105400" cy="4648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46038" rIns="0" bIns="46038"/>
          <a:lstStyle/>
          <a:p>
            <a:pPr marL="342900" indent="-342900"/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#include &lt;iostream.h&gt;</a:t>
            </a:r>
          </a:p>
          <a:p>
            <a:pPr marL="342900" indent="-342900"/>
            <a:endParaRPr lang="en-US" sz="2000" b="1">
              <a:solidFill>
                <a:schemeClr val="tx2"/>
              </a:solidFill>
              <a:latin typeface="Courier New" pitchFamily="49" charset="0"/>
            </a:endParaRPr>
          </a:p>
          <a:p>
            <a:pPr marL="342900" indent="-342900"/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void main()</a:t>
            </a:r>
          </a:p>
          <a:p>
            <a:pPr marL="342900" indent="-342900"/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{</a:t>
            </a:r>
          </a:p>
          <a:p>
            <a:pPr marL="342900" indent="-342900"/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   float data = 50.8;</a:t>
            </a:r>
          </a:p>
          <a:p>
            <a:pPr marL="342900" indent="-342900"/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   float *ptr;</a:t>
            </a:r>
          </a:p>
          <a:p>
            <a:pPr marL="342900" indent="-342900"/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   ptr = &amp;data;</a:t>
            </a:r>
          </a:p>
          <a:p>
            <a:pPr marL="342900" indent="-342900"/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   cout &lt;&lt; ptr &lt;&lt; *ptr &lt;&lt; endl;</a:t>
            </a:r>
          </a:p>
          <a:p>
            <a:pPr marL="342900" indent="-342900"/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   *ptr = 27.4;</a:t>
            </a:r>
          </a:p>
          <a:p>
            <a:pPr marL="342900" indent="-342900"/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   cout &lt;&lt; *ptr &lt;&lt; endl;</a:t>
            </a:r>
          </a:p>
          <a:p>
            <a:pPr marL="342900" indent="-342900"/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   cout &lt;&lt; data &lt;&lt; endl;</a:t>
            </a:r>
          </a:p>
          <a:p>
            <a:pPr marL="342900" indent="-342900"/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}</a:t>
            </a:r>
          </a:p>
          <a:p>
            <a:pPr marL="342900" indent="-342900"/>
            <a:endParaRPr lang="en-US" sz="2000" b="1">
              <a:solidFill>
                <a:schemeClr val="tx2"/>
              </a:solidFill>
              <a:latin typeface="Courier New" pitchFamily="49" charset="0"/>
            </a:endParaRPr>
          </a:p>
          <a:p>
            <a:pPr marL="342900" indent="-342900"/>
            <a:r>
              <a:rPr lang="en-US" sz="2000" u="sng">
                <a:solidFill>
                  <a:schemeClr val="bg1"/>
                </a:solidFill>
                <a:latin typeface="Tahoma" pitchFamily="34" charset="0"/>
              </a:rPr>
              <a:t>Output:</a:t>
            </a:r>
            <a:endParaRPr lang="en-US" sz="2000">
              <a:solidFill>
                <a:schemeClr val="bg1"/>
              </a:solidFill>
              <a:latin typeface="Tahoma" pitchFamily="34" charset="0"/>
            </a:endParaRPr>
          </a:p>
          <a:p>
            <a:pPr marL="342900" indent="-342900"/>
            <a:endParaRPr lang="en-US" sz="2000">
              <a:solidFill>
                <a:schemeClr val="bg1"/>
              </a:solidFill>
              <a:latin typeface="Tahoma" pitchFamily="34" charset="0"/>
            </a:endParaRPr>
          </a:p>
          <a:p>
            <a:pPr marL="342900" indent="-342900"/>
            <a:r>
              <a:rPr lang="en-US" sz="2000">
                <a:solidFill>
                  <a:schemeClr val="bg1"/>
                </a:solidFill>
                <a:latin typeface="Tahoma" pitchFamily="34" charset="0"/>
              </a:rPr>
              <a:t>FFF4 50.80</a:t>
            </a:r>
          </a:p>
        </p:txBody>
      </p:sp>
      <p:sp>
        <p:nvSpPr>
          <p:cNvPr id="24582" name="AutoShape 5"/>
          <p:cNvSpPr>
            <a:spLocks noChangeArrowheads="1"/>
          </p:cNvSpPr>
          <p:nvPr/>
        </p:nvSpPr>
        <p:spPr bwMode="auto">
          <a:xfrm>
            <a:off x="0" y="4114800"/>
            <a:ext cx="533400" cy="152400"/>
          </a:xfrm>
          <a:prstGeom prst="rightArrow">
            <a:avLst>
              <a:gd name="adj1" fmla="val 50000"/>
              <a:gd name="adj2" fmla="val 875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24583" name="Rectangle 6" descr="Light upward diagonal"/>
          <p:cNvSpPr>
            <a:spLocks noChangeArrowheads="1"/>
          </p:cNvSpPr>
          <p:nvPr/>
        </p:nvSpPr>
        <p:spPr bwMode="auto">
          <a:xfrm>
            <a:off x="7499350" y="2644775"/>
            <a:ext cx="1116013" cy="4333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sz="2000">
              <a:solidFill>
                <a:schemeClr val="accent2"/>
              </a:solidFill>
              <a:latin typeface="Book Antiqua" pitchFamily="18" charset="0"/>
            </a:endParaRPr>
          </a:p>
        </p:txBody>
      </p:sp>
      <p:sp>
        <p:nvSpPr>
          <p:cNvPr id="24584" name="Rectangle 7" descr="Light upward diagonal"/>
          <p:cNvSpPr>
            <a:spLocks noChangeArrowheads="1"/>
          </p:cNvSpPr>
          <p:nvPr/>
        </p:nvSpPr>
        <p:spPr bwMode="auto">
          <a:xfrm>
            <a:off x="7499350" y="2209800"/>
            <a:ext cx="1116013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000">
                <a:solidFill>
                  <a:schemeClr val="accent2"/>
                </a:solidFill>
                <a:latin typeface="Tahoma" pitchFamily="34" charset="0"/>
              </a:rPr>
              <a:t>FFF4</a:t>
            </a:r>
          </a:p>
        </p:txBody>
      </p:sp>
      <p:sp>
        <p:nvSpPr>
          <p:cNvPr id="24585" name="Rectangle 9" descr="Light upward diagonal"/>
          <p:cNvSpPr>
            <a:spLocks noChangeArrowheads="1"/>
          </p:cNvSpPr>
          <p:nvPr/>
        </p:nvSpPr>
        <p:spPr bwMode="auto">
          <a:xfrm>
            <a:off x="7499350" y="3078163"/>
            <a:ext cx="1116013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24586" name="Rectangle 10" descr="Light upward diagonal"/>
          <p:cNvSpPr>
            <a:spLocks noChangeArrowheads="1"/>
          </p:cNvSpPr>
          <p:nvPr/>
        </p:nvSpPr>
        <p:spPr bwMode="auto">
          <a:xfrm>
            <a:off x="7499350" y="3513138"/>
            <a:ext cx="1116013" cy="4333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24587" name="Rectangle 11" descr="Light upward diagonal"/>
          <p:cNvSpPr>
            <a:spLocks noChangeArrowheads="1"/>
          </p:cNvSpPr>
          <p:nvPr/>
        </p:nvSpPr>
        <p:spPr bwMode="auto">
          <a:xfrm>
            <a:off x="7499350" y="3946525"/>
            <a:ext cx="1116013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000">
                <a:solidFill>
                  <a:schemeClr val="accent2"/>
                </a:solidFill>
                <a:latin typeface="Tahoma" pitchFamily="34" charset="0"/>
              </a:rPr>
              <a:t>50.8</a:t>
            </a:r>
          </a:p>
        </p:txBody>
      </p:sp>
      <p:sp>
        <p:nvSpPr>
          <p:cNvPr id="24588" name="Rectangle 12" descr="Light upward diagonal"/>
          <p:cNvSpPr>
            <a:spLocks noChangeArrowheads="1"/>
          </p:cNvSpPr>
          <p:nvPr/>
        </p:nvSpPr>
        <p:spPr bwMode="auto">
          <a:xfrm>
            <a:off x="7499350" y="4381500"/>
            <a:ext cx="1116013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24589" name="Rectangle 13" descr="Light upward diagonal"/>
          <p:cNvSpPr>
            <a:spLocks noChangeArrowheads="1"/>
          </p:cNvSpPr>
          <p:nvPr/>
        </p:nvSpPr>
        <p:spPr bwMode="auto">
          <a:xfrm>
            <a:off x="7499350" y="4816475"/>
            <a:ext cx="1116013" cy="4333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24590" name="Rectangle 15"/>
          <p:cNvSpPr>
            <a:spLocks noChangeArrowheads="1"/>
          </p:cNvSpPr>
          <p:nvPr/>
        </p:nvSpPr>
        <p:spPr bwMode="auto">
          <a:xfrm>
            <a:off x="6477000" y="2644775"/>
            <a:ext cx="1022350" cy="4333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FFF1</a:t>
            </a:r>
          </a:p>
        </p:txBody>
      </p:sp>
      <p:sp>
        <p:nvSpPr>
          <p:cNvPr id="24591" name="Rectangle 16"/>
          <p:cNvSpPr>
            <a:spLocks noChangeArrowheads="1"/>
          </p:cNvSpPr>
          <p:nvPr/>
        </p:nvSpPr>
        <p:spPr bwMode="auto">
          <a:xfrm>
            <a:off x="6477000" y="2209800"/>
            <a:ext cx="1022350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FFF0</a:t>
            </a:r>
          </a:p>
        </p:txBody>
      </p:sp>
      <p:sp>
        <p:nvSpPr>
          <p:cNvPr id="24592" name="Rectangle 18"/>
          <p:cNvSpPr>
            <a:spLocks noChangeArrowheads="1"/>
          </p:cNvSpPr>
          <p:nvPr/>
        </p:nvSpPr>
        <p:spPr bwMode="auto">
          <a:xfrm>
            <a:off x="6477000" y="3078163"/>
            <a:ext cx="1022350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FFF2</a:t>
            </a:r>
          </a:p>
        </p:txBody>
      </p:sp>
      <p:sp>
        <p:nvSpPr>
          <p:cNvPr id="24593" name="Rectangle 19"/>
          <p:cNvSpPr>
            <a:spLocks noChangeArrowheads="1"/>
          </p:cNvSpPr>
          <p:nvPr/>
        </p:nvSpPr>
        <p:spPr bwMode="auto">
          <a:xfrm>
            <a:off x="6477000" y="3513138"/>
            <a:ext cx="1022350" cy="4333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FFF3</a:t>
            </a:r>
          </a:p>
        </p:txBody>
      </p:sp>
      <p:sp>
        <p:nvSpPr>
          <p:cNvPr id="24594" name="Rectangle 20"/>
          <p:cNvSpPr>
            <a:spLocks noChangeArrowheads="1"/>
          </p:cNvSpPr>
          <p:nvPr/>
        </p:nvSpPr>
        <p:spPr bwMode="auto">
          <a:xfrm>
            <a:off x="6477000" y="3946525"/>
            <a:ext cx="1022350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FFF4</a:t>
            </a:r>
          </a:p>
        </p:txBody>
      </p:sp>
      <p:sp>
        <p:nvSpPr>
          <p:cNvPr id="24595" name="Rectangle 21"/>
          <p:cNvSpPr>
            <a:spLocks noChangeArrowheads="1"/>
          </p:cNvSpPr>
          <p:nvPr/>
        </p:nvSpPr>
        <p:spPr bwMode="auto">
          <a:xfrm>
            <a:off x="6477000" y="4381500"/>
            <a:ext cx="1022350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FFF5</a:t>
            </a:r>
          </a:p>
        </p:txBody>
      </p:sp>
      <p:sp>
        <p:nvSpPr>
          <p:cNvPr id="24596" name="Rectangle 22"/>
          <p:cNvSpPr>
            <a:spLocks noChangeArrowheads="1"/>
          </p:cNvSpPr>
          <p:nvPr/>
        </p:nvSpPr>
        <p:spPr bwMode="auto">
          <a:xfrm>
            <a:off x="6477000" y="4816475"/>
            <a:ext cx="1022350" cy="4333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FFF6</a:t>
            </a:r>
          </a:p>
        </p:txBody>
      </p:sp>
      <p:sp>
        <p:nvSpPr>
          <p:cNvPr id="24597" name="Text Box 24"/>
          <p:cNvSpPr txBox="1">
            <a:spLocks noChangeArrowheads="1"/>
          </p:cNvSpPr>
          <p:nvPr/>
        </p:nvSpPr>
        <p:spPr bwMode="auto">
          <a:xfrm>
            <a:off x="5643563" y="2133600"/>
            <a:ext cx="685800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rIns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i="1">
                <a:solidFill>
                  <a:schemeClr val="tx2"/>
                </a:solidFill>
                <a:latin typeface="Tahoma" pitchFamily="34" charset="0"/>
              </a:rPr>
              <a:t>ptr</a:t>
            </a:r>
            <a:endParaRPr lang="en-US" sz="1200" i="1">
              <a:solidFill>
                <a:schemeClr val="tx2"/>
              </a:solidFill>
              <a:latin typeface="Tahoma" pitchFamily="34" charset="0"/>
            </a:endParaRPr>
          </a:p>
        </p:txBody>
      </p:sp>
      <p:sp>
        <p:nvSpPr>
          <p:cNvPr id="24598" name="Text Box 25"/>
          <p:cNvSpPr txBox="1">
            <a:spLocks noChangeArrowheads="1"/>
          </p:cNvSpPr>
          <p:nvPr/>
        </p:nvSpPr>
        <p:spPr bwMode="auto">
          <a:xfrm>
            <a:off x="5643563" y="3962400"/>
            <a:ext cx="685800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rIns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i="1">
                <a:solidFill>
                  <a:schemeClr val="tx2"/>
                </a:solidFill>
                <a:latin typeface="Tahoma" pitchFamily="34" charset="0"/>
              </a:rPr>
              <a:t>data</a:t>
            </a:r>
            <a:endParaRPr lang="en-US" sz="1200" i="1">
              <a:solidFill>
                <a:schemeClr val="tx2"/>
              </a:solidFill>
              <a:latin typeface="Tahoma" pitchFamily="34" charset="0"/>
            </a:endParaRPr>
          </a:p>
        </p:txBody>
      </p:sp>
      <p:grpSp>
        <p:nvGrpSpPr>
          <p:cNvPr id="24599" name="Group 26"/>
          <p:cNvGrpSpPr>
            <a:grpSpLocks/>
          </p:cNvGrpSpPr>
          <p:nvPr/>
        </p:nvGrpSpPr>
        <p:grpSpPr bwMode="auto">
          <a:xfrm>
            <a:off x="6248400" y="1905000"/>
            <a:ext cx="2590800" cy="2286000"/>
            <a:chOff x="1296" y="2640"/>
            <a:chExt cx="1632" cy="1440"/>
          </a:xfrm>
        </p:grpSpPr>
        <p:sp>
          <p:nvSpPr>
            <p:cNvPr id="24604" name="Line 27"/>
            <p:cNvSpPr>
              <a:spLocks noChangeShapeType="1"/>
            </p:cNvSpPr>
            <p:nvPr/>
          </p:nvSpPr>
          <p:spPr bwMode="auto">
            <a:xfrm flipH="1">
              <a:off x="2640" y="2976"/>
              <a:ext cx="2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05" name="Line 28"/>
            <p:cNvSpPr>
              <a:spLocks noChangeShapeType="1"/>
            </p:cNvSpPr>
            <p:nvPr/>
          </p:nvSpPr>
          <p:spPr bwMode="auto">
            <a:xfrm flipH="1" flipV="1">
              <a:off x="2928" y="2640"/>
              <a:ext cx="0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06" name="Line 29"/>
            <p:cNvSpPr>
              <a:spLocks noChangeShapeType="1"/>
            </p:cNvSpPr>
            <p:nvPr/>
          </p:nvSpPr>
          <p:spPr bwMode="auto">
            <a:xfrm>
              <a:off x="1296" y="2640"/>
              <a:ext cx="16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07" name="Line 30"/>
            <p:cNvSpPr>
              <a:spLocks noChangeShapeType="1"/>
            </p:cNvSpPr>
            <p:nvPr/>
          </p:nvSpPr>
          <p:spPr bwMode="auto">
            <a:xfrm flipH="1">
              <a:off x="1296" y="2640"/>
              <a:ext cx="0" cy="14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08" name="Line 31"/>
            <p:cNvSpPr>
              <a:spLocks noChangeShapeType="1"/>
            </p:cNvSpPr>
            <p:nvPr/>
          </p:nvSpPr>
          <p:spPr bwMode="auto">
            <a:xfrm flipV="1">
              <a:off x="1296" y="4080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4600" name="Rectangle 33" descr="Light upward diagonal"/>
          <p:cNvSpPr>
            <a:spLocks noChangeArrowheads="1"/>
          </p:cNvSpPr>
          <p:nvPr/>
        </p:nvSpPr>
        <p:spPr bwMode="auto">
          <a:xfrm>
            <a:off x="7499350" y="5791200"/>
            <a:ext cx="1116013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24601" name="Line 34" descr="Light upward diagonal"/>
          <p:cNvSpPr>
            <a:spLocks noChangeShapeType="1"/>
          </p:cNvSpPr>
          <p:nvPr/>
        </p:nvSpPr>
        <p:spPr bwMode="auto">
          <a:xfrm>
            <a:off x="8058150" y="5337175"/>
            <a:ext cx="1588" cy="377825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602" name="Rectangle 35"/>
          <p:cNvSpPr>
            <a:spLocks noChangeArrowheads="1"/>
          </p:cNvSpPr>
          <p:nvPr/>
        </p:nvSpPr>
        <p:spPr bwMode="auto">
          <a:xfrm>
            <a:off x="6477000" y="5791200"/>
            <a:ext cx="1022350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b="1">
              <a:latin typeface="Courier New" pitchFamily="49" charset="0"/>
            </a:endParaRPr>
          </a:p>
        </p:txBody>
      </p:sp>
      <p:sp>
        <p:nvSpPr>
          <p:cNvPr id="24603" name="Line 36"/>
          <p:cNvSpPr>
            <a:spLocks noChangeShapeType="1"/>
          </p:cNvSpPr>
          <p:nvPr/>
        </p:nvSpPr>
        <p:spPr bwMode="auto">
          <a:xfrm>
            <a:off x="6942138" y="5337175"/>
            <a:ext cx="1587" cy="377825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Dereferencing Example (Cont ..)</a:t>
            </a:r>
          </a:p>
        </p:txBody>
      </p:sp>
      <p:sp>
        <p:nvSpPr>
          <p:cNvPr id="33" name="Slide Number Placeholder 3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1E51CA-9BB9-4DF2-8B40-F2C91EE3635E}" type="slidenum">
              <a:rPr lang="en-US"/>
              <a:pPr>
                <a:defRPr/>
              </a:pPr>
              <a:t>21</a:t>
            </a:fld>
            <a:endParaRPr lang="en-US"/>
          </a:p>
        </p:txBody>
      </p:sp>
      <p:sp>
        <p:nvSpPr>
          <p:cNvPr id="25605" name="Rectangle 3" descr="Light upward diagonal"/>
          <p:cNvSpPr>
            <a:spLocks noChangeArrowheads="1"/>
          </p:cNvSpPr>
          <p:nvPr/>
        </p:nvSpPr>
        <p:spPr bwMode="auto">
          <a:xfrm>
            <a:off x="7499350" y="2644775"/>
            <a:ext cx="1116013" cy="4333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sz="2000">
              <a:solidFill>
                <a:schemeClr val="accent2"/>
              </a:solidFill>
              <a:latin typeface="Book Antiqua" pitchFamily="18" charset="0"/>
            </a:endParaRPr>
          </a:p>
        </p:txBody>
      </p:sp>
      <p:sp>
        <p:nvSpPr>
          <p:cNvPr id="25606" name="Rectangle 4" descr="Light upward diagonal"/>
          <p:cNvSpPr>
            <a:spLocks noChangeArrowheads="1"/>
          </p:cNvSpPr>
          <p:nvPr/>
        </p:nvSpPr>
        <p:spPr bwMode="auto">
          <a:xfrm>
            <a:off x="7499350" y="2209800"/>
            <a:ext cx="1116013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000">
                <a:solidFill>
                  <a:schemeClr val="accent2"/>
                </a:solidFill>
                <a:latin typeface="Tahoma" pitchFamily="34" charset="0"/>
              </a:rPr>
              <a:t>FFF4</a:t>
            </a:r>
            <a:endParaRPr lang="en-US" sz="1400">
              <a:solidFill>
                <a:schemeClr val="accent2"/>
              </a:solidFill>
              <a:latin typeface="Tahoma" pitchFamily="34" charset="0"/>
            </a:endParaRPr>
          </a:p>
        </p:txBody>
      </p:sp>
      <p:sp>
        <p:nvSpPr>
          <p:cNvPr id="25607" name="Rectangle 6" descr="Light upward diagonal"/>
          <p:cNvSpPr>
            <a:spLocks noChangeArrowheads="1"/>
          </p:cNvSpPr>
          <p:nvPr/>
        </p:nvSpPr>
        <p:spPr bwMode="auto">
          <a:xfrm>
            <a:off x="7499350" y="3078163"/>
            <a:ext cx="1116013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25608" name="Rectangle 7" descr="Light upward diagonal"/>
          <p:cNvSpPr>
            <a:spLocks noChangeArrowheads="1"/>
          </p:cNvSpPr>
          <p:nvPr/>
        </p:nvSpPr>
        <p:spPr bwMode="auto">
          <a:xfrm>
            <a:off x="7499350" y="3513138"/>
            <a:ext cx="1116013" cy="4333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25609" name="Rectangle 8" descr="Light upward diagonal"/>
          <p:cNvSpPr>
            <a:spLocks noChangeArrowheads="1"/>
          </p:cNvSpPr>
          <p:nvPr/>
        </p:nvSpPr>
        <p:spPr bwMode="auto">
          <a:xfrm>
            <a:off x="7499350" y="3946525"/>
            <a:ext cx="1116013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000">
                <a:solidFill>
                  <a:schemeClr val="accent2"/>
                </a:solidFill>
                <a:latin typeface="Tahoma" pitchFamily="34" charset="0"/>
              </a:rPr>
              <a:t>27.4</a:t>
            </a:r>
          </a:p>
        </p:txBody>
      </p:sp>
      <p:sp>
        <p:nvSpPr>
          <p:cNvPr id="25610" name="Rectangle 9" descr="Light upward diagonal"/>
          <p:cNvSpPr>
            <a:spLocks noChangeArrowheads="1"/>
          </p:cNvSpPr>
          <p:nvPr/>
        </p:nvSpPr>
        <p:spPr bwMode="auto">
          <a:xfrm>
            <a:off x="7499350" y="4381500"/>
            <a:ext cx="1116013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25611" name="Rectangle 10" descr="Light upward diagonal"/>
          <p:cNvSpPr>
            <a:spLocks noChangeArrowheads="1"/>
          </p:cNvSpPr>
          <p:nvPr/>
        </p:nvSpPr>
        <p:spPr bwMode="auto">
          <a:xfrm>
            <a:off x="7499350" y="4816475"/>
            <a:ext cx="1116013" cy="4333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25612" name="Rectangle 12"/>
          <p:cNvSpPr>
            <a:spLocks noChangeArrowheads="1"/>
          </p:cNvSpPr>
          <p:nvPr/>
        </p:nvSpPr>
        <p:spPr bwMode="auto">
          <a:xfrm>
            <a:off x="6477000" y="2644775"/>
            <a:ext cx="1022350" cy="4333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FFF1</a:t>
            </a:r>
          </a:p>
        </p:txBody>
      </p:sp>
      <p:sp>
        <p:nvSpPr>
          <p:cNvPr id="25613" name="Rectangle 13"/>
          <p:cNvSpPr>
            <a:spLocks noChangeArrowheads="1"/>
          </p:cNvSpPr>
          <p:nvPr/>
        </p:nvSpPr>
        <p:spPr bwMode="auto">
          <a:xfrm>
            <a:off x="6477000" y="2209800"/>
            <a:ext cx="1022350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FFF0</a:t>
            </a:r>
          </a:p>
        </p:txBody>
      </p:sp>
      <p:sp>
        <p:nvSpPr>
          <p:cNvPr id="25614" name="Rectangle 15"/>
          <p:cNvSpPr>
            <a:spLocks noChangeArrowheads="1"/>
          </p:cNvSpPr>
          <p:nvPr/>
        </p:nvSpPr>
        <p:spPr bwMode="auto">
          <a:xfrm>
            <a:off x="6477000" y="3078163"/>
            <a:ext cx="1022350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FFF2</a:t>
            </a:r>
          </a:p>
        </p:txBody>
      </p:sp>
      <p:sp>
        <p:nvSpPr>
          <p:cNvPr id="25615" name="Rectangle 16"/>
          <p:cNvSpPr>
            <a:spLocks noChangeArrowheads="1"/>
          </p:cNvSpPr>
          <p:nvPr/>
        </p:nvSpPr>
        <p:spPr bwMode="auto">
          <a:xfrm>
            <a:off x="6477000" y="3513138"/>
            <a:ext cx="1022350" cy="4333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FFF3</a:t>
            </a:r>
          </a:p>
        </p:txBody>
      </p:sp>
      <p:sp>
        <p:nvSpPr>
          <p:cNvPr id="25616" name="Rectangle 17"/>
          <p:cNvSpPr>
            <a:spLocks noChangeArrowheads="1"/>
          </p:cNvSpPr>
          <p:nvPr/>
        </p:nvSpPr>
        <p:spPr bwMode="auto">
          <a:xfrm>
            <a:off x="6477000" y="3946525"/>
            <a:ext cx="1022350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FFF4</a:t>
            </a:r>
          </a:p>
        </p:txBody>
      </p:sp>
      <p:sp>
        <p:nvSpPr>
          <p:cNvPr id="25617" name="Rectangle 18"/>
          <p:cNvSpPr>
            <a:spLocks noChangeArrowheads="1"/>
          </p:cNvSpPr>
          <p:nvPr/>
        </p:nvSpPr>
        <p:spPr bwMode="auto">
          <a:xfrm>
            <a:off x="6477000" y="4381500"/>
            <a:ext cx="1022350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FFF5</a:t>
            </a:r>
          </a:p>
        </p:txBody>
      </p:sp>
      <p:sp>
        <p:nvSpPr>
          <p:cNvPr id="25618" name="Rectangle 19"/>
          <p:cNvSpPr>
            <a:spLocks noChangeArrowheads="1"/>
          </p:cNvSpPr>
          <p:nvPr/>
        </p:nvSpPr>
        <p:spPr bwMode="auto">
          <a:xfrm>
            <a:off x="6477000" y="4816475"/>
            <a:ext cx="1022350" cy="4333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FFF6</a:t>
            </a:r>
          </a:p>
        </p:txBody>
      </p:sp>
      <p:sp>
        <p:nvSpPr>
          <p:cNvPr id="25619" name="Text Box 21"/>
          <p:cNvSpPr txBox="1">
            <a:spLocks noChangeArrowheads="1"/>
          </p:cNvSpPr>
          <p:nvPr/>
        </p:nvSpPr>
        <p:spPr bwMode="auto">
          <a:xfrm>
            <a:off x="5643563" y="2133600"/>
            <a:ext cx="685800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rIns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i="1">
                <a:solidFill>
                  <a:schemeClr val="tx2"/>
                </a:solidFill>
                <a:latin typeface="Tahoma" pitchFamily="34" charset="0"/>
              </a:rPr>
              <a:t>ptr</a:t>
            </a:r>
            <a:endParaRPr lang="en-US" sz="1200" i="1">
              <a:solidFill>
                <a:schemeClr val="tx2"/>
              </a:solidFill>
              <a:latin typeface="Tahoma" pitchFamily="34" charset="0"/>
            </a:endParaRPr>
          </a:p>
        </p:txBody>
      </p:sp>
      <p:sp>
        <p:nvSpPr>
          <p:cNvPr id="25620" name="Text Box 22"/>
          <p:cNvSpPr txBox="1">
            <a:spLocks noChangeArrowheads="1"/>
          </p:cNvSpPr>
          <p:nvPr/>
        </p:nvSpPr>
        <p:spPr bwMode="auto">
          <a:xfrm>
            <a:off x="5643563" y="3962400"/>
            <a:ext cx="685800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rIns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i="1">
                <a:solidFill>
                  <a:schemeClr val="tx2"/>
                </a:solidFill>
                <a:latin typeface="Tahoma" pitchFamily="34" charset="0"/>
              </a:rPr>
              <a:t>data</a:t>
            </a:r>
            <a:endParaRPr lang="en-US" sz="1200" i="1">
              <a:solidFill>
                <a:schemeClr val="tx2"/>
              </a:solidFill>
              <a:latin typeface="Tahoma" pitchFamily="34" charset="0"/>
            </a:endParaRPr>
          </a:p>
        </p:txBody>
      </p:sp>
      <p:grpSp>
        <p:nvGrpSpPr>
          <p:cNvPr id="25621" name="Group 23"/>
          <p:cNvGrpSpPr>
            <a:grpSpLocks/>
          </p:cNvGrpSpPr>
          <p:nvPr/>
        </p:nvGrpSpPr>
        <p:grpSpPr bwMode="auto">
          <a:xfrm>
            <a:off x="6248400" y="1905000"/>
            <a:ext cx="2590800" cy="2286000"/>
            <a:chOff x="1296" y="2640"/>
            <a:chExt cx="1632" cy="1440"/>
          </a:xfrm>
        </p:grpSpPr>
        <p:sp>
          <p:nvSpPr>
            <p:cNvPr id="25628" name="Line 24"/>
            <p:cNvSpPr>
              <a:spLocks noChangeShapeType="1"/>
            </p:cNvSpPr>
            <p:nvPr/>
          </p:nvSpPr>
          <p:spPr bwMode="auto">
            <a:xfrm flipH="1">
              <a:off x="2640" y="2976"/>
              <a:ext cx="2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29" name="Line 25"/>
            <p:cNvSpPr>
              <a:spLocks noChangeShapeType="1"/>
            </p:cNvSpPr>
            <p:nvPr/>
          </p:nvSpPr>
          <p:spPr bwMode="auto">
            <a:xfrm flipH="1" flipV="1">
              <a:off x="2928" y="2640"/>
              <a:ext cx="0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30" name="Line 26"/>
            <p:cNvSpPr>
              <a:spLocks noChangeShapeType="1"/>
            </p:cNvSpPr>
            <p:nvPr/>
          </p:nvSpPr>
          <p:spPr bwMode="auto">
            <a:xfrm>
              <a:off x="1296" y="2640"/>
              <a:ext cx="16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31" name="Line 27"/>
            <p:cNvSpPr>
              <a:spLocks noChangeShapeType="1"/>
            </p:cNvSpPr>
            <p:nvPr/>
          </p:nvSpPr>
          <p:spPr bwMode="auto">
            <a:xfrm flipH="1">
              <a:off x="1296" y="2640"/>
              <a:ext cx="0" cy="14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32" name="Line 28"/>
            <p:cNvSpPr>
              <a:spLocks noChangeShapeType="1"/>
            </p:cNvSpPr>
            <p:nvPr/>
          </p:nvSpPr>
          <p:spPr bwMode="auto">
            <a:xfrm flipV="1">
              <a:off x="1296" y="4080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5622" name="Rectangle 29"/>
          <p:cNvSpPr>
            <a:spLocks noChangeArrowheads="1"/>
          </p:cNvSpPr>
          <p:nvPr/>
        </p:nvSpPr>
        <p:spPr bwMode="auto">
          <a:xfrm>
            <a:off x="457200" y="1828800"/>
            <a:ext cx="5105400" cy="4648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46038" rIns="0" bIns="46038"/>
          <a:lstStyle/>
          <a:p>
            <a:pPr marL="342900" indent="-342900"/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#include &lt;iostream.h&gt;</a:t>
            </a:r>
          </a:p>
          <a:p>
            <a:pPr marL="342900" indent="-342900"/>
            <a:endParaRPr lang="en-US" sz="2000" b="1">
              <a:solidFill>
                <a:schemeClr val="tx2"/>
              </a:solidFill>
              <a:latin typeface="Courier New" pitchFamily="49" charset="0"/>
            </a:endParaRPr>
          </a:p>
          <a:p>
            <a:pPr marL="342900" indent="-342900"/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void main()</a:t>
            </a:r>
          </a:p>
          <a:p>
            <a:pPr marL="342900" indent="-342900"/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{</a:t>
            </a:r>
          </a:p>
          <a:p>
            <a:pPr marL="342900" indent="-342900"/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   float data = 50.8;</a:t>
            </a:r>
          </a:p>
          <a:p>
            <a:pPr marL="342900" indent="-342900"/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   float *ptr;</a:t>
            </a:r>
          </a:p>
          <a:p>
            <a:pPr marL="342900" indent="-342900"/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   ptr = &amp;data;</a:t>
            </a:r>
          </a:p>
          <a:p>
            <a:pPr marL="342900" indent="-342900"/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   cout &lt;&lt; ptr &lt;&lt; *ptr &lt;&lt; endl;</a:t>
            </a:r>
          </a:p>
          <a:p>
            <a:pPr marL="342900" indent="-342900"/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   *ptr = 27.4;</a:t>
            </a:r>
          </a:p>
          <a:p>
            <a:pPr marL="342900" indent="-342900"/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   cout &lt;&lt; *ptr &lt;&lt; endl;</a:t>
            </a:r>
          </a:p>
          <a:p>
            <a:pPr marL="342900" indent="-342900"/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   cout &lt;&lt; data &lt;&lt; endl;</a:t>
            </a:r>
          </a:p>
          <a:p>
            <a:pPr marL="342900" indent="-342900"/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}</a:t>
            </a:r>
          </a:p>
          <a:p>
            <a:pPr marL="342900" indent="-342900"/>
            <a:endParaRPr lang="en-US" sz="2000" b="1">
              <a:solidFill>
                <a:schemeClr val="tx2"/>
              </a:solidFill>
              <a:latin typeface="Courier New" pitchFamily="49" charset="0"/>
            </a:endParaRPr>
          </a:p>
          <a:p>
            <a:pPr marL="342900" indent="-342900"/>
            <a:r>
              <a:rPr lang="en-US" sz="2000" u="sng">
                <a:solidFill>
                  <a:schemeClr val="bg1"/>
                </a:solidFill>
                <a:latin typeface="Tahoma" pitchFamily="34" charset="0"/>
              </a:rPr>
              <a:t>Output:</a:t>
            </a:r>
          </a:p>
        </p:txBody>
      </p:sp>
      <p:sp>
        <p:nvSpPr>
          <p:cNvPr id="25623" name="AutoShape 30"/>
          <p:cNvSpPr>
            <a:spLocks noChangeArrowheads="1"/>
          </p:cNvSpPr>
          <p:nvPr/>
        </p:nvSpPr>
        <p:spPr bwMode="auto">
          <a:xfrm>
            <a:off x="0" y="4419600"/>
            <a:ext cx="533400" cy="152400"/>
          </a:xfrm>
          <a:prstGeom prst="rightArrow">
            <a:avLst>
              <a:gd name="adj1" fmla="val 50000"/>
              <a:gd name="adj2" fmla="val 875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25624" name="Rectangle 33" descr="Light upward diagonal"/>
          <p:cNvSpPr>
            <a:spLocks noChangeArrowheads="1"/>
          </p:cNvSpPr>
          <p:nvPr/>
        </p:nvSpPr>
        <p:spPr bwMode="auto">
          <a:xfrm>
            <a:off x="7499350" y="5791200"/>
            <a:ext cx="1116013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25625" name="Line 34" descr="Light upward diagonal"/>
          <p:cNvSpPr>
            <a:spLocks noChangeShapeType="1"/>
          </p:cNvSpPr>
          <p:nvPr/>
        </p:nvSpPr>
        <p:spPr bwMode="auto">
          <a:xfrm>
            <a:off x="8058150" y="5337175"/>
            <a:ext cx="1588" cy="377825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26" name="Rectangle 35"/>
          <p:cNvSpPr>
            <a:spLocks noChangeArrowheads="1"/>
          </p:cNvSpPr>
          <p:nvPr/>
        </p:nvSpPr>
        <p:spPr bwMode="auto">
          <a:xfrm>
            <a:off x="6477000" y="5791200"/>
            <a:ext cx="1022350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b="1">
              <a:latin typeface="Courier New" pitchFamily="49" charset="0"/>
            </a:endParaRPr>
          </a:p>
        </p:txBody>
      </p:sp>
      <p:sp>
        <p:nvSpPr>
          <p:cNvPr id="25627" name="Line 36"/>
          <p:cNvSpPr>
            <a:spLocks noChangeShapeType="1"/>
          </p:cNvSpPr>
          <p:nvPr/>
        </p:nvSpPr>
        <p:spPr bwMode="auto">
          <a:xfrm>
            <a:off x="6942138" y="5337175"/>
            <a:ext cx="1587" cy="377825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3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Dereferencing Example (Cont ..)</a:t>
            </a:r>
          </a:p>
        </p:txBody>
      </p:sp>
      <p:sp>
        <p:nvSpPr>
          <p:cNvPr id="33" name="Slide Number Placeholder 3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53D2211-2E64-4196-AE75-022E63D6EE4F}" type="slidenum">
              <a:rPr lang="en-US"/>
              <a:pPr>
                <a:defRPr/>
              </a:pPr>
              <a:t>22</a:t>
            </a:fld>
            <a:endParaRPr lang="en-US"/>
          </a:p>
        </p:txBody>
      </p:sp>
      <p:sp>
        <p:nvSpPr>
          <p:cNvPr id="26629" name="Rectangle 3" descr="Light upward diagonal"/>
          <p:cNvSpPr>
            <a:spLocks noChangeArrowheads="1"/>
          </p:cNvSpPr>
          <p:nvPr/>
        </p:nvSpPr>
        <p:spPr bwMode="auto">
          <a:xfrm>
            <a:off x="7499350" y="2644775"/>
            <a:ext cx="1116013" cy="4333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sz="2000">
              <a:solidFill>
                <a:schemeClr val="accent2"/>
              </a:solidFill>
              <a:latin typeface="Tahoma" pitchFamily="34" charset="0"/>
            </a:endParaRPr>
          </a:p>
        </p:txBody>
      </p:sp>
      <p:sp>
        <p:nvSpPr>
          <p:cNvPr id="26630" name="Rectangle 4" descr="Light upward diagonal"/>
          <p:cNvSpPr>
            <a:spLocks noChangeArrowheads="1"/>
          </p:cNvSpPr>
          <p:nvPr/>
        </p:nvSpPr>
        <p:spPr bwMode="auto">
          <a:xfrm>
            <a:off x="7499350" y="2209800"/>
            <a:ext cx="1116013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000">
                <a:solidFill>
                  <a:schemeClr val="accent2"/>
                </a:solidFill>
                <a:latin typeface="Tahoma" pitchFamily="34" charset="0"/>
              </a:rPr>
              <a:t>FFF4</a:t>
            </a:r>
          </a:p>
        </p:txBody>
      </p:sp>
      <p:sp>
        <p:nvSpPr>
          <p:cNvPr id="26631" name="Rectangle 6" descr="Light upward diagonal"/>
          <p:cNvSpPr>
            <a:spLocks noChangeArrowheads="1"/>
          </p:cNvSpPr>
          <p:nvPr/>
        </p:nvSpPr>
        <p:spPr bwMode="auto">
          <a:xfrm>
            <a:off x="7499350" y="3078163"/>
            <a:ext cx="1116013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26632" name="Rectangle 7" descr="Light upward diagonal"/>
          <p:cNvSpPr>
            <a:spLocks noChangeArrowheads="1"/>
          </p:cNvSpPr>
          <p:nvPr/>
        </p:nvSpPr>
        <p:spPr bwMode="auto">
          <a:xfrm>
            <a:off x="7499350" y="3513138"/>
            <a:ext cx="1116013" cy="4333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26633" name="Rectangle 8" descr="Light upward diagonal"/>
          <p:cNvSpPr>
            <a:spLocks noChangeArrowheads="1"/>
          </p:cNvSpPr>
          <p:nvPr/>
        </p:nvSpPr>
        <p:spPr bwMode="auto">
          <a:xfrm>
            <a:off x="7499350" y="3946525"/>
            <a:ext cx="1116013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000">
                <a:solidFill>
                  <a:schemeClr val="accent2"/>
                </a:solidFill>
                <a:latin typeface="Tahoma" pitchFamily="34" charset="0"/>
              </a:rPr>
              <a:t>27.4</a:t>
            </a:r>
          </a:p>
        </p:txBody>
      </p:sp>
      <p:sp>
        <p:nvSpPr>
          <p:cNvPr id="26634" name="Rectangle 9" descr="Light upward diagonal"/>
          <p:cNvSpPr>
            <a:spLocks noChangeArrowheads="1"/>
          </p:cNvSpPr>
          <p:nvPr/>
        </p:nvSpPr>
        <p:spPr bwMode="auto">
          <a:xfrm>
            <a:off x="7499350" y="4381500"/>
            <a:ext cx="1116013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26635" name="Rectangle 10" descr="Light upward diagonal"/>
          <p:cNvSpPr>
            <a:spLocks noChangeArrowheads="1"/>
          </p:cNvSpPr>
          <p:nvPr/>
        </p:nvSpPr>
        <p:spPr bwMode="auto">
          <a:xfrm>
            <a:off x="7499350" y="4816475"/>
            <a:ext cx="1116013" cy="4333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26636" name="Rectangle 12"/>
          <p:cNvSpPr>
            <a:spLocks noChangeArrowheads="1"/>
          </p:cNvSpPr>
          <p:nvPr/>
        </p:nvSpPr>
        <p:spPr bwMode="auto">
          <a:xfrm>
            <a:off x="6477000" y="2644775"/>
            <a:ext cx="1022350" cy="4333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FFF1</a:t>
            </a:r>
          </a:p>
        </p:txBody>
      </p:sp>
      <p:sp>
        <p:nvSpPr>
          <p:cNvPr id="26637" name="Rectangle 13"/>
          <p:cNvSpPr>
            <a:spLocks noChangeArrowheads="1"/>
          </p:cNvSpPr>
          <p:nvPr/>
        </p:nvSpPr>
        <p:spPr bwMode="auto">
          <a:xfrm>
            <a:off x="6477000" y="2209800"/>
            <a:ext cx="1022350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FFF0</a:t>
            </a:r>
          </a:p>
        </p:txBody>
      </p:sp>
      <p:sp>
        <p:nvSpPr>
          <p:cNvPr id="26638" name="Rectangle 15"/>
          <p:cNvSpPr>
            <a:spLocks noChangeArrowheads="1"/>
          </p:cNvSpPr>
          <p:nvPr/>
        </p:nvSpPr>
        <p:spPr bwMode="auto">
          <a:xfrm>
            <a:off x="6477000" y="3078163"/>
            <a:ext cx="1022350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FFF2</a:t>
            </a:r>
          </a:p>
        </p:txBody>
      </p:sp>
      <p:sp>
        <p:nvSpPr>
          <p:cNvPr id="26639" name="Rectangle 16"/>
          <p:cNvSpPr>
            <a:spLocks noChangeArrowheads="1"/>
          </p:cNvSpPr>
          <p:nvPr/>
        </p:nvSpPr>
        <p:spPr bwMode="auto">
          <a:xfrm>
            <a:off x="6477000" y="3513138"/>
            <a:ext cx="1022350" cy="4333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FFF3</a:t>
            </a:r>
          </a:p>
        </p:txBody>
      </p:sp>
      <p:sp>
        <p:nvSpPr>
          <p:cNvPr id="26640" name="Rectangle 17"/>
          <p:cNvSpPr>
            <a:spLocks noChangeArrowheads="1"/>
          </p:cNvSpPr>
          <p:nvPr/>
        </p:nvSpPr>
        <p:spPr bwMode="auto">
          <a:xfrm>
            <a:off x="6477000" y="3946525"/>
            <a:ext cx="1022350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FFF4</a:t>
            </a:r>
          </a:p>
        </p:txBody>
      </p:sp>
      <p:sp>
        <p:nvSpPr>
          <p:cNvPr id="26641" name="Rectangle 18"/>
          <p:cNvSpPr>
            <a:spLocks noChangeArrowheads="1"/>
          </p:cNvSpPr>
          <p:nvPr/>
        </p:nvSpPr>
        <p:spPr bwMode="auto">
          <a:xfrm>
            <a:off x="6477000" y="4381500"/>
            <a:ext cx="1022350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FFF5</a:t>
            </a:r>
          </a:p>
        </p:txBody>
      </p:sp>
      <p:sp>
        <p:nvSpPr>
          <p:cNvPr id="26642" name="Rectangle 19"/>
          <p:cNvSpPr>
            <a:spLocks noChangeArrowheads="1"/>
          </p:cNvSpPr>
          <p:nvPr/>
        </p:nvSpPr>
        <p:spPr bwMode="auto">
          <a:xfrm>
            <a:off x="6477000" y="4816475"/>
            <a:ext cx="1022350" cy="4333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FFF6</a:t>
            </a:r>
          </a:p>
        </p:txBody>
      </p:sp>
      <p:sp>
        <p:nvSpPr>
          <p:cNvPr id="26643" name="Text Box 21"/>
          <p:cNvSpPr txBox="1">
            <a:spLocks noChangeArrowheads="1"/>
          </p:cNvSpPr>
          <p:nvPr/>
        </p:nvSpPr>
        <p:spPr bwMode="auto">
          <a:xfrm>
            <a:off x="5643563" y="2133600"/>
            <a:ext cx="685800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rIns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i="1">
                <a:solidFill>
                  <a:schemeClr val="tx2"/>
                </a:solidFill>
                <a:latin typeface="Tahoma" pitchFamily="34" charset="0"/>
              </a:rPr>
              <a:t>ptr</a:t>
            </a:r>
            <a:endParaRPr lang="en-US" sz="1200" i="1">
              <a:solidFill>
                <a:schemeClr val="tx2"/>
              </a:solidFill>
              <a:latin typeface="Tahoma" pitchFamily="34" charset="0"/>
            </a:endParaRPr>
          </a:p>
        </p:txBody>
      </p:sp>
      <p:sp>
        <p:nvSpPr>
          <p:cNvPr id="26644" name="Text Box 22"/>
          <p:cNvSpPr txBox="1">
            <a:spLocks noChangeArrowheads="1"/>
          </p:cNvSpPr>
          <p:nvPr/>
        </p:nvSpPr>
        <p:spPr bwMode="auto">
          <a:xfrm>
            <a:off x="5643563" y="3962400"/>
            <a:ext cx="685800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rIns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i="1">
                <a:solidFill>
                  <a:schemeClr val="tx2"/>
                </a:solidFill>
                <a:latin typeface="Tahoma" pitchFamily="34" charset="0"/>
              </a:rPr>
              <a:t>data</a:t>
            </a:r>
            <a:endParaRPr lang="en-US" sz="1200" i="1">
              <a:solidFill>
                <a:schemeClr val="tx2"/>
              </a:solidFill>
              <a:latin typeface="Tahoma" pitchFamily="34" charset="0"/>
            </a:endParaRPr>
          </a:p>
        </p:txBody>
      </p:sp>
      <p:grpSp>
        <p:nvGrpSpPr>
          <p:cNvPr id="26645" name="Group 23"/>
          <p:cNvGrpSpPr>
            <a:grpSpLocks/>
          </p:cNvGrpSpPr>
          <p:nvPr/>
        </p:nvGrpSpPr>
        <p:grpSpPr bwMode="auto">
          <a:xfrm>
            <a:off x="6248400" y="1905000"/>
            <a:ext cx="2590800" cy="2286000"/>
            <a:chOff x="1296" y="2640"/>
            <a:chExt cx="1632" cy="1440"/>
          </a:xfrm>
        </p:grpSpPr>
        <p:sp>
          <p:nvSpPr>
            <p:cNvPr id="26652" name="Line 24"/>
            <p:cNvSpPr>
              <a:spLocks noChangeShapeType="1"/>
            </p:cNvSpPr>
            <p:nvPr/>
          </p:nvSpPr>
          <p:spPr bwMode="auto">
            <a:xfrm flipH="1">
              <a:off x="2640" y="2976"/>
              <a:ext cx="2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53" name="Line 25"/>
            <p:cNvSpPr>
              <a:spLocks noChangeShapeType="1"/>
            </p:cNvSpPr>
            <p:nvPr/>
          </p:nvSpPr>
          <p:spPr bwMode="auto">
            <a:xfrm flipH="1" flipV="1">
              <a:off x="2928" y="2640"/>
              <a:ext cx="0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54" name="Line 26"/>
            <p:cNvSpPr>
              <a:spLocks noChangeShapeType="1"/>
            </p:cNvSpPr>
            <p:nvPr/>
          </p:nvSpPr>
          <p:spPr bwMode="auto">
            <a:xfrm>
              <a:off x="1296" y="2640"/>
              <a:ext cx="16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55" name="Line 27"/>
            <p:cNvSpPr>
              <a:spLocks noChangeShapeType="1"/>
            </p:cNvSpPr>
            <p:nvPr/>
          </p:nvSpPr>
          <p:spPr bwMode="auto">
            <a:xfrm flipH="1">
              <a:off x="1296" y="2640"/>
              <a:ext cx="0" cy="14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56" name="Line 28"/>
            <p:cNvSpPr>
              <a:spLocks noChangeShapeType="1"/>
            </p:cNvSpPr>
            <p:nvPr/>
          </p:nvSpPr>
          <p:spPr bwMode="auto">
            <a:xfrm flipV="1">
              <a:off x="1296" y="4080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6646" name="Rectangle 29"/>
          <p:cNvSpPr>
            <a:spLocks noChangeArrowheads="1"/>
          </p:cNvSpPr>
          <p:nvPr/>
        </p:nvSpPr>
        <p:spPr bwMode="auto">
          <a:xfrm>
            <a:off x="457200" y="1828800"/>
            <a:ext cx="5105400" cy="4648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46038" rIns="0" bIns="46038"/>
          <a:lstStyle/>
          <a:p>
            <a:pPr marL="342900" indent="-342900"/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#include &lt;iostream.h&gt;</a:t>
            </a:r>
          </a:p>
          <a:p>
            <a:pPr marL="342900" indent="-342900"/>
            <a:endParaRPr lang="en-US" sz="2000" b="1">
              <a:solidFill>
                <a:schemeClr val="tx2"/>
              </a:solidFill>
              <a:latin typeface="Courier New" pitchFamily="49" charset="0"/>
            </a:endParaRPr>
          </a:p>
          <a:p>
            <a:pPr marL="342900" indent="-342900"/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void main()</a:t>
            </a:r>
          </a:p>
          <a:p>
            <a:pPr marL="342900" indent="-342900"/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{</a:t>
            </a:r>
          </a:p>
          <a:p>
            <a:pPr marL="342900" indent="-342900"/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   float data = 50.8;</a:t>
            </a:r>
          </a:p>
          <a:p>
            <a:pPr marL="342900" indent="-342900"/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   float *ptr;</a:t>
            </a:r>
          </a:p>
          <a:p>
            <a:pPr marL="342900" indent="-342900"/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   ptr = &amp;data;</a:t>
            </a:r>
          </a:p>
          <a:p>
            <a:pPr marL="342900" indent="-342900"/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   cout &lt;&lt; ptr &lt;&lt; *ptr &lt;&lt; endl;</a:t>
            </a:r>
          </a:p>
          <a:p>
            <a:pPr marL="342900" indent="-342900"/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   *ptr = 27.4;</a:t>
            </a:r>
          </a:p>
          <a:p>
            <a:pPr marL="342900" indent="-342900"/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   cout &lt;&lt; *ptr &lt;&lt; endl;</a:t>
            </a:r>
          </a:p>
          <a:p>
            <a:pPr marL="342900" indent="-342900"/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   cout &lt;&lt; data &lt;&lt; endl;</a:t>
            </a:r>
          </a:p>
          <a:p>
            <a:pPr marL="342900" indent="-342900"/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}</a:t>
            </a:r>
          </a:p>
          <a:p>
            <a:pPr marL="342900" indent="-342900"/>
            <a:endParaRPr lang="en-US" sz="2000" b="1">
              <a:solidFill>
                <a:schemeClr val="tx2"/>
              </a:solidFill>
              <a:latin typeface="Courier New" pitchFamily="49" charset="0"/>
            </a:endParaRPr>
          </a:p>
          <a:p>
            <a:pPr marL="342900" indent="-342900"/>
            <a:r>
              <a:rPr lang="en-US" sz="2000" u="sng">
                <a:solidFill>
                  <a:schemeClr val="bg1"/>
                </a:solidFill>
                <a:latin typeface="Tahoma" pitchFamily="34" charset="0"/>
              </a:rPr>
              <a:t>Output:</a:t>
            </a:r>
            <a:endParaRPr lang="en-US" sz="2000">
              <a:solidFill>
                <a:schemeClr val="bg1"/>
              </a:solidFill>
              <a:latin typeface="Tahoma" pitchFamily="34" charset="0"/>
            </a:endParaRPr>
          </a:p>
          <a:p>
            <a:pPr marL="342900" indent="-342900"/>
            <a:endParaRPr lang="en-US" sz="2000">
              <a:solidFill>
                <a:schemeClr val="bg1"/>
              </a:solidFill>
              <a:latin typeface="Tahoma" pitchFamily="34" charset="0"/>
            </a:endParaRPr>
          </a:p>
          <a:p>
            <a:pPr marL="342900" indent="-342900"/>
            <a:r>
              <a:rPr lang="en-US" sz="2000">
                <a:solidFill>
                  <a:schemeClr val="bg1"/>
                </a:solidFill>
                <a:latin typeface="Tahoma" pitchFamily="34" charset="0"/>
              </a:rPr>
              <a:t>27.4</a:t>
            </a:r>
          </a:p>
        </p:txBody>
      </p:sp>
      <p:sp>
        <p:nvSpPr>
          <p:cNvPr id="26647" name="AutoShape 30"/>
          <p:cNvSpPr>
            <a:spLocks noChangeArrowheads="1"/>
          </p:cNvSpPr>
          <p:nvPr/>
        </p:nvSpPr>
        <p:spPr bwMode="auto">
          <a:xfrm>
            <a:off x="0" y="4724400"/>
            <a:ext cx="533400" cy="152400"/>
          </a:xfrm>
          <a:prstGeom prst="rightArrow">
            <a:avLst>
              <a:gd name="adj1" fmla="val 50000"/>
              <a:gd name="adj2" fmla="val 875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26648" name="Rectangle 33" descr="Light upward diagonal"/>
          <p:cNvSpPr>
            <a:spLocks noChangeArrowheads="1"/>
          </p:cNvSpPr>
          <p:nvPr/>
        </p:nvSpPr>
        <p:spPr bwMode="auto">
          <a:xfrm>
            <a:off x="7499350" y="5791200"/>
            <a:ext cx="1116013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26649" name="Line 34" descr="Light upward diagonal"/>
          <p:cNvSpPr>
            <a:spLocks noChangeShapeType="1"/>
          </p:cNvSpPr>
          <p:nvPr/>
        </p:nvSpPr>
        <p:spPr bwMode="auto">
          <a:xfrm>
            <a:off x="8058150" y="5337175"/>
            <a:ext cx="1588" cy="377825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50" name="Rectangle 35"/>
          <p:cNvSpPr>
            <a:spLocks noChangeArrowheads="1"/>
          </p:cNvSpPr>
          <p:nvPr/>
        </p:nvSpPr>
        <p:spPr bwMode="auto">
          <a:xfrm>
            <a:off x="6477000" y="5791200"/>
            <a:ext cx="1022350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b="1">
              <a:latin typeface="Courier New" pitchFamily="49" charset="0"/>
            </a:endParaRPr>
          </a:p>
        </p:txBody>
      </p:sp>
      <p:sp>
        <p:nvSpPr>
          <p:cNvPr id="26651" name="Line 36"/>
          <p:cNvSpPr>
            <a:spLocks noChangeShapeType="1"/>
          </p:cNvSpPr>
          <p:nvPr/>
        </p:nvSpPr>
        <p:spPr bwMode="auto">
          <a:xfrm>
            <a:off x="6942138" y="5337175"/>
            <a:ext cx="1587" cy="377825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3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Dereferencing Example (Cont ..)</a:t>
            </a:r>
          </a:p>
        </p:txBody>
      </p:sp>
      <p:sp>
        <p:nvSpPr>
          <p:cNvPr id="33" name="Slide Number Placeholder 3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FB7F53-FD46-46B0-9661-C714D1A30CA8}" type="slidenum">
              <a:rPr lang="en-US"/>
              <a:pPr>
                <a:defRPr/>
              </a:pPr>
              <a:t>23</a:t>
            </a:fld>
            <a:endParaRPr lang="en-US"/>
          </a:p>
        </p:txBody>
      </p:sp>
      <p:sp>
        <p:nvSpPr>
          <p:cNvPr id="27653" name="Rectangle 3" descr="Light upward diagonal"/>
          <p:cNvSpPr>
            <a:spLocks noChangeArrowheads="1"/>
          </p:cNvSpPr>
          <p:nvPr/>
        </p:nvSpPr>
        <p:spPr bwMode="auto">
          <a:xfrm>
            <a:off x="7499350" y="2644775"/>
            <a:ext cx="1116013" cy="4333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sz="2000">
              <a:solidFill>
                <a:schemeClr val="accent2"/>
              </a:solidFill>
              <a:latin typeface="Tahoma" pitchFamily="34" charset="0"/>
            </a:endParaRPr>
          </a:p>
        </p:txBody>
      </p:sp>
      <p:sp>
        <p:nvSpPr>
          <p:cNvPr id="27654" name="Rectangle 4" descr="Light upward diagonal"/>
          <p:cNvSpPr>
            <a:spLocks noChangeArrowheads="1"/>
          </p:cNvSpPr>
          <p:nvPr/>
        </p:nvSpPr>
        <p:spPr bwMode="auto">
          <a:xfrm>
            <a:off x="7499350" y="2209800"/>
            <a:ext cx="1116013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000">
                <a:solidFill>
                  <a:schemeClr val="accent2"/>
                </a:solidFill>
                <a:latin typeface="Tahoma" pitchFamily="34" charset="0"/>
              </a:rPr>
              <a:t>FFF4</a:t>
            </a:r>
          </a:p>
        </p:txBody>
      </p:sp>
      <p:sp>
        <p:nvSpPr>
          <p:cNvPr id="27655" name="Rectangle 6" descr="Light upward diagonal"/>
          <p:cNvSpPr>
            <a:spLocks noChangeArrowheads="1"/>
          </p:cNvSpPr>
          <p:nvPr/>
        </p:nvSpPr>
        <p:spPr bwMode="auto">
          <a:xfrm>
            <a:off x="7499350" y="3078163"/>
            <a:ext cx="1116013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27656" name="Rectangle 7" descr="Light upward diagonal"/>
          <p:cNvSpPr>
            <a:spLocks noChangeArrowheads="1"/>
          </p:cNvSpPr>
          <p:nvPr/>
        </p:nvSpPr>
        <p:spPr bwMode="auto">
          <a:xfrm>
            <a:off x="7499350" y="3513138"/>
            <a:ext cx="1116013" cy="4333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27657" name="Rectangle 8" descr="Light upward diagonal"/>
          <p:cNvSpPr>
            <a:spLocks noChangeArrowheads="1"/>
          </p:cNvSpPr>
          <p:nvPr/>
        </p:nvSpPr>
        <p:spPr bwMode="auto">
          <a:xfrm>
            <a:off x="7499350" y="3946525"/>
            <a:ext cx="1116013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000">
                <a:solidFill>
                  <a:schemeClr val="accent2"/>
                </a:solidFill>
                <a:latin typeface="Tahoma" pitchFamily="34" charset="0"/>
              </a:rPr>
              <a:t>27.4</a:t>
            </a:r>
          </a:p>
        </p:txBody>
      </p:sp>
      <p:sp>
        <p:nvSpPr>
          <p:cNvPr id="27658" name="Rectangle 9" descr="Light upward diagonal"/>
          <p:cNvSpPr>
            <a:spLocks noChangeArrowheads="1"/>
          </p:cNvSpPr>
          <p:nvPr/>
        </p:nvSpPr>
        <p:spPr bwMode="auto">
          <a:xfrm>
            <a:off x="7499350" y="4381500"/>
            <a:ext cx="1116013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27659" name="Rectangle 10" descr="Light upward diagonal"/>
          <p:cNvSpPr>
            <a:spLocks noChangeArrowheads="1"/>
          </p:cNvSpPr>
          <p:nvPr/>
        </p:nvSpPr>
        <p:spPr bwMode="auto">
          <a:xfrm>
            <a:off x="7499350" y="4816475"/>
            <a:ext cx="1116013" cy="4333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27660" name="Rectangle 12"/>
          <p:cNvSpPr>
            <a:spLocks noChangeArrowheads="1"/>
          </p:cNvSpPr>
          <p:nvPr/>
        </p:nvSpPr>
        <p:spPr bwMode="auto">
          <a:xfrm>
            <a:off x="6477000" y="2644775"/>
            <a:ext cx="1022350" cy="4333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FFF1</a:t>
            </a:r>
          </a:p>
        </p:txBody>
      </p:sp>
      <p:sp>
        <p:nvSpPr>
          <p:cNvPr id="27661" name="Rectangle 13"/>
          <p:cNvSpPr>
            <a:spLocks noChangeArrowheads="1"/>
          </p:cNvSpPr>
          <p:nvPr/>
        </p:nvSpPr>
        <p:spPr bwMode="auto">
          <a:xfrm>
            <a:off x="6477000" y="2209800"/>
            <a:ext cx="1022350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FFF0</a:t>
            </a:r>
          </a:p>
        </p:txBody>
      </p:sp>
      <p:sp>
        <p:nvSpPr>
          <p:cNvPr id="27662" name="Rectangle 15"/>
          <p:cNvSpPr>
            <a:spLocks noChangeArrowheads="1"/>
          </p:cNvSpPr>
          <p:nvPr/>
        </p:nvSpPr>
        <p:spPr bwMode="auto">
          <a:xfrm>
            <a:off x="6477000" y="3078163"/>
            <a:ext cx="1022350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FFF2</a:t>
            </a:r>
          </a:p>
        </p:txBody>
      </p:sp>
      <p:sp>
        <p:nvSpPr>
          <p:cNvPr id="27663" name="Rectangle 16"/>
          <p:cNvSpPr>
            <a:spLocks noChangeArrowheads="1"/>
          </p:cNvSpPr>
          <p:nvPr/>
        </p:nvSpPr>
        <p:spPr bwMode="auto">
          <a:xfrm>
            <a:off x="6477000" y="3513138"/>
            <a:ext cx="1022350" cy="4333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FFF3</a:t>
            </a:r>
          </a:p>
        </p:txBody>
      </p:sp>
      <p:sp>
        <p:nvSpPr>
          <p:cNvPr id="27664" name="Rectangle 17"/>
          <p:cNvSpPr>
            <a:spLocks noChangeArrowheads="1"/>
          </p:cNvSpPr>
          <p:nvPr/>
        </p:nvSpPr>
        <p:spPr bwMode="auto">
          <a:xfrm>
            <a:off x="6477000" y="3946525"/>
            <a:ext cx="1022350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FFF4</a:t>
            </a:r>
          </a:p>
        </p:txBody>
      </p:sp>
      <p:sp>
        <p:nvSpPr>
          <p:cNvPr id="27665" name="Rectangle 18"/>
          <p:cNvSpPr>
            <a:spLocks noChangeArrowheads="1"/>
          </p:cNvSpPr>
          <p:nvPr/>
        </p:nvSpPr>
        <p:spPr bwMode="auto">
          <a:xfrm>
            <a:off x="6477000" y="4381500"/>
            <a:ext cx="1022350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FFF5</a:t>
            </a:r>
          </a:p>
        </p:txBody>
      </p:sp>
      <p:sp>
        <p:nvSpPr>
          <p:cNvPr id="27666" name="Rectangle 19"/>
          <p:cNvSpPr>
            <a:spLocks noChangeArrowheads="1"/>
          </p:cNvSpPr>
          <p:nvPr/>
        </p:nvSpPr>
        <p:spPr bwMode="auto">
          <a:xfrm>
            <a:off x="6477000" y="4816475"/>
            <a:ext cx="1022350" cy="4333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FFF6</a:t>
            </a:r>
          </a:p>
        </p:txBody>
      </p:sp>
      <p:sp>
        <p:nvSpPr>
          <p:cNvPr id="27667" name="Text Box 21"/>
          <p:cNvSpPr txBox="1">
            <a:spLocks noChangeArrowheads="1"/>
          </p:cNvSpPr>
          <p:nvPr/>
        </p:nvSpPr>
        <p:spPr bwMode="auto">
          <a:xfrm>
            <a:off x="5643563" y="2133600"/>
            <a:ext cx="685800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rIns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i="1">
                <a:solidFill>
                  <a:schemeClr val="tx2"/>
                </a:solidFill>
                <a:latin typeface="Tahoma" pitchFamily="34" charset="0"/>
              </a:rPr>
              <a:t>ptr</a:t>
            </a:r>
            <a:endParaRPr lang="en-US" sz="1200" i="1">
              <a:solidFill>
                <a:schemeClr val="tx2"/>
              </a:solidFill>
              <a:latin typeface="Tahoma" pitchFamily="34" charset="0"/>
            </a:endParaRPr>
          </a:p>
        </p:txBody>
      </p:sp>
      <p:sp>
        <p:nvSpPr>
          <p:cNvPr id="27668" name="Text Box 22"/>
          <p:cNvSpPr txBox="1">
            <a:spLocks noChangeArrowheads="1"/>
          </p:cNvSpPr>
          <p:nvPr/>
        </p:nvSpPr>
        <p:spPr bwMode="auto">
          <a:xfrm>
            <a:off x="5643563" y="3962400"/>
            <a:ext cx="685800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rIns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i="1">
                <a:solidFill>
                  <a:schemeClr val="tx2"/>
                </a:solidFill>
                <a:latin typeface="Tahoma" pitchFamily="34" charset="0"/>
              </a:rPr>
              <a:t>data</a:t>
            </a:r>
            <a:endParaRPr lang="en-US" sz="1200" i="1">
              <a:solidFill>
                <a:schemeClr val="tx2"/>
              </a:solidFill>
              <a:latin typeface="Tahoma" pitchFamily="34" charset="0"/>
            </a:endParaRPr>
          </a:p>
        </p:txBody>
      </p:sp>
      <p:grpSp>
        <p:nvGrpSpPr>
          <p:cNvPr id="27669" name="Group 23"/>
          <p:cNvGrpSpPr>
            <a:grpSpLocks/>
          </p:cNvGrpSpPr>
          <p:nvPr/>
        </p:nvGrpSpPr>
        <p:grpSpPr bwMode="auto">
          <a:xfrm>
            <a:off x="6248400" y="1905000"/>
            <a:ext cx="2590800" cy="2286000"/>
            <a:chOff x="1296" y="2640"/>
            <a:chExt cx="1632" cy="1440"/>
          </a:xfrm>
        </p:grpSpPr>
        <p:sp>
          <p:nvSpPr>
            <p:cNvPr id="27676" name="Line 24"/>
            <p:cNvSpPr>
              <a:spLocks noChangeShapeType="1"/>
            </p:cNvSpPr>
            <p:nvPr/>
          </p:nvSpPr>
          <p:spPr bwMode="auto">
            <a:xfrm flipH="1">
              <a:off x="2640" y="2976"/>
              <a:ext cx="2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77" name="Line 25"/>
            <p:cNvSpPr>
              <a:spLocks noChangeShapeType="1"/>
            </p:cNvSpPr>
            <p:nvPr/>
          </p:nvSpPr>
          <p:spPr bwMode="auto">
            <a:xfrm flipH="1" flipV="1">
              <a:off x="2928" y="2640"/>
              <a:ext cx="0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78" name="Line 26"/>
            <p:cNvSpPr>
              <a:spLocks noChangeShapeType="1"/>
            </p:cNvSpPr>
            <p:nvPr/>
          </p:nvSpPr>
          <p:spPr bwMode="auto">
            <a:xfrm>
              <a:off x="1296" y="2640"/>
              <a:ext cx="16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79" name="Line 27"/>
            <p:cNvSpPr>
              <a:spLocks noChangeShapeType="1"/>
            </p:cNvSpPr>
            <p:nvPr/>
          </p:nvSpPr>
          <p:spPr bwMode="auto">
            <a:xfrm flipH="1">
              <a:off x="1296" y="2640"/>
              <a:ext cx="0" cy="14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80" name="Line 28"/>
            <p:cNvSpPr>
              <a:spLocks noChangeShapeType="1"/>
            </p:cNvSpPr>
            <p:nvPr/>
          </p:nvSpPr>
          <p:spPr bwMode="auto">
            <a:xfrm flipV="1">
              <a:off x="1296" y="4080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7670" name="Rectangle 29"/>
          <p:cNvSpPr>
            <a:spLocks noChangeArrowheads="1"/>
          </p:cNvSpPr>
          <p:nvPr/>
        </p:nvSpPr>
        <p:spPr bwMode="auto">
          <a:xfrm>
            <a:off x="457200" y="1828800"/>
            <a:ext cx="5105400" cy="4648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46038" rIns="0" bIns="46038"/>
          <a:lstStyle/>
          <a:p>
            <a:pPr marL="342900" indent="-342900"/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#include &lt;iostream.h&gt;</a:t>
            </a:r>
          </a:p>
          <a:p>
            <a:pPr marL="342900" indent="-342900"/>
            <a:endParaRPr lang="en-US" sz="2000" b="1">
              <a:solidFill>
                <a:schemeClr val="tx2"/>
              </a:solidFill>
              <a:latin typeface="Courier New" pitchFamily="49" charset="0"/>
            </a:endParaRPr>
          </a:p>
          <a:p>
            <a:pPr marL="342900" indent="-342900"/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void main()</a:t>
            </a:r>
          </a:p>
          <a:p>
            <a:pPr marL="342900" indent="-342900"/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{</a:t>
            </a:r>
          </a:p>
          <a:p>
            <a:pPr marL="342900" indent="-342900"/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   float data = 50.8;</a:t>
            </a:r>
          </a:p>
          <a:p>
            <a:pPr marL="342900" indent="-342900"/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   float *ptr;</a:t>
            </a:r>
          </a:p>
          <a:p>
            <a:pPr marL="342900" indent="-342900"/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   ptr = &amp;data;</a:t>
            </a:r>
          </a:p>
          <a:p>
            <a:pPr marL="342900" indent="-342900"/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   cout &lt;&lt; ptr &lt;&lt; *ptr &lt;&lt; endl;</a:t>
            </a:r>
          </a:p>
          <a:p>
            <a:pPr marL="342900" indent="-342900"/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   *ptr = 27.4;</a:t>
            </a:r>
          </a:p>
          <a:p>
            <a:pPr marL="342900" indent="-342900"/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   cout &lt;&lt; *ptr &lt;&lt; endl;</a:t>
            </a:r>
          </a:p>
          <a:p>
            <a:pPr marL="342900" indent="-342900"/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   cout &lt;&lt; data &lt;&lt; endl;</a:t>
            </a:r>
          </a:p>
          <a:p>
            <a:pPr marL="342900" indent="-342900"/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}</a:t>
            </a:r>
          </a:p>
          <a:p>
            <a:pPr marL="342900" indent="-342900"/>
            <a:endParaRPr lang="en-US" sz="2000" b="1">
              <a:solidFill>
                <a:schemeClr val="tx2"/>
              </a:solidFill>
              <a:latin typeface="Courier New" pitchFamily="49" charset="0"/>
            </a:endParaRPr>
          </a:p>
          <a:p>
            <a:pPr marL="342900" indent="-342900"/>
            <a:r>
              <a:rPr lang="en-US" sz="2000" u="sng">
                <a:solidFill>
                  <a:schemeClr val="bg1"/>
                </a:solidFill>
                <a:latin typeface="Tahoma" pitchFamily="34" charset="0"/>
              </a:rPr>
              <a:t>Output:</a:t>
            </a:r>
            <a:endParaRPr lang="en-US" sz="2000">
              <a:solidFill>
                <a:schemeClr val="bg1"/>
              </a:solidFill>
              <a:latin typeface="Tahoma" pitchFamily="34" charset="0"/>
            </a:endParaRPr>
          </a:p>
          <a:p>
            <a:pPr marL="342900" indent="-342900"/>
            <a:endParaRPr lang="en-US" sz="2000">
              <a:solidFill>
                <a:schemeClr val="bg1"/>
              </a:solidFill>
              <a:latin typeface="Tahoma" pitchFamily="34" charset="0"/>
            </a:endParaRPr>
          </a:p>
          <a:p>
            <a:pPr marL="342900" indent="-342900"/>
            <a:r>
              <a:rPr lang="en-US" sz="2000">
                <a:solidFill>
                  <a:schemeClr val="bg1"/>
                </a:solidFill>
                <a:latin typeface="Tahoma" pitchFamily="34" charset="0"/>
              </a:rPr>
              <a:t>27.4</a:t>
            </a:r>
          </a:p>
        </p:txBody>
      </p:sp>
      <p:sp>
        <p:nvSpPr>
          <p:cNvPr id="27671" name="AutoShape 30"/>
          <p:cNvSpPr>
            <a:spLocks noChangeArrowheads="1"/>
          </p:cNvSpPr>
          <p:nvPr/>
        </p:nvSpPr>
        <p:spPr bwMode="auto">
          <a:xfrm>
            <a:off x="0" y="5029200"/>
            <a:ext cx="533400" cy="152400"/>
          </a:xfrm>
          <a:prstGeom prst="rightArrow">
            <a:avLst>
              <a:gd name="adj1" fmla="val 50000"/>
              <a:gd name="adj2" fmla="val 875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27672" name="Rectangle 32" descr="Light upward diagonal"/>
          <p:cNvSpPr>
            <a:spLocks noChangeArrowheads="1"/>
          </p:cNvSpPr>
          <p:nvPr/>
        </p:nvSpPr>
        <p:spPr bwMode="auto">
          <a:xfrm>
            <a:off x="7499350" y="5791200"/>
            <a:ext cx="1116013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27673" name="Line 33" descr="Light upward diagonal"/>
          <p:cNvSpPr>
            <a:spLocks noChangeShapeType="1"/>
          </p:cNvSpPr>
          <p:nvPr/>
        </p:nvSpPr>
        <p:spPr bwMode="auto">
          <a:xfrm>
            <a:off x="8058150" y="5337175"/>
            <a:ext cx="1588" cy="377825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74" name="Rectangle 34"/>
          <p:cNvSpPr>
            <a:spLocks noChangeArrowheads="1"/>
          </p:cNvSpPr>
          <p:nvPr/>
        </p:nvSpPr>
        <p:spPr bwMode="auto">
          <a:xfrm>
            <a:off x="6477000" y="5791200"/>
            <a:ext cx="1022350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b="1">
              <a:latin typeface="Courier New" pitchFamily="49" charset="0"/>
            </a:endParaRPr>
          </a:p>
        </p:txBody>
      </p:sp>
      <p:sp>
        <p:nvSpPr>
          <p:cNvPr id="27675" name="Line 35"/>
          <p:cNvSpPr>
            <a:spLocks noChangeShapeType="1"/>
          </p:cNvSpPr>
          <p:nvPr/>
        </p:nvSpPr>
        <p:spPr bwMode="auto">
          <a:xfrm>
            <a:off x="6942138" y="5337175"/>
            <a:ext cx="1587" cy="377825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Operations on Pointer Variables</a:t>
            </a:r>
          </a:p>
        </p:txBody>
      </p:sp>
      <p:sp>
        <p:nvSpPr>
          <p:cNvPr id="1392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Assignment – the value of one pointer variable can be assigned to another pointer variable of the same type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Relational operations - two pointer variables of the same type can be compared for equality, and so on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Some limited arithmetic operations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integer values can be added to and subtracted from a pointer variable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value of one pointer variable can be subtracted from another pointer variable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1F6AE2-DC9A-48DD-BD1E-F1EB84F1164E}" type="slidenum">
              <a:rPr lang="en-US"/>
              <a:pPr>
                <a:defRPr/>
              </a:pPr>
              <a:t>24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9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9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9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9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9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9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9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9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9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9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267" grpId="0" build="p" bldLvl="2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Pointers to arrays</a:t>
            </a:r>
          </a:p>
        </p:txBody>
      </p:sp>
      <p:sp>
        <p:nvSpPr>
          <p:cNvPr id="80899" name="Rectangle 3"/>
          <p:cNvSpPr>
            <a:spLocks noGrp="1" noChangeArrowheads="1"/>
          </p:cNvSpPr>
          <p:nvPr>
            <p:ph idx="1"/>
          </p:nvPr>
        </p:nvSpPr>
        <p:spPr/>
        <p:txBody>
          <a:bodyPr lIns="0" rIns="0"/>
          <a:lstStyle/>
          <a:p>
            <a:pPr eaLnBrk="1" hangingPunct="1">
              <a:spcBef>
                <a:spcPct val="0"/>
              </a:spcBef>
            </a:pPr>
            <a:r>
              <a:rPr lang="en-US" sz="2800" smtClean="0"/>
              <a:t>A pointer variable can be used to access the elements of an array of the same type.</a:t>
            </a:r>
          </a:p>
          <a:p>
            <a:pPr lvl="1" eaLnBrk="1" hangingPunct="1">
              <a:buFontTx/>
              <a:buNone/>
            </a:pPr>
            <a:r>
              <a:rPr lang="en-US" sz="2000" b="1" smtClean="0">
                <a:solidFill>
                  <a:schemeClr val="tx2"/>
                </a:solidFill>
                <a:latin typeface="Courier New" pitchFamily="49" charset="0"/>
              </a:rPr>
              <a:t>  int gradeList[8] = {92,85,75,88,79,54,34,96};</a:t>
            </a:r>
          </a:p>
          <a:p>
            <a:pPr lvl="1" eaLnBrk="1" hangingPunct="1">
              <a:buFontTx/>
              <a:buNone/>
            </a:pPr>
            <a:r>
              <a:rPr lang="en-US" sz="2000" b="1" smtClean="0">
                <a:solidFill>
                  <a:schemeClr val="tx2"/>
                </a:solidFill>
                <a:latin typeface="Courier New" pitchFamily="49" charset="0"/>
              </a:rPr>
              <a:t>  int *myGrades = gradeList;</a:t>
            </a:r>
          </a:p>
          <a:p>
            <a:pPr lvl="1" eaLnBrk="1" hangingPunct="1">
              <a:buFontTx/>
              <a:buNone/>
            </a:pPr>
            <a:r>
              <a:rPr lang="en-US" sz="2000" b="1" smtClean="0">
                <a:solidFill>
                  <a:schemeClr val="tx2"/>
                </a:solidFill>
                <a:latin typeface="Courier New" pitchFamily="49" charset="0"/>
              </a:rPr>
              <a:t>  cout &lt;&lt; gradeList[1];</a:t>
            </a:r>
          </a:p>
          <a:p>
            <a:pPr lvl="1" eaLnBrk="1" hangingPunct="1">
              <a:buFontTx/>
              <a:buNone/>
            </a:pPr>
            <a:r>
              <a:rPr lang="en-US" sz="2000" b="1" smtClean="0">
                <a:solidFill>
                  <a:schemeClr val="tx2"/>
                </a:solidFill>
                <a:latin typeface="Courier New" pitchFamily="49" charset="0"/>
              </a:rPr>
              <a:t>  cout &lt;&lt; *myGrades;</a:t>
            </a:r>
          </a:p>
          <a:p>
            <a:pPr lvl="1" eaLnBrk="1" hangingPunct="1">
              <a:buFontTx/>
              <a:buNone/>
            </a:pPr>
            <a:r>
              <a:rPr lang="en-US" sz="2000" b="1" smtClean="0">
                <a:solidFill>
                  <a:schemeClr val="tx2"/>
                </a:solidFill>
                <a:latin typeface="Courier New" pitchFamily="49" charset="0"/>
              </a:rPr>
              <a:t>  cout &lt;&lt; *(myGrades + 2);</a:t>
            </a:r>
          </a:p>
          <a:p>
            <a:pPr lvl="1" eaLnBrk="1" hangingPunct="1">
              <a:buFontTx/>
              <a:buNone/>
            </a:pPr>
            <a:r>
              <a:rPr lang="en-US" sz="2000" b="1" smtClean="0">
                <a:solidFill>
                  <a:schemeClr val="tx2"/>
                </a:solidFill>
                <a:latin typeface="Courier New" pitchFamily="49" charset="0"/>
              </a:rPr>
              <a:t>  cout &lt;&lt; myGrades[3];</a:t>
            </a:r>
          </a:p>
          <a:p>
            <a:pPr eaLnBrk="1" hangingPunct="1">
              <a:spcBef>
                <a:spcPct val="0"/>
              </a:spcBef>
            </a:pPr>
            <a:r>
              <a:rPr lang="en-US" sz="2800" smtClean="0"/>
              <a:t>Note that the array name </a:t>
            </a:r>
            <a:r>
              <a:rPr lang="en-US" sz="2800" b="1" smtClean="0">
                <a:solidFill>
                  <a:schemeClr val="tx2"/>
                </a:solidFill>
                <a:latin typeface="Courier New" pitchFamily="49" charset="0"/>
              </a:rPr>
              <a:t>gradeList</a:t>
            </a:r>
            <a:r>
              <a:rPr lang="en-US" sz="2800" smtClean="0"/>
              <a:t> acts like the pointer variable </a:t>
            </a:r>
            <a:r>
              <a:rPr lang="en-US" sz="2800" b="1" smtClean="0">
                <a:solidFill>
                  <a:schemeClr val="tx2"/>
                </a:solidFill>
                <a:latin typeface="Courier New" pitchFamily="49" charset="0"/>
              </a:rPr>
              <a:t>myGrades</a:t>
            </a:r>
            <a:r>
              <a:rPr lang="en-US" sz="2800" smtClean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DF52C3-E2F7-4A70-B95B-B5A54DB4A926}" type="slidenum">
              <a:rPr lang="en-US"/>
              <a:pPr>
                <a:defRPr/>
              </a:pPr>
              <a:t>25</a:t>
            </a:fld>
            <a:endParaRPr lang="en-US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0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0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80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0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0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0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0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08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08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08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9" grpId="0" build="p" bldLvl="2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65D04A0-88A5-427B-98B2-6C7FFC2593D9}" type="slidenum">
              <a:rPr lang="en-US"/>
              <a:pPr>
                <a:defRPr/>
              </a:pPr>
              <a:t>26</a:t>
            </a:fld>
            <a:endParaRPr lang="en-US"/>
          </a:p>
        </p:txBody>
      </p:sp>
      <p:sp>
        <p:nvSpPr>
          <p:cNvPr id="30724" name="Rectangle 2"/>
          <p:cNvSpPr>
            <a:spLocks noChangeArrowheads="1"/>
          </p:cNvSpPr>
          <p:nvPr/>
        </p:nvSpPr>
        <p:spPr bwMode="auto">
          <a:xfrm>
            <a:off x="685800" y="26670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="ctr"/>
          <a:lstStyle/>
          <a:p>
            <a:pPr algn="ctr" eaLnBrk="0" hangingPunct="0"/>
            <a:r>
              <a:rPr lang="en-US" sz="4400">
                <a:solidFill>
                  <a:schemeClr val="tx2"/>
                </a:solidFill>
                <a:latin typeface="Tahoma" pitchFamily="34" charset="0"/>
              </a:rPr>
              <a:t>Dynamic Memory Allocation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Types of Program Data</a:t>
            </a:r>
          </a:p>
        </p:txBody>
      </p:sp>
      <p:sp>
        <p:nvSpPr>
          <p:cNvPr id="88067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981200"/>
            <a:ext cx="7924800" cy="4114800"/>
          </a:xfrm>
        </p:spPr>
        <p:txBody>
          <a:bodyPr/>
          <a:lstStyle/>
          <a:p>
            <a:pPr eaLnBrk="1" hangingPunct="1"/>
            <a:r>
              <a:rPr lang="en-US" sz="2800" i="1" smtClean="0"/>
              <a:t>Static Data</a:t>
            </a:r>
            <a:r>
              <a:rPr lang="en-US" sz="2800" smtClean="0"/>
              <a:t>: Memory allocation exists throughout execution of program</a:t>
            </a:r>
          </a:p>
          <a:p>
            <a:pPr eaLnBrk="1" hangingPunct="1"/>
            <a:r>
              <a:rPr lang="en-US" sz="2800" i="1" smtClean="0"/>
              <a:t>Automatic Data</a:t>
            </a:r>
            <a:r>
              <a:rPr lang="en-US" sz="2800" smtClean="0"/>
              <a:t>: Automatically created at function entry, resides in activation frame of the function, and is destroyed when returning from function</a:t>
            </a:r>
          </a:p>
          <a:p>
            <a:pPr eaLnBrk="1" hangingPunct="1"/>
            <a:r>
              <a:rPr lang="en-US" sz="2800" i="1" smtClean="0"/>
              <a:t>Dynamic Data</a:t>
            </a:r>
            <a:r>
              <a:rPr lang="en-US" sz="2800" smtClean="0"/>
              <a:t>: Explicitly allocated and deallocated during program execution by C++ instructions written by programmer</a:t>
            </a:r>
            <a:endParaRPr lang="en-US" sz="240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D8646-9E1C-40B2-BB38-8EA82B76FF5A}" type="slidenum">
              <a:rPr lang="en-US"/>
              <a:pPr>
                <a:defRPr/>
              </a:pPr>
              <a:t>27</a:t>
            </a:fld>
            <a:endParaRPr lang="en-US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8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8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8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8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7" grpId="0" build="p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Allocation of Memory</a:t>
            </a:r>
          </a:p>
        </p:txBody>
      </p:sp>
      <p:sp>
        <p:nvSpPr>
          <p:cNvPr id="890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i="1" smtClean="0"/>
              <a:t>Static Allocation</a:t>
            </a:r>
            <a:r>
              <a:rPr lang="en-US" smtClean="0"/>
              <a:t>: Allocation of memory space at compile time.</a:t>
            </a:r>
          </a:p>
          <a:p>
            <a:pPr eaLnBrk="1" hangingPunct="1">
              <a:spcBef>
                <a:spcPct val="0"/>
              </a:spcBef>
            </a:pPr>
            <a:endParaRPr lang="en-US" smtClean="0"/>
          </a:p>
          <a:p>
            <a:pPr eaLnBrk="1" hangingPunct="1">
              <a:spcBef>
                <a:spcPct val="0"/>
              </a:spcBef>
            </a:pPr>
            <a:r>
              <a:rPr lang="en-US" i="1" smtClean="0"/>
              <a:t>Dynamic Allocation</a:t>
            </a:r>
            <a:r>
              <a:rPr lang="en-US" smtClean="0"/>
              <a:t>: Allocation of memory space at run time.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1E0827-F3D5-4D05-92AD-FCE898608E12}" type="slidenum">
              <a:rPr lang="en-US"/>
              <a:pPr>
                <a:defRPr/>
              </a:pPr>
              <a:t>28</a:t>
            </a:fld>
            <a:endParaRPr lang="en-US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9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9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9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9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1" grpId="0" build="p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323850"/>
            <a:ext cx="6934200" cy="112395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Dynamic memory allocation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981200"/>
            <a:ext cx="8229600" cy="4114800"/>
          </a:xfrm>
        </p:spPr>
        <p:txBody>
          <a:bodyPr lIns="0" tIns="46038" rIns="0" bIns="46038"/>
          <a:lstStyle/>
          <a:p>
            <a:pPr eaLnBrk="1" hangingPunct="1"/>
            <a:r>
              <a:rPr lang="en-US" smtClean="0"/>
              <a:t>Dynamic allocation is useful when</a:t>
            </a:r>
          </a:p>
          <a:p>
            <a:pPr lvl="1" eaLnBrk="1" hangingPunct="1"/>
            <a:r>
              <a:rPr lang="en-US" smtClean="0"/>
              <a:t>arrays need to be created whose extent is not known until run time</a:t>
            </a:r>
          </a:p>
          <a:p>
            <a:pPr lvl="1" eaLnBrk="1" hangingPunct="1"/>
            <a:r>
              <a:rPr lang="en-US" smtClean="0"/>
              <a:t>complex structures of unknown size and/or shape need to be constructed as the program runs</a:t>
            </a:r>
          </a:p>
          <a:p>
            <a:pPr lvl="1" eaLnBrk="1" hangingPunct="1"/>
            <a:r>
              <a:rPr lang="en-US" smtClean="0"/>
              <a:t>objects need to be created and the constructor arguments are not known until run time</a:t>
            </a:r>
          </a:p>
          <a:p>
            <a:pPr lvl="1" eaLnBrk="1" hangingPunct="1"/>
            <a:endParaRPr lang="en-US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58D6F4-40BF-4D3D-A1E3-3F95FA9D4E90}" type="slidenum">
              <a:rPr lang="en-US"/>
              <a:pPr>
                <a:defRPr/>
              </a:pPr>
              <a:t>29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3" name="Rectangle 3"/>
          <p:cNvSpPr>
            <a:spLocks noGrp="1" noChangeArrowheads="1"/>
          </p:cNvSpPr>
          <p:nvPr>
            <p:ph type="title"/>
          </p:nvPr>
        </p:nvSpPr>
        <p:spPr>
          <a:xfrm>
            <a:off x="1828800" y="323850"/>
            <a:ext cx="6934200" cy="112395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Dynamic memory allocation</a:t>
            </a:r>
          </a:p>
        </p:txBody>
      </p:sp>
      <p:sp>
        <p:nvSpPr>
          <p:cNvPr id="92162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Pointers need to be used for dynamic allocation of memory</a:t>
            </a:r>
          </a:p>
          <a:p>
            <a:pPr eaLnBrk="1" hangingPunct="1"/>
            <a:r>
              <a:rPr lang="en-US" smtClean="0"/>
              <a:t>Use the operator </a:t>
            </a:r>
            <a:r>
              <a:rPr lang="en-US" b="1" smtClean="0">
                <a:solidFill>
                  <a:schemeClr val="tx2"/>
                </a:solidFill>
                <a:latin typeface="Courier New" pitchFamily="49" charset="0"/>
              </a:rPr>
              <a:t>new</a:t>
            </a:r>
            <a:r>
              <a:rPr lang="en-US" smtClean="0"/>
              <a:t> to dynamically allocate space</a:t>
            </a:r>
          </a:p>
          <a:p>
            <a:pPr eaLnBrk="1" hangingPunct="1"/>
            <a:r>
              <a:rPr lang="en-US" smtClean="0"/>
              <a:t>Use the operator </a:t>
            </a:r>
            <a:r>
              <a:rPr lang="en-US" b="1" smtClean="0">
                <a:solidFill>
                  <a:schemeClr val="tx2"/>
                </a:solidFill>
                <a:latin typeface="Courier New" pitchFamily="49" charset="0"/>
              </a:rPr>
              <a:t>delete</a:t>
            </a:r>
            <a:r>
              <a:rPr lang="en-US" smtClean="0"/>
              <a:t> to later free this space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598351-4356-4232-8D8F-648CE5935E15}" type="slidenum">
              <a:rPr lang="en-US"/>
              <a:pPr>
                <a:defRPr/>
              </a:pPr>
              <a:t>30</a:t>
            </a:fld>
            <a:endParaRPr lang="en-US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1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1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21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21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21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21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2" grpId="0" build="p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The </a:t>
            </a:r>
            <a:r>
              <a:rPr lang="en-US" b="1" smtClean="0">
                <a:latin typeface="Courier New" pitchFamily="49" charset="0"/>
              </a:rPr>
              <a:t>new</a:t>
            </a:r>
            <a:r>
              <a:rPr lang="en-US" smtClean="0"/>
              <a:t> operator</a:t>
            </a:r>
          </a:p>
        </p:txBody>
      </p:sp>
      <p:sp>
        <p:nvSpPr>
          <p:cNvPr id="93187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981200"/>
            <a:ext cx="8382000" cy="4114800"/>
          </a:xfrm>
        </p:spPr>
        <p:txBody>
          <a:bodyPr lIns="0" rIns="0"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If memory is available, the </a:t>
            </a:r>
            <a:r>
              <a:rPr lang="en-US" b="1" smtClean="0">
                <a:solidFill>
                  <a:schemeClr val="tx2"/>
                </a:solidFill>
                <a:latin typeface="Courier New" pitchFamily="49" charset="0"/>
              </a:rPr>
              <a:t>new </a:t>
            </a:r>
            <a:r>
              <a:rPr lang="en-US" smtClean="0"/>
              <a:t>operator allocates memory space for the requested object/array, and returns a pointer to (address of) the memory allocated.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If sufficient memory is not available, the </a:t>
            </a:r>
            <a:r>
              <a:rPr lang="en-US" b="1" smtClean="0">
                <a:solidFill>
                  <a:schemeClr val="tx2"/>
                </a:solidFill>
                <a:latin typeface="Courier New" pitchFamily="49" charset="0"/>
              </a:rPr>
              <a:t>new </a:t>
            </a:r>
            <a:r>
              <a:rPr lang="en-US" smtClean="0"/>
              <a:t>operator returns </a:t>
            </a:r>
            <a:r>
              <a:rPr lang="en-US" b="1" smtClean="0">
                <a:solidFill>
                  <a:schemeClr val="tx2"/>
                </a:solidFill>
                <a:latin typeface="Courier New" pitchFamily="49" charset="0"/>
              </a:rPr>
              <a:t>NULL</a:t>
            </a:r>
            <a:r>
              <a:rPr lang="en-US" smtClean="0"/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The dynamically allocated object/array exists until the </a:t>
            </a:r>
            <a:r>
              <a:rPr lang="en-US" b="1" smtClean="0">
                <a:solidFill>
                  <a:schemeClr val="tx2"/>
                </a:solidFill>
                <a:latin typeface="Courier New" pitchFamily="49" charset="0"/>
              </a:rPr>
              <a:t>delete</a:t>
            </a:r>
            <a:r>
              <a:rPr lang="en-US" smtClean="0"/>
              <a:t> operator destroys it.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D43FFC-AA46-463D-892F-E13FA2A0CA10}" type="slidenum">
              <a:rPr lang="en-US"/>
              <a:pPr>
                <a:defRPr/>
              </a:pPr>
              <a:t>31</a:t>
            </a:fld>
            <a:endParaRPr lang="en-US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3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3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3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3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3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3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87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The </a:t>
            </a:r>
            <a:r>
              <a:rPr lang="en-US" b="1" smtClean="0">
                <a:latin typeface="Courier New" pitchFamily="49" charset="0"/>
              </a:rPr>
              <a:t>delete</a:t>
            </a:r>
            <a:r>
              <a:rPr lang="en-US" smtClean="0"/>
              <a:t> operator</a:t>
            </a:r>
          </a:p>
        </p:txBody>
      </p:sp>
      <p:sp>
        <p:nvSpPr>
          <p:cNvPr id="94211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905000"/>
            <a:ext cx="8001000" cy="4114800"/>
          </a:xfrm>
        </p:spPr>
        <p:txBody>
          <a:bodyPr lIns="0" rIns="0"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The </a:t>
            </a:r>
            <a:r>
              <a:rPr lang="en-US" b="1" smtClean="0">
                <a:solidFill>
                  <a:schemeClr val="tx2"/>
                </a:solidFill>
                <a:latin typeface="Courier New" pitchFamily="49" charset="0"/>
              </a:rPr>
              <a:t>delete</a:t>
            </a:r>
            <a:r>
              <a:rPr lang="en-US" smtClean="0"/>
              <a:t> operator deallocates the object or array currently pointed to by the pointer which was previously allocated at run-time by the </a:t>
            </a:r>
            <a:r>
              <a:rPr lang="en-US" b="1" smtClean="0">
                <a:solidFill>
                  <a:schemeClr val="tx2"/>
                </a:solidFill>
                <a:latin typeface="Courier New" pitchFamily="49" charset="0"/>
              </a:rPr>
              <a:t>new</a:t>
            </a:r>
            <a:r>
              <a:rPr lang="en-US" smtClean="0"/>
              <a:t> operator.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the freed memory space is returned to Heap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the pointer is then </a:t>
            </a:r>
            <a:r>
              <a:rPr lang="en-US" i="1" smtClean="0"/>
              <a:t>considered</a:t>
            </a:r>
            <a:r>
              <a:rPr lang="en-US" smtClean="0"/>
              <a:t> unassigned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If the value of the pointer is </a:t>
            </a:r>
            <a:r>
              <a:rPr lang="en-US" b="1" smtClean="0">
                <a:solidFill>
                  <a:schemeClr val="tx2"/>
                </a:solidFill>
                <a:latin typeface="Courier New" pitchFamily="49" charset="0"/>
              </a:rPr>
              <a:t>NULL</a:t>
            </a:r>
            <a:r>
              <a:rPr lang="en-US" smtClean="0"/>
              <a:t> there is no effect.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2B1C1A-8E9E-4793-9434-AC786FDC6701}" type="slidenum">
              <a:rPr lang="en-US"/>
              <a:pPr>
                <a:defRPr/>
              </a:pPr>
              <a:t>32</a:t>
            </a:fld>
            <a:endParaRPr lang="en-US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4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4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4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4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4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4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4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4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1" grpId="0" build="p" bldLvl="2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Example</a:t>
            </a:r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D89E53B-A929-48C8-9103-477E8E543295}" type="slidenum">
              <a:rPr lang="en-US"/>
              <a:pPr>
                <a:defRPr/>
              </a:pPr>
              <a:t>33</a:t>
            </a:fld>
            <a:endParaRPr lang="en-US"/>
          </a:p>
        </p:txBody>
      </p:sp>
      <p:sp>
        <p:nvSpPr>
          <p:cNvPr id="37893" name="AutoShape 4"/>
          <p:cNvSpPr>
            <a:spLocks noChangeArrowheads="1"/>
          </p:cNvSpPr>
          <p:nvPr/>
        </p:nvSpPr>
        <p:spPr bwMode="auto">
          <a:xfrm>
            <a:off x="304800" y="2209800"/>
            <a:ext cx="533400" cy="152400"/>
          </a:xfrm>
          <a:prstGeom prst="rightArrow">
            <a:avLst>
              <a:gd name="adj1" fmla="val 50000"/>
              <a:gd name="adj2" fmla="val 875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37894" name="Rectangle 5" descr="Light upward diagonal"/>
          <p:cNvSpPr>
            <a:spLocks noChangeArrowheads="1"/>
          </p:cNvSpPr>
          <p:nvPr/>
        </p:nvSpPr>
        <p:spPr bwMode="auto">
          <a:xfrm>
            <a:off x="7499350" y="2492375"/>
            <a:ext cx="1116013" cy="4333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sz="2000">
              <a:latin typeface="Tahoma" pitchFamily="34" charset="0"/>
            </a:endParaRPr>
          </a:p>
        </p:txBody>
      </p:sp>
      <p:sp>
        <p:nvSpPr>
          <p:cNvPr id="37895" name="Rectangle 6" descr="Light upward diagonal"/>
          <p:cNvSpPr>
            <a:spLocks noChangeArrowheads="1"/>
          </p:cNvSpPr>
          <p:nvPr/>
        </p:nvSpPr>
        <p:spPr bwMode="auto">
          <a:xfrm>
            <a:off x="7499350" y="2057400"/>
            <a:ext cx="1116013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sz="2000">
              <a:latin typeface="Tahoma" pitchFamily="34" charset="0"/>
            </a:endParaRPr>
          </a:p>
        </p:txBody>
      </p:sp>
      <p:sp>
        <p:nvSpPr>
          <p:cNvPr id="37896" name="Rectangle 7" descr="Light upward diagonal"/>
          <p:cNvSpPr>
            <a:spLocks noChangeArrowheads="1"/>
          </p:cNvSpPr>
          <p:nvPr/>
        </p:nvSpPr>
        <p:spPr bwMode="auto">
          <a:xfrm>
            <a:off x="7499350" y="5943600"/>
            <a:ext cx="1116013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37897" name="Rectangle 8" descr="Light upward diagonal"/>
          <p:cNvSpPr>
            <a:spLocks noChangeArrowheads="1"/>
          </p:cNvSpPr>
          <p:nvPr/>
        </p:nvSpPr>
        <p:spPr bwMode="auto">
          <a:xfrm>
            <a:off x="7499350" y="2925763"/>
            <a:ext cx="1116013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37898" name="Rectangle 9" descr="Light upward diagonal"/>
          <p:cNvSpPr>
            <a:spLocks noChangeArrowheads="1"/>
          </p:cNvSpPr>
          <p:nvPr/>
        </p:nvSpPr>
        <p:spPr bwMode="auto">
          <a:xfrm>
            <a:off x="7499350" y="3360738"/>
            <a:ext cx="1116013" cy="4333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37899" name="Rectangle 10" descr="Light upward diagonal"/>
          <p:cNvSpPr>
            <a:spLocks noChangeArrowheads="1"/>
          </p:cNvSpPr>
          <p:nvPr/>
        </p:nvSpPr>
        <p:spPr bwMode="auto">
          <a:xfrm>
            <a:off x="7499350" y="4648200"/>
            <a:ext cx="1116013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sz="2000">
              <a:latin typeface="Tahoma" pitchFamily="34" charset="0"/>
            </a:endParaRPr>
          </a:p>
        </p:txBody>
      </p:sp>
      <p:sp>
        <p:nvSpPr>
          <p:cNvPr id="37900" name="Rectangle 11" descr="Light upward diagonal"/>
          <p:cNvSpPr>
            <a:spLocks noChangeArrowheads="1"/>
          </p:cNvSpPr>
          <p:nvPr/>
        </p:nvSpPr>
        <p:spPr bwMode="auto">
          <a:xfrm>
            <a:off x="7499350" y="5083175"/>
            <a:ext cx="1116013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37901" name="Rectangle 12" descr="Light upward diagonal"/>
          <p:cNvSpPr>
            <a:spLocks noChangeArrowheads="1"/>
          </p:cNvSpPr>
          <p:nvPr/>
        </p:nvSpPr>
        <p:spPr bwMode="auto">
          <a:xfrm>
            <a:off x="7499350" y="5518150"/>
            <a:ext cx="1116013" cy="4333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37902" name="Line 13" descr="Light upward diagonal"/>
          <p:cNvSpPr>
            <a:spLocks noChangeShapeType="1"/>
          </p:cNvSpPr>
          <p:nvPr/>
        </p:nvSpPr>
        <p:spPr bwMode="auto">
          <a:xfrm>
            <a:off x="8151813" y="3876675"/>
            <a:ext cx="1587" cy="695325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7903" name="Rectangle 14"/>
          <p:cNvSpPr>
            <a:spLocks noChangeArrowheads="1"/>
          </p:cNvSpPr>
          <p:nvPr/>
        </p:nvSpPr>
        <p:spPr bwMode="auto">
          <a:xfrm>
            <a:off x="6477000" y="2492375"/>
            <a:ext cx="1022350" cy="4333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FDE1</a:t>
            </a:r>
          </a:p>
        </p:txBody>
      </p:sp>
      <p:sp>
        <p:nvSpPr>
          <p:cNvPr id="37904" name="Rectangle 15"/>
          <p:cNvSpPr>
            <a:spLocks noChangeArrowheads="1"/>
          </p:cNvSpPr>
          <p:nvPr/>
        </p:nvSpPr>
        <p:spPr bwMode="auto">
          <a:xfrm>
            <a:off x="6477000" y="2057400"/>
            <a:ext cx="1022350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FDE0</a:t>
            </a:r>
          </a:p>
        </p:txBody>
      </p:sp>
      <p:sp>
        <p:nvSpPr>
          <p:cNvPr id="37905" name="Rectangle 16"/>
          <p:cNvSpPr>
            <a:spLocks noChangeArrowheads="1"/>
          </p:cNvSpPr>
          <p:nvPr/>
        </p:nvSpPr>
        <p:spPr bwMode="auto">
          <a:xfrm>
            <a:off x="6477000" y="5943600"/>
            <a:ext cx="1022350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0EC7</a:t>
            </a:r>
          </a:p>
        </p:txBody>
      </p:sp>
      <p:sp>
        <p:nvSpPr>
          <p:cNvPr id="37906" name="Rectangle 17"/>
          <p:cNvSpPr>
            <a:spLocks noChangeArrowheads="1"/>
          </p:cNvSpPr>
          <p:nvPr/>
        </p:nvSpPr>
        <p:spPr bwMode="auto">
          <a:xfrm>
            <a:off x="6477000" y="2925763"/>
            <a:ext cx="1022350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FDE2</a:t>
            </a:r>
          </a:p>
        </p:txBody>
      </p:sp>
      <p:sp>
        <p:nvSpPr>
          <p:cNvPr id="37907" name="Rectangle 18"/>
          <p:cNvSpPr>
            <a:spLocks noChangeArrowheads="1"/>
          </p:cNvSpPr>
          <p:nvPr/>
        </p:nvSpPr>
        <p:spPr bwMode="auto">
          <a:xfrm>
            <a:off x="6477000" y="3360738"/>
            <a:ext cx="1022350" cy="4333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FDE3</a:t>
            </a:r>
          </a:p>
        </p:txBody>
      </p:sp>
      <p:sp>
        <p:nvSpPr>
          <p:cNvPr id="37908" name="Rectangle 19"/>
          <p:cNvSpPr>
            <a:spLocks noChangeArrowheads="1"/>
          </p:cNvSpPr>
          <p:nvPr/>
        </p:nvSpPr>
        <p:spPr bwMode="auto">
          <a:xfrm>
            <a:off x="6477000" y="4648200"/>
            <a:ext cx="1022350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0EC4</a:t>
            </a:r>
          </a:p>
        </p:txBody>
      </p:sp>
      <p:sp>
        <p:nvSpPr>
          <p:cNvPr id="37909" name="Rectangle 20"/>
          <p:cNvSpPr>
            <a:spLocks noChangeArrowheads="1"/>
          </p:cNvSpPr>
          <p:nvPr/>
        </p:nvSpPr>
        <p:spPr bwMode="auto">
          <a:xfrm>
            <a:off x="6477000" y="5083175"/>
            <a:ext cx="1022350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0EC5</a:t>
            </a:r>
          </a:p>
        </p:txBody>
      </p:sp>
      <p:sp>
        <p:nvSpPr>
          <p:cNvPr id="37910" name="Rectangle 21"/>
          <p:cNvSpPr>
            <a:spLocks noChangeArrowheads="1"/>
          </p:cNvSpPr>
          <p:nvPr/>
        </p:nvSpPr>
        <p:spPr bwMode="auto">
          <a:xfrm>
            <a:off x="6477000" y="5518150"/>
            <a:ext cx="1022350" cy="4333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0EC6</a:t>
            </a:r>
          </a:p>
        </p:txBody>
      </p:sp>
      <p:sp>
        <p:nvSpPr>
          <p:cNvPr id="37911" name="Line 22"/>
          <p:cNvSpPr>
            <a:spLocks noChangeShapeType="1"/>
          </p:cNvSpPr>
          <p:nvPr/>
        </p:nvSpPr>
        <p:spPr bwMode="auto">
          <a:xfrm>
            <a:off x="7035800" y="3876675"/>
            <a:ext cx="1588" cy="695325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7912" name="Text Box 23"/>
          <p:cNvSpPr txBox="1">
            <a:spLocks noChangeArrowheads="1"/>
          </p:cNvSpPr>
          <p:nvPr/>
        </p:nvSpPr>
        <p:spPr bwMode="auto">
          <a:xfrm>
            <a:off x="5715000" y="2041525"/>
            <a:ext cx="685800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rIns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i="1">
                <a:solidFill>
                  <a:schemeClr val="tx2"/>
                </a:solidFill>
                <a:latin typeface="Tahoma" pitchFamily="34" charset="0"/>
              </a:rPr>
              <a:t>ptr</a:t>
            </a:r>
          </a:p>
        </p:txBody>
      </p:sp>
      <p:sp>
        <p:nvSpPr>
          <p:cNvPr id="37913" name="Rectangle 24"/>
          <p:cNvSpPr>
            <a:spLocks noChangeArrowheads="1"/>
          </p:cNvSpPr>
          <p:nvPr/>
        </p:nvSpPr>
        <p:spPr bwMode="auto">
          <a:xfrm>
            <a:off x="7624763" y="2057400"/>
            <a:ext cx="914400" cy="381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sz="2000">
              <a:latin typeface="Tahoma" pitchFamily="34" charset="0"/>
            </a:endParaRPr>
          </a:p>
        </p:txBody>
      </p:sp>
      <p:sp>
        <p:nvSpPr>
          <p:cNvPr id="37914" name="Rectangle 25"/>
          <p:cNvSpPr>
            <a:spLocks noChangeArrowheads="1"/>
          </p:cNvSpPr>
          <p:nvPr/>
        </p:nvSpPr>
        <p:spPr bwMode="auto">
          <a:xfrm>
            <a:off x="990600" y="1981200"/>
            <a:ext cx="3886200" cy="2667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46038" rIns="0" bIns="46038"/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</a:pPr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int *ptr;</a:t>
            </a:r>
          </a:p>
          <a:p>
            <a:pPr marL="342900" indent="-342900">
              <a:lnSpc>
                <a:spcPct val="130000"/>
              </a:lnSpc>
            </a:pPr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ptr = new int;</a:t>
            </a:r>
          </a:p>
          <a:p>
            <a:pPr marL="342900" indent="-342900">
              <a:lnSpc>
                <a:spcPct val="130000"/>
              </a:lnSpc>
            </a:pPr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*ptr = 22;</a:t>
            </a:r>
          </a:p>
          <a:p>
            <a:pPr marL="342900" indent="-342900">
              <a:lnSpc>
                <a:spcPct val="130000"/>
              </a:lnSpc>
            </a:pPr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cout &lt;&lt; *ptr &lt;&lt; endl;</a:t>
            </a:r>
          </a:p>
          <a:p>
            <a:pPr marL="342900" indent="-342900">
              <a:lnSpc>
                <a:spcPct val="130000"/>
              </a:lnSpc>
            </a:pPr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delete ptr;</a:t>
            </a:r>
          </a:p>
          <a:p>
            <a:pPr marL="342900" indent="-342900">
              <a:lnSpc>
                <a:spcPct val="130000"/>
              </a:lnSpc>
            </a:pPr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ptr = NULL;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lide Number Placeholder 3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E450D8-EBB3-4910-A8A2-7903CED1C8C4}" type="slidenum">
              <a:rPr lang="en-US"/>
              <a:pPr>
                <a:defRPr/>
              </a:pPr>
              <a:t>34</a:t>
            </a:fld>
            <a:endParaRPr lang="en-US"/>
          </a:p>
        </p:txBody>
      </p:sp>
      <p:sp>
        <p:nvSpPr>
          <p:cNvPr id="38916" name="Rectangle 2"/>
          <p:cNvSpPr>
            <a:spLocks noChangeArrowheads="1"/>
          </p:cNvSpPr>
          <p:nvPr/>
        </p:nvSpPr>
        <p:spPr bwMode="auto">
          <a:xfrm>
            <a:off x="1828800" y="323850"/>
            <a:ext cx="6629400" cy="112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="ctr"/>
          <a:lstStyle/>
          <a:p>
            <a:pPr algn="ctr" eaLnBrk="0" hangingPunct="0"/>
            <a:r>
              <a:rPr lang="en-US" sz="4400">
                <a:solidFill>
                  <a:schemeClr val="tx2"/>
                </a:solidFill>
                <a:latin typeface="Tahoma" pitchFamily="34" charset="0"/>
              </a:rPr>
              <a:t>Example (Cont ..)</a:t>
            </a:r>
          </a:p>
        </p:txBody>
      </p:sp>
      <p:sp>
        <p:nvSpPr>
          <p:cNvPr id="38917" name="Rectangle 3"/>
          <p:cNvSpPr>
            <a:spLocks noChangeArrowheads="1"/>
          </p:cNvSpPr>
          <p:nvPr/>
        </p:nvSpPr>
        <p:spPr bwMode="auto">
          <a:xfrm>
            <a:off x="990600" y="1981200"/>
            <a:ext cx="3886200" cy="2667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46038" rIns="0" bIns="46038"/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</a:pPr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int *ptr;</a:t>
            </a:r>
          </a:p>
          <a:p>
            <a:pPr marL="342900" indent="-342900">
              <a:lnSpc>
                <a:spcPct val="130000"/>
              </a:lnSpc>
            </a:pPr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ptr = new int;</a:t>
            </a:r>
          </a:p>
          <a:p>
            <a:pPr marL="342900" indent="-342900">
              <a:lnSpc>
                <a:spcPct val="130000"/>
              </a:lnSpc>
            </a:pPr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*ptr = 22;</a:t>
            </a:r>
          </a:p>
          <a:p>
            <a:pPr marL="342900" indent="-342900">
              <a:lnSpc>
                <a:spcPct val="130000"/>
              </a:lnSpc>
            </a:pPr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cout &lt;&lt; *ptr &lt;&lt; endl;</a:t>
            </a:r>
          </a:p>
          <a:p>
            <a:pPr marL="342900" indent="-342900">
              <a:lnSpc>
                <a:spcPct val="130000"/>
              </a:lnSpc>
            </a:pPr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delete ptr;</a:t>
            </a:r>
          </a:p>
          <a:p>
            <a:pPr marL="342900" indent="-342900">
              <a:lnSpc>
                <a:spcPct val="130000"/>
              </a:lnSpc>
            </a:pPr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ptr = NULL;</a:t>
            </a:r>
          </a:p>
        </p:txBody>
      </p:sp>
      <p:sp>
        <p:nvSpPr>
          <p:cNvPr id="38918" name="AutoShape 4"/>
          <p:cNvSpPr>
            <a:spLocks noChangeArrowheads="1"/>
          </p:cNvSpPr>
          <p:nvPr/>
        </p:nvSpPr>
        <p:spPr bwMode="auto">
          <a:xfrm>
            <a:off x="304800" y="2590800"/>
            <a:ext cx="533400" cy="152400"/>
          </a:xfrm>
          <a:prstGeom prst="rightArrow">
            <a:avLst>
              <a:gd name="adj1" fmla="val 50000"/>
              <a:gd name="adj2" fmla="val 875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38919" name="Rectangle 5" descr="Light upward diagonal"/>
          <p:cNvSpPr>
            <a:spLocks noChangeArrowheads="1"/>
          </p:cNvSpPr>
          <p:nvPr/>
        </p:nvSpPr>
        <p:spPr bwMode="auto">
          <a:xfrm>
            <a:off x="7499350" y="2492375"/>
            <a:ext cx="1116013" cy="4333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sz="2000">
              <a:latin typeface="Tahoma" pitchFamily="34" charset="0"/>
            </a:endParaRPr>
          </a:p>
        </p:txBody>
      </p:sp>
      <p:sp>
        <p:nvSpPr>
          <p:cNvPr id="38920" name="Rectangle 6" descr="Light upward diagonal"/>
          <p:cNvSpPr>
            <a:spLocks noChangeArrowheads="1"/>
          </p:cNvSpPr>
          <p:nvPr/>
        </p:nvSpPr>
        <p:spPr bwMode="auto">
          <a:xfrm>
            <a:off x="7499350" y="2057400"/>
            <a:ext cx="1116013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000">
                <a:solidFill>
                  <a:schemeClr val="accent2"/>
                </a:solidFill>
                <a:latin typeface="Tahoma" pitchFamily="34" charset="0"/>
              </a:rPr>
              <a:t>0EC4</a:t>
            </a:r>
          </a:p>
        </p:txBody>
      </p:sp>
      <p:sp>
        <p:nvSpPr>
          <p:cNvPr id="38921" name="Rectangle 7" descr="Light upward diagonal"/>
          <p:cNvSpPr>
            <a:spLocks noChangeArrowheads="1"/>
          </p:cNvSpPr>
          <p:nvPr/>
        </p:nvSpPr>
        <p:spPr bwMode="auto">
          <a:xfrm>
            <a:off x="7499350" y="5943600"/>
            <a:ext cx="1116013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38922" name="Rectangle 8" descr="Light upward diagonal"/>
          <p:cNvSpPr>
            <a:spLocks noChangeArrowheads="1"/>
          </p:cNvSpPr>
          <p:nvPr/>
        </p:nvSpPr>
        <p:spPr bwMode="auto">
          <a:xfrm>
            <a:off x="7499350" y="2925763"/>
            <a:ext cx="1116013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38923" name="Rectangle 9" descr="Light upward diagonal"/>
          <p:cNvSpPr>
            <a:spLocks noChangeArrowheads="1"/>
          </p:cNvSpPr>
          <p:nvPr/>
        </p:nvSpPr>
        <p:spPr bwMode="auto">
          <a:xfrm>
            <a:off x="7499350" y="3360738"/>
            <a:ext cx="1116013" cy="4333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38924" name="Rectangle 10" descr="Light upward diagonal"/>
          <p:cNvSpPr>
            <a:spLocks noChangeArrowheads="1"/>
          </p:cNvSpPr>
          <p:nvPr/>
        </p:nvSpPr>
        <p:spPr bwMode="auto">
          <a:xfrm>
            <a:off x="7499350" y="4648200"/>
            <a:ext cx="1116013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sz="2000">
              <a:latin typeface="Tahoma" pitchFamily="34" charset="0"/>
            </a:endParaRPr>
          </a:p>
        </p:txBody>
      </p:sp>
      <p:sp>
        <p:nvSpPr>
          <p:cNvPr id="38925" name="Rectangle 11" descr="Light upward diagonal"/>
          <p:cNvSpPr>
            <a:spLocks noChangeArrowheads="1"/>
          </p:cNvSpPr>
          <p:nvPr/>
        </p:nvSpPr>
        <p:spPr bwMode="auto">
          <a:xfrm>
            <a:off x="7499350" y="5083175"/>
            <a:ext cx="1116013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38926" name="Rectangle 12" descr="Light upward diagonal"/>
          <p:cNvSpPr>
            <a:spLocks noChangeArrowheads="1"/>
          </p:cNvSpPr>
          <p:nvPr/>
        </p:nvSpPr>
        <p:spPr bwMode="auto">
          <a:xfrm>
            <a:off x="7499350" y="5518150"/>
            <a:ext cx="1116013" cy="4333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38927" name="Line 13" descr="Light upward diagonal"/>
          <p:cNvSpPr>
            <a:spLocks noChangeShapeType="1"/>
          </p:cNvSpPr>
          <p:nvPr/>
        </p:nvSpPr>
        <p:spPr bwMode="auto">
          <a:xfrm>
            <a:off x="8151813" y="3876675"/>
            <a:ext cx="1587" cy="695325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8928" name="Rectangle 14"/>
          <p:cNvSpPr>
            <a:spLocks noChangeArrowheads="1"/>
          </p:cNvSpPr>
          <p:nvPr/>
        </p:nvSpPr>
        <p:spPr bwMode="auto">
          <a:xfrm>
            <a:off x="6477000" y="2492375"/>
            <a:ext cx="1022350" cy="4333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FDE1</a:t>
            </a:r>
          </a:p>
        </p:txBody>
      </p:sp>
      <p:sp>
        <p:nvSpPr>
          <p:cNvPr id="38929" name="Rectangle 15"/>
          <p:cNvSpPr>
            <a:spLocks noChangeArrowheads="1"/>
          </p:cNvSpPr>
          <p:nvPr/>
        </p:nvSpPr>
        <p:spPr bwMode="auto">
          <a:xfrm>
            <a:off x="6477000" y="2057400"/>
            <a:ext cx="1022350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FDE0</a:t>
            </a:r>
          </a:p>
        </p:txBody>
      </p:sp>
      <p:sp>
        <p:nvSpPr>
          <p:cNvPr id="38930" name="Rectangle 16"/>
          <p:cNvSpPr>
            <a:spLocks noChangeArrowheads="1"/>
          </p:cNvSpPr>
          <p:nvPr/>
        </p:nvSpPr>
        <p:spPr bwMode="auto">
          <a:xfrm>
            <a:off x="6477000" y="5943600"/>
            <a:ext cx="1022350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0EC7</a:t>
            </a:r>
          </a:p>
        </p:txBody>
      </p:sp>
      <p:sp>
        <p:nvSpPr>
          <p:cNvPr id="38931" name="Rectangle 17"/>
          <p:cNvSpPr>
            <a:spLocks noChangeArrowheads="1"/>
          </p:cNvSpPr>
          <p:nvPr/>
        </p:nvSpPr>
        <p:spPr bwMode="auto">
          <a:xfrm>
            <a:off x="6477000" y="2925763"/>
            <a:ext cx="1022350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FDE2</a:t>
            </a:r>
          </a:p>
        </p:txBody>
      </p:sp>
      <p:sp>
        <p:nvSpPr>
          <p:cNvPr id="38932" name="Rectangle 18"/>
          <p:cNvSpPr>
            <a:spLocks noChangeArrowheads="1"/>
          </p:cNvSpPr>
          <p:nvPr/>
        </p:nvSpPr>
        <p:spPr bwMode="auto">
          <a:xfrm>
            <a:off x="6477000" y="3360738"/>
            <a:ext cx="1022350" cy="4333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FDE3</a:t>
            </a:r>
          </a:p>
        </p:txBody>
      </p:sp>
      <p:sp>
        <p:nvSpPr>
          <p:cNvPr id="38933" name="Rectangle 19"/>
          <p:cNvSpPr>
            <a:spLocks noChangeArrowheads="1"/>
          </p:cNvSpPr>
          <p:nvPr/>
        </p:nvSpPr>
        <p:spPr bwMode="auto">
          <a:xfrm>
            <a:off x="6477000" y="4648200"/>
            <a:ext cx="1022350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0EC4</a:t>
            </a:r>
          </a:p>
        </p:txBody>
      </p:sp>
      <p:sp>
        <p:nvSpPr>
          <p:cNvPr id="38934" name="Rectangle 20"/>
          <p:cNvSpPr>
            <a:spLocks noChangeArrowheads="1"/>
          </p:cNvSpPr>
          <p:nvPr/>
        </p:nvSpPr>
        <p:spPr bwMode="auto">
          <a:xfrm>
            <a:off x="6477000" y="5083175"/>
            <a:ext cx="1022350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0EC5</a:t>
            </a:r>
          </a:p>
        </p:txBody>
      </p:sp>
      <p:sp>
        <p:nvSpPr>
          <p:cNvPr id="38935" name="Rectangle 21"/>
          <p:cNvSpPr>
            <a:spLocks noChangeArrowheads="1"/>
          </p:cNvSpPr>
          <p:nvPr/>
        </p:nvSpPr>
        <p:spPr bwMode="auto">
          <a:xfrm>
            <a:off x="6477000" y="5518150"/>
            <a:ext cx="1022350" cy="4333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0EC6</a:t>
            </a:r>
          </a:p>
        </p:txBody>
      </p:sp>
      <p:sp>
        <p:nvSpPr>
          <p:cNvPr id="38936" name="Line 22"/>
          <p:cNvSpPr>
            <a:spLocks noChangeShapeType="1"/>
          </p:cNvSpPr>
          <p:nvPr/>
        </p:nvSpPr>
        <p:spPr bwMode="auto">
          <a:xfrm>
            <a:off x="7035800" y="3876675"/>
            <a:ext cx="1588" cy="695325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8937" name="Text Box 23"/>
          <p:cNvSpPr txBox="1">
            <a:spLocks noChangeArrowheads="1"/>
          </p:cNvSpPr>
          <p:nvPr/>
        </p:nvSpPr>
        <p:spPr bwMode="auto">
          <a:xfrm>
            <a:off x="5715000" y="2041525"/>
            <a:ext cx="685800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rIns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i="1">
                <a:solidFill>
                  <a:schemeClr val="tx2"/>
                </a:solidFill>
                <a:latin typeface="Tahoma" pitchFamily="34" charset="0"/>
              </a:rPr>
              <a:t>ptr</a:t>
            </a:r>
          </a:p>
        </p:txBody>
      </p:sp>
      <p:sp>
        <p:nvSpPr>
          <p:cNvPr id="38938" name="Rectangle 24"/>
          <p:cNvSpPr>
            <a:spLocks noChangeArrowheads="1"/>
          </p:cNvSpPr>
          <p:nvPr/>
        </p:nvSpPr>
        <p:spPr bwMode="auto">
          <a:xfrm>
            <a:off x="7624763" y="2057400"/>
            <a:ext cx="914400" cy="381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sz="2000">
              <a:latin typeface="Tahoma" pitchFamily="34" charset="0"/>
            </a:endParaRPr>
          </a:p>
        </p:txBody>
      </p:sp>
      <p:grpSp>
        <p:nvGrpSpPr>
          <p:cNvPr id="38939" name="Group 25"/>
          <p:cNvGrpSpPr>
            <a:grpSpLocks/>
          </p:cNvGrpSpPr>
          <p:nvPr/>
        </p:nvGrpSpPr>
        <p:grpSpPr bwMode="auto">
          <a:xfrm>
            <a:off x="6248400" y="1905000"/>
            <a:ext cx="2590800" cy="2971800"/>
            <a:chOff x="1920" y="1440"/>
            <a:chExt cx="1632" cy="1872"/>
          </a:xfrm>
        </p:grpSpPr>
        <p:sp>
          <p:nvSpPr>
            <p:cNvPr id="38940" name="Line 26"/>
            <p:cNvSpPr>
              <a:spLocks noChangeShapeType="1"/>
            </p:cNvSpPr>
            <p:nvPr/>
          </p:nvSpPr>
          <p:spPr bwMode="auto">
            <a:xfrm flipH="1">
              <a:off x="3264" y="1680"/>
              <a:ext cx="2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41" name="Line 27"/>
            <p:cNvSpPr>
              <a:spLocks noChangeShapeType="1"/>
            </p:cNvSpPr>
            <p:nvPr/>
          </p:nvSpPr>
          <p:spPr bwMode="auto">
            <a:xfrm flipH="1" flipV="1">
              <a:off x="3552" y="1440"/>
              <a:ext cx="0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42" name="Line 28"/>
            <p:cNvSpPr>
              <a:spLocks noChangeShapeType="1"/>
            </p:cNvSpPr>
            <p:nvPr/>
          </p:nvSpPr>
          <p:spPr bwMode="auto">
            <a:xfrm>
              <a:off x="1920" y="1440"/>
              <a:ext cx="16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43" name="Line 29"/>
            <p:cNvSpPr>
              <a:spLocks noChangeShapeType="1"/>
            </p:cNvSpPr>
            <p:nvPr/>
          </p:nvSpPr>
          <p:spPr bwMode="auto">
            <a:xfrm flipH="1">
              <a:off x="1920" y="1440"/>
              <a:ext cx="0" cy="18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44" name="Line 30"/>
            <p:cNvSpPr>
              <a:spLocks noChangeShapeType="1"/>
            </p:cNvSpPr>
            <p:nvPr/>
          </p:nvSpPr>
          <p:spPr bwMode="auto">
            <a:xfrm flipV="1">
              <a:off x="1920" y="3312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lide Number Placeholder 3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A50499-4802-4DA4-A598-3A16DE03094C}" type="slidenum">
              <a:rPr lang="en-US"/>
              <a:pPr>
                <a:defRPr/>
              </a:pPr>
              <a:t>35</a:t>
            </a:fld>
            <a:endParaRPr lang="en-US"/>
          </a:p>
        </p:txBody>
      </p:sp>
      <p:sp>
        <p:nvSpPr>
          <p:cNvPr id="39940" name="Rectangle 2"/>
          <p:cNvSpPr>
            <a:spLocks noChangeArrowheads="1"/>
          </p:cNvSpPr>
          <p:nvPr/>
        </p:nvSpPr>
        <p:spPr bwMode="auto">
          <a:xfrm>
            <a:off x="1828800" y="323850"/>
            <a:ext cx="6629400" cy="112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="ctr"/>
          <a:lstStyle/>
          <a:p>
            <a:pPr algn="ctr" eaLnBrk="0" hangingPunct="0"/>
            <a:r>
              <a:rPr lang="en-US" sz="4400">
                <a:solidFill>
                  <a:schemeClr val="tx2"/>
                </a:solidFill>
                <a:latin typeface="Tahoma" pitchFamily="34" charset="0"/>
              </a:rPr>
              <a:t>Example (Cont ..)</a:t>
            </a:r>
          </a:p>
        </p:txBody>
      </p:sp>
      <p:sp>
        <p:nvSpPr>
          <p:cNvPr id="39941" name="Rectangle 3"/>
          <p:cNvSpPr>
            <a:spLocks noChangeArrowheads="1"/>
          </p:cNvSpPr>
          <p:nvPr/>
        </p:nvSpPr>
        <p:spPr bwMode="auto">
          <a:xfrm>
            <a:off x="990600" y="1981200"/>
            <a:ext cx="3886200" cy="2667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46038" rIns="0" bIns="46038"/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</a:pPr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int *ptr;</a:t>
            </a:r>
          </a:p>
          <a:p>
            <a:pPr marL="342900" indent="-342900">
              <a:lnSpc>
                <a:spcPct val="130000"/>
              </a:lnSpc>
            </a:pPr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ptr = new int;</a:t>
            </a:r>
          </a:p>
          <a:p>
            <a:pPr marL="342900" indent="-342900">
              <a:lnSpc>
                <a:spcPct val="130000"/>
              </a:lnSpc>
            </a:pPr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*ptr = 22;</a:t>
            </a:r>
          </a:p>
          <a:p>
            <a:pPr marL="342900" indent="-342900">
              <a:lnSpc>
                <a:spcPct val="130000"/>
              </a:lnSpc>
            </a:pPr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cout &lt;&lt; *ptr &lt;&lt; endl;</a:t>
            </a:r>
          </a:p>
          <a:p>
            <a:pPr marL="342900" indent="-342900">
              <a:lnSpc>
                <a:spcPct val="130000"/>
              </a:lnSpc>
            </a:pPr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delete ptr;</a:t>
            </a:r>
          </a:p>
          <a:p>
            <a:pPr marL="342900" indent="-342900">
              <a:lnSpc>
                <a:spcPct val="130000"/>
              </a:lnSpc>
            </a:pPr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ptr = NULL;</a:t>
            </a:r>
          </a:p>
        </p:txBody>
      </p:sp>
      <p:sp>
        <p:nvSpPr>
          <p:cNvPr id="39942" name="AutoShape 4"/>
          <p:cNvSpPr>
            <a:spLocks noChangeArrowheads="1"/>
          </p:cNvSpPr>
          <p:nvPr/>
        </p:nvSpPr>
        <p:spPr bwMode="auto">
          <a:xfrm>
            <a:off x="304800" y="2971800"/>
            <a:ext cx="533400" cy="152400"/>
          </a:xfrm>
          <a:prstGeom prst="rightArrow">
            <a:avLst>
              <a:gd name="adj1" fmla="val 50000"/>
              <a:gd name="adj2" fmla="val 875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39943" name="Rectangle 5" descr="Light upward diagonal"/>
          <p:cNvSpPr>
            <a:spLocks noChangeArrowheads="1"/>
          </p:cNvSpPr>
          <p:nvPr/>
        </p:nvSpPr>
        <p:spPr bwMode="auto">
          <a:xfrm>
            <a:off x="7499350" y="2492375"/>
            <a:ext cx="1116013" cy="4333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sz="2000">
              <a:latin typeface="Tahoma" pitchFamily="34" charset="0"/>
            </a:endParaRPr>
          </a:p>
        </p:txBody>
      </p:sp>
      <p:sp>
        <p:nvSpPr>
          <p:cNvPr id="39944" name="Rectangle 6" descr="Light upward diagonal"/>
          <p:cNvSpPr>
            <a:spLocks noChangeArrowheads="1"/>
          </p:cNvSpPr>
          <p:nvPr/>
        </p:nvSpPr>
        <p:spPr bwMode="auto">
          <a:xfrm>
            <a:off x="7499350" y="2057400"/>
            <a:ext cx="1116013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000">
                <a:solidFill>
                  <a:schemeClr val="accent2"/>
                </a:solidFill>
                <a:latin typeface="Tahoma" pitchFamily="34" charset="0"/>
              </a:rPr>
              <a:t>0EC4</a:t>
            </a:r>
          </a:p>
        </p:txBody>
      </p:sp>
      <p:sp>
        <p:nvSpPr>
          <p:cNvPr id="39945" name="Rectangle 7" descr="Light upward diagonal"/>
          <p:cNvSpPr>
            <a:spLocks noChangeArrowheads="1"/>
          </p:cNvSpPr>
          <p:nvPr/>
        </p:nvSpPr>
        <p:spPr bwMode="auto">
          <a:xfrm>
            <a:off x="7499350" y="5943600"/>
            <a:ext cx="1116013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39946" name="Rectangle 8" descr="Light upward diagonal"/>
          <p:cNvSpPr>
            <a:spLocks noChangeArrowheads="1"/>
          </p:cNvSpPr>
          <p:nvPr/>
        </p:nvSpPr>
        <p:spPr bwMode="auto">
          <a:xfrm>
            <a:off x="7499350" y="2925763"/>
            <a:ext cx="1116013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39947" name="Rectangle 9" descr="Light upward diagonal"/>
          <p:cNvSpPr>
            <a:spLocks noChangeArrowheads="1"/>
          </p:cNvSpPr>
          <p:nvPr/>
        </p:nvSpPr>
        <p:spPr bwMode="auto">
          <a:xfrm>
            <a:off x="7499350" y="3360738"/>
            <a:ext cx="1116013" cy="4333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39948" name="Rectangle 10" descr="Light upward diagonal"/>
          <p:cNvSpPr>
            <a:spLocks noChangeArrowheads="1"/>
          </p:cNvSpPr>
          <p:nvPr/>
        </p:nvSpPr>
        <p:spPr bwMode="auto">
          <a:xfrm>
            <a:off x="7499350" y="4648200"/>
            <a:ext cx="1116013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000">
                <a:solidFill>
                  <a:schemeClr val="accent2"/>
                </a:solidFill>
                <a:latin typeface="Tahoma" pitchFamily="34" charset="0"/>
              </a:rPr>
              <a:t>22</a:t>
            </a:r>
          </a:p>
        </p:txBody>
      </p:sp>
      <p:sp>
        <p:nvSpPr>
          <p:cNvPr id="39949" name="Rectangle 11" descr="Light upward diagonal"/>
          <p:cNvSpPr>
            <a:spLocks noChangeArrowheads="1"/>
          </p:cNvSpPr>
          <p:nvPr/>
        </p:nvSpPr>
        <p:spPr bwMode="auto">
          <a:xfrm>
            <a:off x="7499350" y="5083175"/>
            <a:ext cx="1116013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39950" name="Rectangle 12" descr="Light upward diagonal"/>
          <p:cNvSpPr>
            <a:spLocks noChangeArrowheads="1"/>
          </p:cNvSpPr>
          <p:nvPr/>
        </p:nvSpPr>
        <p:spPr bwMode="auto">
          <a:xfrm>
            <a:off x="7499350" y="5518150"/>
            <a:ext cx="1116013" cy="4333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39951" name="Line 13" descr="Light upward diagonal"/>
          <p:cNvSpPr>
            <a:spLocks noChangeShapeType="1"/>
          </p:cNvSpPr>
          <p:nvPr/>
        </p:nvSpPr>
        <p:spPr bwMode="auto">
          <a:xfrm>
            <a:off x="8151813" y="3876675"/>
            <a:ext cx="1587" cy="695325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952" name="Rectangle 14"/>
          <p:cNvSpPr>
            <a:spLocks noChangeArrowheads="1"/>
          </p:cNvSpPr>
          <p:nvPr/>
        </p:nvSpPr>
        <p:spPr bwMode="auto">
          <a:xfrm>
            <a:off x="6477000" y="2492375"/>
            <a:ext cx="1022350" cy="4333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FDE1</a:t>
            </a:r>
          </a:p>
        </p:txBody>
      </p:sp>
      <p:sp>
        <p:nvSpPr>
          <p:cNvPr id="39953" name="Rectangle 15"/>
          <p:cNvSpPr>
            <a:spLocks noChangeArrowheads="1"/>
          </p:cNvSpPr>
          <p:nvPr/>
        </p:nvSpPr>
        <p:spPr bwMode="auto">
          <a:xfrm>
            <a:off x="6477000" y="2057400"/>
            <a:ext cx="1022350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FDE0</a:t>
            </a:r>
          </a:p>
        </p:txBody>
      </p:sp>
      <p:sp>
        <p:nvSpPr>
          <p:cNvPr id="39954" name="Rectangle 16"/>
          <p:cNvSpPr>
            <a:spLocks noChangeArrowheads="1"/>
          </p:cNvSpPr>
          <p:nvPr/>
        </p:nvSpPr>
        <p:spPr bwMode="auto">
          <a:xfrm>
            <a:off x="6477000" y="5943600"/>
            <a:ext cx="1022350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0EC7</a:t>
            </a:r>
          </a:p>
        </p:txBody>
      </p:sp>
      <p:sp>
        <p:nvSpPr>
          <p:cNvPr id="39955" name="Rectangle 17"/>
          <p:cNvSpPr>
            <a:spLocks noChangeArrowheads="1"/>
          </p:cNvSpPr>
          <p:nvPr/>
        </p:nvSpPr>
        <p:spPr bwMode="auto">
          <a:xfrm>
            <a:off x="6477000" y="2925763"/>
            <a:ext cx="1022350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FDE2</a:t>
            </a:r>
          </a:p>
        </p:txBody>
      </p:sp>
      <p:sp>
        <p:nvSpPr>
          <p:cNvPr id="39956" name="Rectangle 18"/>
          <p:cNvSpPr>
            <a:spLocks noChangeArrowheads="1"/>
          </p:cNvSpPr>
          <p:nvPr/>
        </p:nvSpPr>
        <p:spPr bwMode="auto">
          <a:xfrm>
            <a:off x="6477000" y="3360738"/>
            <a:ext cx="1022350" cy="4333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FDE3</a:t>
            </a:r>
          </a:p>
        </p:txBody>
      </p:sp>
      <p:sp>
        <p:nvSpPr>
          <p:cNvPr id="39957" name="Rectangle 19"/>
          <p:cNvSpPr>
            <a:spLocks noChangeArrowheads="1"/>
          </p:cNvSpPr>
          <p:nvPr/>
        </p:nvSpPr>
        <p:spPr bwMode="auto">
          <a:xfrm>
            <a:off x="6477000" y="4648200"/>
            <a:ext cx="1022350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0EC4</a:t>
            </a:r>
          </a:p>
        </p:txBody>
      </p:sp>
      <p:sp>
        <p:nvSpPr>
          <p:cNvPr id="39958" name="Rectangle 20"/>
          <p:cNvSpPr>
            <a:spLocks noChangeArrowheads="1"/>
          </p:cNvSpPr>
          <p:nvPr/>
        </p:nvSpPr>
        <p:spPr bwMode="auto">
          <a:xfrm>
            <a:off x="6477000" y="5083175"/>
            <a:ext cx="1022350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0EC5</a:t>
            </a:r>
          </a:p>
        </p:txBody>
      </p:sp>
      <p:sp>
        <p:nvSpPr>
          <p:cNvPr id="39959" name="Rectangle 21"/>
          <p:cNvSpPr>
            <a:spLocks noChangeArrowheads="1"/>
          </p:cNvSpPr>
          <p:nvPr/>
        </p:nvSpPr>
        <p:spPr bwMode="auto">
          <a:xfrm>
            <a:off x="6477000" y="5518150"/>
            <a:ext cx="1022350" cy="4333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0EC6</a:t>
            </a:r>
          </a:p>
        </p:txBody>
      </p:sp>
      <p:sp>
        <p:nvSpPr>
          <p:cNvPr id="39960" name="Line 22"/>
          <p:cNvSpPr>
            <a:spLocks noChangeShapeType="1"/>
          </p:cNvSpPr>
          <p:nvPr/>
        </p:nvSpPr>
        <p:spPr bwMode="auto">
          <a:xfrm>
            <a:off x="7035800" y="3876675"/>
            <a:ext cx="1588" cy="695325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961" name="Text Box 23"/>
          <p:cNvSpPr txBox="1">
            <a:spLocks noChangeArrowheads="1"/>
          </p:cNvSpPr>
          <p:nvPr/>
        </p:nvSpPr>
        <p:spPr bwMode="auto">
          <a:xfrm>
            <a:off x="5715000" y="2041525"/>
            <a:ext cx="685800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rIns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i="1">
                <a:solidFill>
                  <a:schemeClr val="tx2"/>
                </a:solidFill>
                <a:latin typeface="Tahoma" pitchFamily="34" charset="0"/>
              </a:rPr>
              <a:t>ptr</a:t>
            </a:r>
          </a:p>
        </p:txBody>
      </p:sp>
      <p:sp>
        <p:nvSpPr>
          <p:cNvPr id="39962" name="Rectangle 24"/>
          <p:cNvSpPr>
            <a:spLocks noChangeArrowheads="1"/>
          </p:cNvSpPr>
          <p:nvPr/>
        </p:nvSpPr>
        <p:spPr bwMode="auto">
          <a:xfrm>
            <a:off x="7624763" y="2057400"/>
            <a:ext cx="914400" cy="381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sz="2000">
              <a:latin typeface="Tahoma" pitchFamily="34" charset="0"/>
            </a:endParaRPr>
          </a:p>
        </p:txBody>
      </p:sp>
      <p:grpSp>
        <p:nvGrpSpPr>
          <p:cNvPr id="39963" name="Group 25"/>
          <p:cNvGrpSpPr>
            <a:grpSpLocks/>
          </p:cNvGrpSpPr>
          <p:nvPr/>
        </p:nvGrpSpPr>
        <p:grpSpPr bwMode="auto">
          <a:xfrm>
            <a:off x="6248400" y="1905000"/>
            <a:ext cx="2590800" cy="2971800"/>
            <a:chOff x="1920" y="1440"/>
            <a:chExt cx="1632" cy="1872"/>
          </a:xfrm>
        </p:grpSpPr>
        <p:sp>
          <p:nvSpPr>
            <p:cNvPr id="39964" name="Line 26"/>
            <p:cNvSpPr>
              <a:spLocks noChangeShapeType="1"/>
            </p:cNvSpPr>
            <p:nvPr/>
          </p:nvSpPr>
          <p:spPr bwMode="auto">
            <a:xfrm flipH="1">
              <a:off x="3264" y="1680"/>
              <a:ext cx="2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65" name="Line 27"/>
            <p:cNvSpPr>
              <a:spLocks noChangeShapeType="1"/>
            </p:cNvSpPr>
            <p:nvPr/>
          </p:nvSpPr>
          <p:spPr bwMode="auto">
            <a:xfrm flipH="1" flipV="1">
              <a:off x="3552" y="1440"/>
              <a:ext cx="0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66" name="Line 28"/>
            <p:cNvSpPr>
              <a:spLocks noChangeShapeType="1"/>
            </p:cNvSpPr>
            <p:nvPr/>
          </p:nvSpPr>
          <p:spPr bwMode="auto">
            <a:xfrm>
              <a:off x="1920" y="1440"/>
              <a:ext cx="16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67" name="Line 29"/>
            <p:cNvSpPr>
              <a:spLocks noChangeShapeType="1"/>
            </p:cNvSpPr>
            <p:nvPr/>
          </p:nvSpPr>
          <p:spPr bwMode="auto">
            <a:xfrm flipH="1">
              <a:off x="1920" y="1440"/>
              <a:ext cx="0" cy="18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68" name="Line 30"/>
            <p:cNvSpPr>
              <a:spLocks noChangeShapeType="1"/>
            </p:cNvSpPr>
            <p:nvPr/>
          </p:nvSpPr>
          <p:spPr bwMode="auto">
            <a:xfrm flipV="1">
              <a:off x="1920" y="3312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3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C62AF2-04F0-4F6A-92BE-E043E6B824D1}" type="slidenum">
              <a:rPr lang="en-US"/>
              <a:pPr>
                <a:defRPr/>
              </a:pPr>
              <a:t>36</a:t>
            </a:fld>
            <a:endParaRPr lang="en-US"/>
          </a:p>
        </p:txBody>
      </p:sp>
      <p:sp>
        <p:nvSpPr>
          <p:cNvPr id="40964" name="Rectangle 2"/>
          <p:cNvSpPr>
            <a:spLocks noChangeArrowheads="1"/>
          </p:cNvSpPr>
          <p:nvPr/>
        </p:nvSpPr>
        <p:spPr bwMode="auto">
          <a:xfrm>
            <a:off x="1828800" y="323850"/>
            <a:ext cx="6629400" cy="112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="ctr"/>
          <a:lstStyle/>
          <a:p>
            <a:pPr algn="ctr" eaLnBrk="0" hangingPunct="0"/>
            <a:r>
              <a:rPr lang="en-US" sz="4400">
                <a:solidFill>
                  <a:schemeClr val="tx2"/>
                </a:solidFill>
                <a:latin typeface="Tahoma" pitchFamily="34" charset="0"/>
              </a:rPr>
              <a:t>Example (Cont ..)</a:t>
            </a:r>
          </a:p>
        </p:txBody>
      </p:sp>
      <p:sp>
        <p:nvSpPr>
          <p:cNvPr id="40965" name="Rectangle 3"/>
          <p:cNvSpPr>
            <a:spLocks noChangeArrowheads="1"/>
          </p:cNvSpPr>
          <p:nvPr/>
        </p:nvSpPr>
        <p:spPr bwMode="auto">
          <a:xfrm>
            <a:off x="990600" y="1981200"/>
            <a:ext cx="3886200" cy="2667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46038" rIns="0" bIns="46038"/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</a:pPr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int *ptr;</a:t>
            </a:r>
          </a:p>
          <a:p>
            <a:pPr marL="342900" indent="-342900">
              <a:lnSpc>
                <a:spcPct val="130000"/>
              </a:lnSpc>
            </a:pPr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ptr = new int;</a:t>
            </a:r>
          </a:p>
          <a:p>
            <a:pPr marL="342900" indent="-342900">
              <a:lnSpc>
                <a:spcPct val="130000"/>
              </a:lnSpc>
            </a:pPr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*ptr = 22;</a:t>
            </a:r>
          </a:p>
          <a:p>
            <a:pPr marL="342900" indent="-342900">
              <a:lnSpc>
                <a:spcPct val="130000"/>
              </a:lnSpc>
            </a:pPr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cout &lt;&lt; *ptr &lt;&lt; endl;</a:t>
            </a:r>
          </a:p>
          <a:p>
            <a:pPr marL="342900" indent="-342900">
              <a:lnSpc>
                <a:spcPct val="130000"/>
              </a:lnSpc>
            </a:pPr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delete ptr;</a:t>
            </a:r>
          </a:p>
          <a:p>
            <a:pPr marL="342900" indent="-342900">
              <a:lnSpc>
                <a:spcPct val="130000"/>
              </a:lnSpc>
            </a:pPr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ptr = NULL;</a:t>
            </a:r>
          </a:p>
        </p:txBody>
      </p:sp>
      <p:sp>
        <p:nvSpPr>
          <p:cNvPr id="40966" name="AutoShape 4"/>
          <p:cNvSpPr>
            <a:spLocks noChangeArrowheads="1"/>
          </p:cNvSpPr>
          <p:nvPr/>
        </p:nvSpPr>
        <p:spPr bwMode="auto">
          <a:xfrm>
            <a:off x="304800" y="3352800"/>
            <a:ext cx="533400" cy="152400"/>
          </a:xfrm>
          <a:prstGeom prst="rightArrow">
            <a:avLst>
              <a:gd name="adj1" fmla="val 50000"/>
              <a:gd name="adj2" fmla="val 875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40967" name="Rectangle 5" descr="Light upward diagonal"/>
          <p:cNvSpPr>
            <a:spLocks noChangeArrowheads="1"/>
          </p:cNvSpPr>
          <p:nvPr/>
        </p:nvSpPr>
        <p:spPr bwMode="auto">
          <a:xfrm>
            <a:off x="7499350" y="2492375"/>
            <a:ext cx="1116013" cy="4333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sz="2000">
              <a:solidFill>
                <a:schemeClr val="accent2"/>
              </a:solidFill>
              <a:latin typeface="Tahoma" pitchFamily="34" charset="0"/>
            </a:endParaRPr>
          </a:p>
        </p:txBody>
      </p:sp>
      <p:sp>
        <p:nvSpPr>
          <p:cNvPr id="40968" name="Rectangle 6" descr="Light upward diagonal"/>
          <p:cNvSpPr>
            <a:spLocks noChangeArrowheads="1"/>
          </p:cNvSpPr>
          <p:nvPr/>
        </p:nvSpPr>
        <p:spPr bwMode="auto">
          <a:xfrm>
            <a:off x="7499350" y="2057400"/>
            <a:ext cx="1116013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000">
                <a:solidFill>
                  <a:schemeClr val="accent2"/>
                </a:solidFill>
                <a:latin typeface="Tahoma" pitchFamily="34" charset="0"/>
              </a:rPr>
              <a:t>0EC4</a:t>
            </a:r>
          </a:p>
        </p:txBody>
      </p:sp>
      <p:sp>
        <p:nvSpPr>
          <p:cNvPr id="40969" name="Rectangle 7" descr="Light upward diagonal"/>
          <p:cNvSpPr>
            <a:spLocks noChangeArrowheads="1"/>
          </p:cNvSpPr>
          <p:nvPr/>
        </p:nvSpPr>
        <p:spPr bwMode="auto">
          <a:xfrm>
            <a:off x="7499350" y="5943600"/>
            <a:ext cx="1116013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40970" name="Rectangle 8" descr="Light upward diagonal"/>
          <p:cNvSpPr>
            <a:spLocks noChangeArrowheads="1"/>
          </p:cNvSpPr>
          <p:nvPr/>
        </p:nvSpPr>
        <p:spPr bwMode="auto">
          <a:xfrm>
            <a:off x="7499350" y="2925763"/>
            <a:ext cx="1116013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40971" name="Rectangle 9" descr="Light upward diagonal"/>
          <p:cNvSpPr>
            <a:spLocks noChangeArrowheads="1"/>
          </p:cNvSpPr>
          <p:nvPr/>
        </p:nvSpPr>
        <p:spPr bwMode="auto">
          <a:xfrm>
            <a:off x="7499350" y="3360738"/>
            <a:ext cx="1116013" cy="4333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40972" name="Rectangle 10" descr="Light upward diagonal"/>
          <p:cNvSpPr>
            <a:spLocks noChangeArrowheads="1"/>
          </p:cNvSpPr>
          <p:nvPr/>
        </p:nvSpPr>
        <p:spPr bwMode="auto">
          <a:xfrm>
            <a:off x="7499350" y="4648200"/>
            <a:ext cx="1116013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000">
                <a:solidFill>
                  <a:schemeClr val="accent2"/>
                </a:solidFill>
                <a:latin typeface="Tahoma" pitchFamily="34" charset="0"/>
              </a:rPr>
              <a:t>22</a:t>
            </a:r>
          </a:p>
        </p:txBody>
      </p:sp>
      <p:sp>
        <p:nvSpPr>
          <p:cNvPr id="40973" name="Rectangle 11" descr="Light upward diagonal"/>
          <p:cNvSpPr>
            <a:spLocks noChangeArrowheads="1"/>
          </p:cNvSpPr>
          <p:nvPr/>
        </p:nvSpPr>
        <p:spPr bwMode="auto">
          <a:xfrm>
            <a:off x="7499350" y="5083175"/>
            <a:ext cx="1116013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40974" name="Rectangle 12" descr="Light upward diagonal"/>
          <p:cNvSpPr>
            <a:spLocks noChangeArrowheads="1"/>
          </p:cNvSpPr>
          <p:nvPr/>
        </p:nvSpPr>
        <p:spPr bwMode="auto">
          <a:xfrm>
            <a:off x="7499350" y="5518150"/>
            <a:ext cx="1116013" cy="4333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40975" name="Line 13" descr="Light upward diagonal"/>
          <p:cNvSpPr>
            <a:spLocks noChangeShapeType="1"/>
          </p:cNvSpPr>
          <p:nvPr/>
        </p:nvSpPr>
        <p:spPr bwMode="auto">
          <a:xfrm>
            <a:off x="8151813" y="3876675"/>
            <a:ext cx="1587" cy="695325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976" name="Rectangle 14"/>
          <p:cNvSpPr>
            <a:spLocks noChangeArrowheads="1"/>
          </p:cNvSpPr>
          <p:nvPr/>
        </p:nvSpPr>
        <p:spPr bwMode="auto">
          <a:xfrm>
            <a:off x="6477000" y="2492375"/>
            <a:ext cx="1022350" cy="4333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FDE1</a:t>
            </a:r>
          </a:p>
        </p:txBody>
      </p:sp>
      <p:sp>
        <p:nvSpPr>
          <p:cNvPr id="40977" name="Rectangle 15"/>
          <p:cNvSpPr>
            <a:spLocks noChangeArrowheads="1"/>
          </p:cNvSpPr>
          <p:nvPr/>
        </p:nvSpPr>
        <p:spPr bwMode="auto">
          <a:xfrm>
            <a:off x="6477000" y="2057400"/>
            <a:ext cx="1022350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FDE0</a:t>
            </a:r>
          </a:p>
        </p:txBody>
      </p:sp>
      <p:sp>
        <p:nvSpPr>
          <p:cNvPr id="40978" name="Rectangle 16"/>
          <p:cNvSpPr>
            <a:spLocks noChangeArrowheads="1"/>
          </p:cNvSpPr>
          <p:nvPr/>
        </p:nvSpPr>
        <p:spPr bwMode="auto">
          <a:xfrm>
            <a:off x="6477000" y="5943600"/>
            <a:ext cx="1022350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0EC7</a:t>
            </a:r>
          </a:p>
        </p:txBody>
      </p:sp>
      <p:sp>
        <p:nvSpPr>
          <p:cNvPr id="40979" name="Rectangle 17"/>
          <p:cNvSpPr>
            <a:spLocks noChangeArrowheads="1"/>
          </p:cNvSpPr>
          <p:nvPr/>
        </p:nvSpPr>
        <p:spPr bwMode="auto">
          <a:xfrm>
            <a:off x="6477000" y="2925763"/>
            <a:ext cx="1022350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FDE2</a:t>
            </a:r>
          </a:p>
        </p:txBody>
      </p:sp>
      <p:sp>
        <p:nvSpPr>
          <p:cNvPr id="40980" name="Rectangle 18"/>
          <p:cNvSpPr>
            <a:spLocks noChangeArrowheads="1"/>
          </p:cNvSpPr>
          <p:nvPr/>
        </p:nvSpPr>
        <p:spPr bwMode="auto">
          <a:xfrm>
            <a:off x="6477000" y="3360738"/>
            <a:ext cx="1022350" cy="4333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FDE3</a:t>
            </a:r>
          </a:p>
        </p:txBody>
      </p:sp>
      <p:sp>
        <p:nvSpPr>
          <p:cNvPr id="40981" name="Rectangle 19"/>
          <p:cNvSpPr>
            <a:spLocks noChangeArrowheads="1"/>
          </p:cNvSpPr>
          <p:nvPr/>
        </p:nvSpPr>
        <p:spPr bwMode="auto">
          <a:xfrm>
            <a:off x="6477000" y="4648200"/>
            <a:ext cx="1022350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0EC4</a:t>
            </a:r>
          </a:p>
        </p:txBody>
      </p:sp>
      <p:sp>
        <p:nvSpPr>
          <p:cNvPr id="40982" name="Rectangle 20"/>
          <p:cNvSpPr>
            <a:spLocks noChangeArrowheads="1"/>
          </p:cNvSpPr>
          <p:nvPr/>
        </p:nvSpPr>
        <p:spPr bwMode="auto">
          <a:xfrm>
            <a:off x="6477000" y="5083175"/>
            <a:ext cx="1022350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0EC5</a:t>
            </a:r>
          </a:p>
        </p:txBody>
      </p:sp>
      <p:sp>
        <p:nvSpPr>
          <p:cNvPr id="40983" name="Rectangle 21"/>
          <p:cNvSpPr>
            <a:spLocks noChangeArrowheads="1"/>
          </p:cNvSpPr>
          <p:nvPr/>
        </p:nvSpPr>
        <p:spPr bwMode="auto">
          <a:xfrm>
            <a:off x="6477000" y="5518150"/>
            <a:ext cx="1022350" cy="4333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0EC6</a:t>
            </a:r>
          </a:p>
        </p:txBody>
      </p:sp>
      <p:sp>
        <p:nvSpPr>
          <p:cNvPr id="40984" name="Line 22"/>
          <p:cNvSpPr>
            <a:spLocks noChangeShapeType="1"/>
          </p:cNvSpPr>
          <p:nvPr/>
        </p:nvSpPr>
        <p:spPr bwMode="auto">
          <a:xfrm>
            <a:off x="7035800" y="3876675"/>
            <a:ext cx="1588" cy="695325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985" name="Text Box 23"/>
          <p:cNvSpPr txBox="1">
            <a:spLocks noChangeArrowheads="1"/>
          </p:cNvSpPr>
          <p:nvPr/>
        </p:nvSpPr>
        <p:spPr bwMode="auto">
          <a:xfrm>
            <a:off x="5715000" y="2041525"/>
            <a:ext cx="685800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rIns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i="1">
                <a:solidFill>
                  <a:schemeClr val="tx2"/>
                </a:solidFill>
                <a:latin typeface="Tahoma" pitchFamily="34" charset="0"/>
              </a:rPr>
              <a:t>ptr</a:t>
            </a:r>
          </a:p>
        </p:txBody>
      </p:sp>
      <p:sp>
        <p:nvSpPr>
          <p:cNvPr id="40986" name="Rectangle 24"/>
          <p:cNvSpPr>
            <a:spLocks noChangeArrowheads="1"/>
          </p:cNvSpPr>
          <p:nvPr/>
        </p:nvSpPr>
        <p:spPr bwMode="auto">
          <a:xfrm>
            <a:off x="7624763" y="2057400"/>
            <a:ext cx="914400" cy="381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sz="2000">
              <a:solidFill>
                <a:schemeClr val="accent2"/>
              </a:solidFill>
              <a:latin typeface="Tahoma" pitchFamily="34" charset="0"/>
            </a:endParaRPr>
          </a:p>
        </p:txBody>
      </p:sp>
      <p:grpSp>
        <p:nvGrpSpPr>
          <p:cNvPr id="40987" name="Group 25"/>
          <p:cNvGrpSpPr>
            <a:grpSpLocks/>
          </p:cNvGrpSpPr>
          <p:nvPr/>
        </p:nvGrpSpPr>
        <p:grpSpPr bwMode="auto">
          <a:xfrm>
            <a:off x="6248400" y="1905000"/>
            <a:ext cx="2590800" cy="2971800"/>
            <a:chOff x="1920" y="1440"/>
            <a:chExt cx="1632" cy="1872"/>
          </a:xfrm>
        </p:grpSpPr>
        <p:sp>
          <p:nvSpPr>
            <p:cNvPr id="40989" name="Line 26"/>
            <p:cNvSpPr>
              <a:spLocks noChangeShapeType="1"/>
            </p:cNvSpPr>
            <p:nvPr/>
          </p:nvSpPr>
          <p:spPr bwMode="auto">
            <a:xfrm flipH="1">
              <a:off x="3264" y="1680"/>
              <a:ext cx="2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990" name="Line 27"/>
            <p:cNvSpPr>
              <a:spLocks noChangeShapeType="1"/>
            </p:cNvSpPr>
            <p:nvPr/>
          </p:nvSpPr>
          <p:spPr bwMode="auto">
            <a:xfrm flipH="1" flipV="1">
              <a:off x="3552" y="1440"/>
              <a:ext cx="0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991" name="Line 28"/>
            <p:cNvSpPr>
              <a:spLocks noChangeShapeType="1"/>
            </p:cNvSpPr>
            <p:nvPr/>
          </p:nvSpPr>
          <p:spPr bwMode="auto">
            <a:xfrm>
              <a:off x="1920" y="1440"/>
              <a:ext cx="16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992" name="Line 29"/>
            <p:cNvSpPr>
              <a:spLocks noChangeShapeType="1"/>
            </p:cNvSpPr>
            <p:nvPr/>
          </p:nvSpPr>
          <p:spPr bwMode="auto">
            <a:xfrm flipH="1">
              <a:off x="1920" y="1440"/>
              <a:ext cx="0" cy="18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993" name="Line 30"/>
            <p:cNvSpPr>
              <a:spLocks noChangeShapeType="1"/>
            </p:cNvSpPr>
            <p:nvPr/>
          </p:nvSpPr>
          <p:spPr bwMode="auto">
            <a:xfrm flipV="1">
              <a:off x="1920" y="3312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8335" name="Text Box 31"/>
          <p:cNvSpPr txBox="1">
            <a:spLocks noChangeArrowheads="1"/>
          </p:cNvSpPr>
          <p:nvPr/>
        </p:nvSpPr>
        <p:spPr bwMode="auto">
          <a:xfrm>
            <a:off x="914400" y="4903788"/>
            <a:ext cx="2209800" cy="11160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sy="50000" kx="-2453608" rotWithShape="0">
              <a:schemeClr val="bg2"/>
            </a:outerShdw>
          </a:effectLst>
        </p:spPr>
        <p:txBody>
          <a:bodyPr>
            <a:spAutoFit/>
          </a:bodyPr>
          <a:lstStyle/>
          <a:p>
            <a:pPr eaLnBrk="0" fontAlgn="auto" hangingPunct="0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>
                <a:schemeClr val="tx1"/>
              </a:buClr>
              <a:buSzPct val="100000"/>
              <a:defRPr/>
            </a:pPr>
            <a:r>
              <a:rPr lang="en-US" u="sng">
                <a:latin typeface="Tahoma" pitchFamily="34" charset="0"/>
              </a:rPr>
              <a:t>Output:</a:t>
            </a:r>
            <a:endParaRPr lang="en-US" sz="2000">
              <a:latin typeface="Tahoma" pitchFamily="34" charset="0"/>
            </a:endParaRPr>
          </a:p>
          <a:p>
            <a:pPr eaLnBrk="0" fontAlgn="auto" hangingPunct="0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>
                <a:schemeClr val="tx1"/>
              </a:buClr>
              <a:buSzPct val="100000"/>
              <a:defRPr/>
            </a:pPr>
            <a:endParaRPr lang="en-US" sz="2000">
              <a:latin typeface="Tahoma" pitchFamily="34" charset="0"/>
            </a:endParaRPr>
          </a:p>
          <a:p>
            <a:pPr eaLnBrk="0" fontAlgn="auto" hangingPunct="0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>
                <a:schemeClr val="tx1"/>
              </a:buClr>
              <a:buSzPct val="100000"/>
              <a:defRPr/>
            </a:pPr>
            <a:r>
              <a:rPr lang="en-US" sz="2800" b="1">
                <a:latin typeface="Courier New" pitchFamily="49" charset="0"/>
              </a:rPr>
              <a:t>22</a:t>
            </a:r>
            <a:endParaRPr lang="en-US" sz="3200">
              <a:solidFill>
                <a:srgbClr val="800000"/>
              </a:solidFill>
              <a:latin typeface="Book Antiqua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D438C35-2895-4EB0-9DC1-3EF03BFA260E}" type="slidenum">
              <a:rPr lang="en-US"/>
              <a:pPr>
                <a:defRPr/>
              </a:pPr>
              <a:t>37</a:t>
            </a:fld>
            <a:endParaRPr lang="en-US"/>
          </a:p>
        </p:txBody>
      </p:sp>
      <p:sp>
        <p:nvSpPr>
          <p:cNvPr id="41988" name="Rectangle 2"/>
          <p:cNvSpPr>
            <a:spLocks noChangeArrowheads="1"/>
          </p:cNvSpPr>
          <p:nvPr/>
        </p:nvSpPr>
        <p:spPr bwMode="auto">
          <a:xfrm>
            <a:off x="1828800" y="323850"/>
            <a:ext cx="6629400" cy="112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="ctr"/>
          <a:lstStyle/>
          <a:p>
            <a:pPr algn="ctr" eaLnBrk="0" hangingPunct="0"/>
            <a:r>
              <a:rPr lang="en-US" sz="4400">
                <a:solidFill>
                  <a:schemeClr val="tx2"/>
                </a:solidFill>
                <a:latin typeface="Tahoma" pitchFamily="34" charset="0"/>
              </a:rPr>
              <a:t>Example (Cont ..)</a:t>
            </a:r>
          </a:p>
        </p:txBody>
      </p:sp>
      <p:sp>
        <p:nvSpPr>
          <p:cNvPr id="41989" name="Rectangle 3"/>
          <p:cNvSpPr>
            <a:spLocks noChangeArrowheads="1"/>
          </p:cNvSpPr>
          <p:nvPr/>
        </p:nvSpPr>
        <p:spPr bwMode="auto">
          <a:xfrm>
            <a:off x="990600" y="1981200"/>
            <a:ext cx="3886200" cy="2667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46038" rIns="0" bIns="46038"/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</a:pPr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int *ptr;</a:t>
            </a:r>
          </a:p>
          <a:p>
            <a:pPr marL="342900" indent="-342900">
              <a:lnSpc>
                <a:spcPct val="130000"/>
              </a:lnSpc>
            </a:pPr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ptr = new int;</a:t>
            </a:r>
          </a:p>
          <a:p>
            <a:pPr marL="342900" indent="-342900">
              <a:lnSpc>
                <a:spcPct val="130000"/>
              </a:lnSpc>
            </a:pPr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*ptr = 22;</a:t>
            </a:r>
          </a:p>
          <a:p>
            <a:pPr marL="342900" indent="-342900">
              <a:lnSpc>
                <a:spcPct val="130000"/>
              </a:lnSpc>
            </a:pPr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cout &lt;&lt; *ptr &lt;&lt; endl;</a:t>
            </a:r>
          </a:p>
          <a:p>
            <a:pPr marL="342900" indent="-342900">
              <a:lnSpc>
                <a:spcPct val="130000"/>
              </a:lnSpc>
            </a:pPr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delete ptr;</a:t>
            </a:r>
          </a:p>
          <a:p>
            <a:pPr marL="342900" indent="-342900">
              <a:lnSpc>
                <a:spcPct val="130000"/>
              </a:lnSpc>
            </a:pPr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ptr = NULL;</a:t>
            </a:r>
          </a:p>
        </p:txBody>
      </p:sp>
      <p:sp>
        <p:nvSpPr>
          <p:cNvPr id="41990" name="AutoShape 4"/>
          <p:cNvSpPr>
            <a:spLocks noChangeArrowheads="1"/>
          </p:cNvSpPr>
          <p:nvPr/>
        </p:nvSpPr>
        <p:spPr bwMode="auto">
          <a:xfrm>
            <a:off x="304800" y="3733800"/>
            <a:ext cx="533400" cy="152400"/>
          </a:xfrm>
          <a:prstGeom prst="rightArrow">
            <a:avLst>
              <a:gd name="adj1" fmla="val 50000"/>
              <a:gd name="adj2" fmla="val 875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41991" name="Rectangle 5" descr="Light upward diagonal"/>
          <p:cNvSpPr>
            <a:spLocks noChangeArrowheads="1"/>
          </p:cNvSpPr>
          <p:nvPr/>
        </p:nvSpPr>
        <p:spPr bwMode="auto">
          <a:xfrm>
            <a:off x="7499350" y="2492375"/>
            <a:ext cx="1116013" cy="4333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sz="2000">
              <a:latin typeface="Tahoma" pitchFamily="34" charset="0"/>
            </a:endParaRPr>
          </a:p>
        </p:txBody>
      </p:sp>
      <p:sp>
        <p:nvSpPr>
          <p:cNvPr id="41992" name="Rectangle 6" descr="Light upward diagonal"/>
          <p:cNvSpPr>
            <a:spLocks noChangeArrowheads="1"/>
          </p:cNvSpPr>
          <p:nvPr/>
        </p:nvSpPr>
        <p:spPr bwMode="auto">
          <a:xfrm>
            <a:off x="7499350" y="2057400"/>
            <a:ext cx="1116013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000">
                <a:solidFill>
                  <a:schemeClr val="accent2"/>
                </a:solidFill>
                <a:latin typeface="Tahoma" pitchFamily="34" charset="0"/>
              </a:rPr>
              <a:t>?</a:t>
            </a:r>
          </a:p>
        </p:txBody>
      </p:sp>
      <p:sp>
        <p:nvSpPr>
          <p:cNvPr id="41993" name="Rectangle 7" descr="Light upward diagonal"/>
          <p:cNvSpPr>
            <a:spLocks noChangeArrowheads="1"/>
          </p:cNvSpPr>
          <p:nvPr/>
        </p:nvSpPr>
        <p:spPr bwMode="auto">
          <a:xfrm>
            <a:off x="7499350" y="5943600"/>
            <a:ext cx="1116013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41994" name="Rectangle 8" descr="Light upward diagonal"/>
          <p:cNvSpPr>
            <a:spLocks noChangeArrowheads="1"/>
          </p:cNvSpPr>
          <p:nvPr/>
        </p:nvSpPr>
        <p:spPr bwMode="auto">
          <a:xfrm>
            <a:off x="7499350" y="2925763"/>
            <a:ext cx="1116013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41995" name="Rectangle 9" descr="Light upward diagonal"/>
          <p:cNvSpPr>
            <a:spLocks noChangeArrowheads="1"/>
          </p:cNvSpPr>
          <p:nvPr/>
        </p:nvSpPr>
        <p:spPr bwMode="auto">
          <a:xfrm>
            <a:off x="7499350" y="3360738"/>
            <a:ext cx="1116013" cy="4333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41996" name="Rectangle 10" descr="Light upward diagonal"/>
          <p:cNvSpPr>
            <a:spLocks noChangeArrowheads="1"/>
          </p:cNvSpPr>
          <p:nvPr/>
        </p:nvSpPr>
        <p:spPr bwMode="auto">
          <a:xfrm>
            <a:off x="7499350" y="4648200"/>
            <a:ext cx="1116013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sz="2000">
              <a:latin typeface="Tahoma" pitchFamily="34" charset="0"/>
            </a:endParaRPr>
          </a:p>
        </p:txBody>
      </p:sp>
      <p:sp>
        <p:nvSpPr>
          <p:cNvPr id="41997" name="Rectangle 11" descr="Light upward diagonal"/>
          <p:cNvSpPr>
            <a:spLocks noChangeArrowheads="1"/>
          </p:cNvSpPr>
          <p:nvPr/>
        </p:nvSpPr>
        <p:spPr bwMode="auto">
          <a:xfrm>
            <a:off x="7499350" y="5083175"/>
            <a:ext cx="1116013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41998" name="Rectangle 12" descr="Light upward diagonal"/>
          <p:cNvSpPr>
            <a:spLocks noChangeArrowheads="1"/>
          </p:cNvSpPr>
          <p:nvPr/>
        </p:nvSpPr>
        <p:spPr bwMode="auto">
          <a:xfrm>
            <a:off x="7499350" y="5518150"/>
            <a:ext cx="1116013" cy="4333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41999" name="Line 13" descr="Light upward diagonal"/>
          <p:cNvSpPr>
            <a:spLocks noChangeShapeType="1"/>
          </p:cNvSpPr>
          <p:nvPr/>
        </p:nvSpPr>
        <p:spPr bwMode="auto">
          <a:xfrm>
            <a:off x="8151813" y="3876675"/>
            <a:ext cx="1587" cy="695325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2000" name="Rectangle 14"/>
          <p:cNvSpPr>
            <a:spLocks noChangeArrowheads="1"/>
          </p:cNvSpPr>
          <p:nvPr/>
        </p:nvSpPr>
        <p:spPr bwMode="auto">
          <a:xfrm>
            <a:off x="6477000" y="2492375"/>
            <a:ext cx="1022350" cy="4333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FDE1</a:t>
            </a:r>
          </a:p>
        </p:txBody>
      </p:sp>
      <p:sp>
        <p:nvSpPr>
          <p:cNvPr id="42001" name="Rectangle 15"/>
          <p:cNvSpPr>
            <a:spLocks noChangeArrowheads="1"/>
          </p:cNvSpPr>
          <p:nvPr/>
        </p:nvSpPr>
        <p:spPr bwMode="auto">
          <a:xfrm>
            <a:off x="6477000" y="2057400"/>
            <a:ext cx="1022350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FDE0</a:t>
            </a:r>
          </a:p>
        </p:txBody>
      </p:sp>
      <p:sp>
        <p:nvSpPr>
          <p:cNvPr id="42002" name="Rectangle 16"/>
          <p:cNvSpPr>
            <a:spLocks noChangeArrowheads="1"/>
          </p:cNvSpPr>
          <p:nvPr/>
        </p:nvSpPr>
        <p:spPr bwMode="auto">
          <a:xfrm>
            <a:off x="6477000" y="5943600"/>
            <a:ext cx="1022350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0EC7</a:t>
            </a:r>
          </a:p>
        </p:txBody>
      </p:sp>
      <p:sp>
        <p:nvSpPr>
          <p:cNvPr id="42003" name="Rectangle 17"/>
          <p:cNvSpPr>
            <a:spLocks noChangeArrowheads="1"/>
          </p:cNvSpPr>
          <p:nvPr/>
        </p:nvSpPr>
        <p:spPr bwMode="auto">
          <a:xfrm>
            <a:off x="6477000" y="2925763"/>
            <a:ext cx="1022350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FDE2</a:t>
            </a:r>
          </a:p>
        </p:txBody>
      </p:sp>
      <p:sp>
        <p:nvSpPr>
          <p:cNvPr id="42004" name="Rectangle 18"/>
          <p:cNvSpPr>
            <a:spLocks noChangeArrowheads="1"/>
          </p:cNvSpPr>
          <p:nvPr/>
        </p:nvSpPr>
        <p:spPr bwMode="auto">
          <a:xfrm>
            <a:off x="6477000" y="3360738"/>
            <a:ext cx="1022350" cy="4333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FDE3</a:t>
            </a:r>
          </a:p>
        </p:txBody>
      </p:sp>
      <p:sp>
        <p:nvSpPr>
          <p:cNvPr id="42005" name="Rectangle 19"/>
          <p:cNvSpPr>
            <a:spLocks noChangeArrowheads="1"/>
          </p:cNvSpPr>
          <p:nvPr/>
        </p:nvSpPr>
        <p:spPr bwMode="auto">
          <a:xfrm>
            <a:off x="6477000" y="4648200"/>
            <a:ext cx="1022350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0EC4</a:t>
            </a:r>
          </a:p>
        </p:txBody>
      </p:sp>
      <p:sp>
        <p:nvSpPr>
          <p:cNvPr id="42006" name="Rectangle 20"/>
          <p:cNvSpPr>
            <a:spLocks noChangeArrowheads="1"/>
          </p:cNvSpPr>
          <p:nvPr/>
        </p:nvSpPr>
        <p:spPr bwMode="auto">
          <a:xfrm>
            <a:off x="6477000" y="5083175"/>
            <a:ext cx="1022350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0EC5</a:t>
            </a:r>
          </a:p>
        </p:txBody>
      </p:sp>
      <p:sp>
        <p:nvSpPr>
          <p:cNvPr id="42007" name="Rectangle 21"/>
          <p:cNvSpPr>
            <a:spLocks noChangeArrowheads="1"/>
          </p:cNvSpPr>
          <p:nvPr/>
        </p:nvSpPr>
        <p:spPr bwMode="auto">
          <a:xfrm>
            <a:off x="6477000" y="5518150"/>
            <a:ext cx="1022350" cy="4333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0EC6</a:t>
            </a:r>
          </a:p>
        </p:txBody>
      </p:sp>
      <p:sp>
        <p:nvSpPr>
          <p:cNvPr id="42008" name="Line 22"/>
          <p:cNvSpPr>
            <a:spLocks noChangeShapeType="1"/>
          </p:cNvSpPr>
          <p:nvPr/>
        </p:nvSpPr>
        <p:spPr bwMode="auto">
          <a:xfrm>
            <a:off x="7035800" y="3876675"/>
            <a:ext cx="1588" cy="695325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2009" name="Text Box 23"/>
          <p:cNvSpPr txBox="1">
            <a:spLocks noChangeArrowheads="1"/>
          </p:cNvSpPr>
          <p:nvPr/>
        </p:nvSpPr>
        <p:spPr bwMode="auto">
          <a:xfrm>
            <a:off x="5715000" y="2041525"/>
            <a:ext cx="685800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rIns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i="1">
                <a:solidFill>
                  <a:schemeClr val="tx2"/>
                </a:solidFill>
                <a:latin typeface="Tahoma" pitchFamily="34" charset="0"/>
              </a:rPr>
              <a:t>ptr</a:t>
            </a:r>
          </a:p>
        </p:txBody>
      </p:sp>
      <p:sp>
        <p:nvSpPr>
          <p:cNvPr id="42010" name="Rectangle 24"/>
          <p:cNvSpPr>
            <a:spLocks noChangeArrowheads="1"/>
          </p:cNvSpPr>
          <p:nvPr/>
        </p:nvSpPr>
        <p:spPr bwMode="auto">
          <a:xfrm>
            <a:off x="7624763" y="2057400"/>
            <a:ext cx="914400" cy="381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sz="2000">
              <a:latin typeface="Tahoma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296394-A3C3-44C6-A7E2-5BA3F8791779}" type="slidenum">
              <a:rPr lang="en-US"/>
              <a:pPr>
                <a:defRPr/>
              </a:pPr>
              <a:t>38</a:t>
            </a:fld>
            <a:endParaRPr lang="en-US"/>
          </a:p>
        </p:txBody>
      </p:sp>
      <p:sp>
        <p:nvSpPr>
          <p:cNvPr id="43012" name="Rectangle 2"/>
          <p:cNvSpPr>
            <a:spLocks noChangeArrowheads="1"/>
          </p:cNvSpPr>
          <p:nvPr/>
        </p:nvSpPr>
        <p:spPr bwMode="auto">
          <a:xfrm>
            <a:off x="1828800" y="323850"/>
            <a:ext cx="6629400" cy="112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="ctr"/>
          <a:lstStyle/>
          <a:p>
            <a:pPr algn="ctr" eaLnBrk="0" hangingPunct="0"/>
            <a:r>
              <a:rPr lang="en-US" sz="4400">
                <a:solidFill>
                  <a:schemeClr val="tx2"/>
                </a:solidFill>
                <a:latin typeface="Tahoma" pitchFamily="34" charset="0"/>
              </a:rPr>
              <a:t>Example (Cont ..)</a:t>
            </a:r>
          </a:p>
        </p:txBody>
      </p:sp>
      <p:sp>
        <p:nvSpPr>
          <p:cNvPr id="43013" name="Rectangle 3"/>
          <p:cNvSpPr>
            <a:spLocks noChangeArrowheads="1"/>
          </p:cNvSpPr>
          <p:nvPr/>
        </p:nvSpPr>
        <p:spPr bwMode="auto">
          <a:xfrm>
            <a:off x="990600" y="1981200"/>
            <a:ext cx="3886200" cy="2667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46038" rIns="0" bIns="46038"/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</a:pPr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int *ptr;</a:t>
            </a:r>
          </a:p>
          <a:p>
            <a:pPr marL="342900" indent="-342900">
              <a:lnSpc>
                <a:spcPct val="130000"/>
              </a:lnSpc>
            </a:pPr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ptr = new int;</a:t>
            </a:r>
          </a:p>
          <a:p>
            <a:pPr marL="342900" indent="-342900">
              <a:lnSpc>
                <a:spcPct val="130000"/>
              </a:lnSpc>
            </a:pPr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*ptr = 22;</a:t>
            </a:r>
          </a:p>
          <a:p>
            <a:pPr marL="342900" indent="-342900">
              <a:lnSpc>
                <a:spcPct val="130000"/>
              </a:lnSpc>
            </a:pPr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cout &lt;&lt; *ptr &lt;&lt; endl;</a:t>
            </a:r>
          </a:p>
          <a:p>
            <a:pPr marL="342900" indent="-342900">
              <a:lnSpc>
                <a:spcPct val="130000"/>
              </a:lnSpc>
            </a:pPr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delete ptr;</a:t>
            </a:r>
          </a:p>
          <a:p>
            <a:pPr marL="342900" indent="-342900">
              <a:lnSpc>
                <a:spcPct val="130000"/>
              </a:lnSpc>
            </a:pPr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ptr = NULL;</a:t>
            </a:r>
          </a:p>
        </p:txBody>
      </p:sp>
      <p:sp>
        <p:nvSpPr>
          <p:cNvPr id="43014" name="AutoShape 4"/>
          <p:cNvSpPr>
            <a:spLocks noChangeArrowheads="1"/>
          </p:cNvSpPr>
          <p:nvPr/>
        </p:nvSpPr>
        <p:spPr bwMode="auto">
          <a:xfrm>
            <a:off x="304800" y="4191000"/>
            <a:ext cx="533400" cy="152400"/>
          </a:xfrm>
          <a:prstGeom prst="rightArrow">
            <a:avLst>
              <a:gd name="adj1" fmla="val 50000"/>
              <a:gd name="adj2" fmla="val 875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43015" name="Rectangle 5" descr="Light upward diagonal"/>
          <p:cNvSpPr>
            <a:spLocks noChangeArrowheads="1"/>
          </p:cNvSpPr>
          <p:nvPr/>
        </p:nvSpPr>
        <p:spPr bwMode="auto">
          <a:xfrm>
            <a:off x="7499350" y="2492375"/>
            <a:ext cx="1116013" cy="4333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sz="2000">
              <a:solidFill>
                <a:schemeClr val="accent2"/>
              </a:solidFill>
              <a:latin typeface="Tahoma" pitchFamily="34" charset="0"/>
            </a:endParaRPr>
          </a:p>
        </p:txBody>
      </p:sp>
      <p:sp>
        <p:nvSpPr>
          <p:cNvPr id="43016" name="Rectangle 6" descr="Light upward diagonal"/>
          <p:cNvSpPr>
            <a:spLocks noChangeArrowheads="1"/>
          </p:cNvSpPr>
          <p:nvPr/>
        </p:nvSpPr>
        <p:spPr bwMode="auto">
          <a:xfrm>
            <a:off x="7499350" y="2057400"/>
            <a:ext cx="1116013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000">
                <a:solidFill>
                  <a:schemeClr val="accent2"/>
                </a:solidFill>
                <a:latin typeface="Tahoma" pitchFamily="34" charset="0"/>
              </a:rPr>
              <a:t>0</a:t>
            </a:r>
          </a:p>
        </p:txBody>
      </p:sp>
      <p:sp>
        <p:nvSpPr>
          <p:cNvPr id="43017" name="Rectangle 7" descr="Light upward diagonal"/>
          <p:cNvSpPr>
            <a:spLocks noChangeArrowheads="1"/>
          </p:cNvSpPr>
          <p:nvPr/>
        </p:nvSpPr>
        <p:spPr bwMode="auto">
          <a:xfrm>
            <a:off x="7499350" y="5943600"/>
            <a:ext cx="1116013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43018" name="Rectangle 8" descr="Light upward diagonal"/>
          <p:cNvSpPr>
            <a:spLocks noChangeArrowheads="1"/>
          </p:cNvSpPr>
          <p:nvPr/>
        </p:nvSpPr>
        <p:spPr bwMode="auto">
          <a:xfrm>
            <a:off x="7499350" y="2925763"/>
            <a:ext cx="1116013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43019" name="Rectangle 9" descr="Light upward diagonal"/>
          <p:cNvSpPr>
            <a:spLocks noChangeArrowheads="1"/>
          </p:cNvSpPr>
          <p:nvPr/>
        </p:nvSpPr>
        <p:spPr bwMode="auto">
          <a:xfrm>
            <a:off x="7499350" y="3360738"/>
            <a:ext cx="1116013" cy="4333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43020" name="Rectangle 10" descr="Light upward diagonal"/>
          <p:cNvSpPr>
            <a:spLocks noChangeArrowheads="1"/>
          </p:cNvSpPr>
          <p:nvPr/>
        </p:nvSpPr>
        <p:spPr bwMode="auto">
          <a:xfrm>
            <a:off x="7499350" y="4648200"/>
            <a:ext cx="1116013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sz="2000">
              <a:solidFill>
                <a:schemeClr val="accent2"/>
              </a:solidFill>
              <a:latin typeface="Tahoma" pitchFamily="34" charset="0"/>
            </a:endParaRPr>
          </a:p>
        </p:txBody>
      </p:sp>
      <p:sp>
        <p:nvSpPr>
          <p:cNvPr id="43021" name="Rectangle 11" descr="Light upward diagonal"/>
          <p:cNvSpPr>
            <a:spLocks noChangeArrowheads="1"/>
          </p:cNvSpPr>
          <p:nvPr/>
        </p:nvSpPr>
        <p:spPr bwMode="auto">
          <a:xfrm>
            <a:off x="7499350" y="5083175"/>
            <a:ext cx="1116013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43022" name="Rectangle 12" descr="Light upward diagonal"/>
          <p:cNvSpPr>
            <a:spLocks noChangeArrowheads="1"/>
          </p:cNvSpPr>
          <p:nvPr/>
        </p:nvSpPr>
        <p:spPr bwMode="auto">
          <a:xfrm>
            <a:off x="7499350" y="5518150"/>
            <a:ext cx="1116013" cy="4333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43023" name="Line 13" descr="Light upward diagonal"/>
          <p:cNvSpPr>
            <a:spLocks noChangeShapeType="1"/>
          </p:cNvSpPr>
          <p:nvPr/>
        </p:nvSpPr>
        <p:spPr bwMode="auto">
          <a:xfrm>
            <a:off x="8151813" y="3876675"/>
            <a:ext cx="1587" cy="695325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3024" name="Rectangle 14"/>
          <p:cNvSpPr>
            <a:spLocks noChangeArrowheads="1"/>
          </p:cNvSpPr>
          <p:nvPr/>
        </p:nvSpPr>
        <p:spPr bwMode="auto">
          <a:xfrm>
            <a:off x="6477000" y="2492375"/>
            <a:ext cx="1022350" cy="4333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FDE1</a:t>
            </a:r>
          </a:p>
        </p:txBody>
      </p:sp>
      <p:sp>
        <p:nvSpPr>
          <p:cNvPr id="43025" name="Rectangle 15"/>
          <p:cNvSpPr>
            <a:spLocks noChangeArrowheads="1"/>
          </p:cNvSpPr>
          <p:nvPr/>
        </p:nvSpPr>
        <p:spPr bwMode="auto">
          <a:xfrm>
            <a:off x="6477000" y="2057400"/>
            <a:ext cx="1022350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FDE0</a:t>
            </a:r>
          </a:p>
        </p:txBody>
      </p:sp>
      <p:sp>
        <p:nvSpPr>
          <p:cNvPr id="43026" name="Rectangle 16"/>
          <p:cNvSpPr>
            <a:spLocks noChangeArrowheads="1"/>
          </p:cNvSpPr>
          <p:nvPr/>
        </p:nvSpPr>
        <p:spPr bwMode="auto">
          <a:xfrm>
            <a:off x="6477000" y="5943600"/>
            <a:ext cx="1022350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0EC7</a:t>
            </a:r>
          </a:p>
        </p:txBody>
      </p:sp>
      <p:sp>
        <p:nvSpPr>
          <p:cNvPr id="43027" name="Rectangle 17"/>
          <p:cNvSpPr>
            <a:spLocks noChangeArrowheads="1"/>
          </p:cNvSpPr>
          <p:nvPr/>
        </p:nvSpPr>
        <p:spPr bwMode="auto">
          <a:xfrm>
            <a:off x="6477000" y="2925763"/>
            <a:ext cx="1022350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FDE2</a:t>
            </a:r>
          </a:p>
        </p:txBody>
      </p:sp>
      <p:sp>
        <p:nvSpPr>
          <p:cNvPr id="43028" name="Rectangle 18"/>
          <p:cNvSpPr>
            <a:spLocks noChangeArrowheads="1"/>
          </p:cNvSpPr>
          <p:nvPr/>
        </p:nvSpPr>
        <p:spPr bwMode="auto">
          <a:xfrm>
            <a:off x="6477000" y="3360738"/>
            <a:ext cx="1022350" cy="4333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FDE3</a:t>
            </a:r>
          </a:p>
        </p:txBody>
      </p:sp>
      <p:sp>
        <p:nvSpPr>
          <p:cNvPr id="43029" name="Rectangle 19"/>
          <p:cNvSpPr>
            <a:spLocks noChangeArrowheads="1"/>
          </p:cNvSpPr>
          <p:nvPr/>
        </p:nvSpPr>
        <p:spPr bwMode="auto">
          <a:xfrm>
            <a:off x="6477000" y="4648200"/>
            <a:ext cx="1022350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0EC4</a:t>
            </a:r>
          </a:p>
        </p:txBody>
      </p:sp>
      <p:sp>
        <p:nvSpPr>
          <p:cNvPr id="43030" name="Rectangle 20"/>
          <p:cNvSpPr>
            <a:spLocks noChangeArrowheads="1"/>
          </p:cNvSpPr>
          <p:nvPr/>
        </p:nvSpPr>
        <p:spPr bwMode="auto">
          <a:xfrm>
            <a:off x="6477000" y="5083175"/>
            <a:ext cx="1022350" cy="434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0EC5</a:t>
            </a:r>
          </a:p>
        </p:txBody>
      </p:sp>
      <p:sp>
        <p:nvSpPr>
          <p:cNvPr id="43031" name="Rectangle 21"/>
          <p:cNvSpPr>
            <a:spLocks noChangeArrowheads="1"/>
          </p:cNvSpPr>
          <p:nvPr/>
        </p:nvSpPr>
        <p:spPr bwMode="auto">
          <a:xfrm>
            <a:off x="6477000" y="5518150"/>
            <a:ext cx="1022350" cy="4333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0EC6</a:t>
            </a:r>
          </a:p>
        </p:txBody>
      </p:sp>
      <p:sp>
        <p:nvSpPr>
          <p:cNvPr id="43032" name="Line 22"/>
          <p:cNvSpPr>
            <a:spLocks noChangeShapeType="1"/>
          </p:cNvSpPr>
          <p:nvPr/>
        </p:nvSpPr>
        <p:spPr bwMode="auto">
          <a:xfrm>
            <a:off x="7035800" y="3876675"/>
            <a:ext cx="1588" cy="695325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3033" name="Text Box 23"/>
          <p:cNvSpPr txBox="1">
            <a:spLocks noChangeArrowheads="1"/>
          </p:cNvSpPr>
          <p:nvPr/>
        </p:nvSpPr>
        <p:spPr bwMode="auto">
          <a:xfrm>
            <a:off x="5715000" y="2041525"/>
            <a:ext cx="685800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rIns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i="1">
                <a:solidFill>
                  <a:schemeClr val="tx2"/>
                </a:solidFill>
                <a:latin typeface="Tahoma" pitchFamily="34" charset="0"/>
              </a:rPr>
              <a:t>ptr</a:t>
            </a:r>
          </a:p>
        </p:txBody>
      </p:sp>
      <p:sp>
        <p:nvSpPr>
          <p:cNvPr id="43034" name="Rectangle 24"/>
          <p:cNvSpPr>
            <a:spLocks noChangeArrowheads="1"/>
          </p:cNvSpPr>
          <p:nvPr/>
        </p:nvSpPr>
        <p:spPr bwMode="auto">
          <a:xfrm>
            <a:off x="7624763" y="2057400"/>
            <a:ext cx="914400" cy="381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sz="2000">
              <a:solidFill>
                <a:schemeClr val="accent2"/>
              </a:solidFill>
              <a:latin typeface="Tahoma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Dynamic allocation and deallocation of arrays</a:t>
            </a:r>
          </a:p>
        </p:txBody>
      </p:sp>
      <p:sp>
        <p:nvSpPr>
          <p:cNvPr id="107523" name="Rectangle 3"/>
          <p:cNvSpPr>
            <a:spLocks noGrp="1" noChangeArrowheads="1"/>
          </p:cNvSpPr>
          <p:nvPr>
            <p:ph idx="1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smtClean="0"/>
              <a:t>Use the </a:t>
            </a:r>
            <a:r>
              <a:rPr lang="en-US" b="1" smtClean="0">
                <a:solidFill>
                  <a:schemeClr val="tx2"/>
                </a:solidFill>
                <a:latin typeface="Courier New" pitchFamily="49" charset="0"/>
              </a:rPr>
              <a:t>[IntExp]</a:t>
            </a:r>
            <a:r>
              <a:rPr lang="en-US" smtClean="0"/>
              <a:t> on the </a:t>
            </a:r>
            <a:r>
              <a:rPr lang="en-US" b="1" smtClean="0">
                <a:solidFill>
                  <a:schemeClr val="tx2"/>
                </a:solidFill>
                <a:latin typeface="Courier New" pitchFamily="49" charset="0"/>
              </a:rPr>
              <a:t>new</a:t>
            </a:r>
            <a:r>
              <a:rPr lang="en-US" smtClean="0"/>
              <a:t> statement to create an array of objects instead of a single instance.</a:t>
            </a:r>
          </a:p>
          <a:p>
            <a:pPr eaLnBrk="1" hangingPunct="1"/>
            <a:r>
              <a:rPr lang="en-US" smtClean="0"/>
              <a:t>On the </a:t>
            </a:r>
            <a:r>
              <a:rPr lang="en-US" b="1" smtClean="0">
                <a:solidFill>
                  <a:schemeClr val="tx2"/>
                </a:solidFill>
                <a:latin typeface="Courier New" pitchFamily="49" charset="0"/>
              </a:rPr>
              <a:t>delete</a:t>
            </a:r>
            <a:r>
              <a:rPr lang="en-US" smtClean="0"/>
              <a:t> statement use </a:t>
            </a:r>
            <a:r>
              <a:rPr lang="en-US" b="1" smtClean="0">
                <a:solidFill>
                  <a:schemeClr val="tx2"/>
                </a:solidFill>
                <a:latin typeface="Courier New" pitchFamily="49" charset="0"/>
              </a:rPr>
              <a:t>[]</a:t>
            </a:r>
            <a:r>
              <a:rPr lang="en-US" smtClean="0"/>
              <a:t> to indicate that an array of objects is to be deallocated.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E1DDCC-A8BE-4CF4-9428-978A03DCBBB4}" type="slidenum">
              <a:rPr lang="en-US"/>
              <a:pPr>
                <a:defRPr/>
              </a:pPr>
              <a:t>39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7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7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7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7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23" grpId="0" build="p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Example of dynamic array allocation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7FDB82-8938-47CE-90DB-00764721C21B}" type="slidenum">
              <a:rPr lang="en-US"/>
              <a:pPr>
                <a:defRPr/>
              </a:pPr>
              <a:t>40</a:t>
            </a:fld>
            <a:endParaRPr lang="en-US"/>
          </a:p>
        </p:txBody>
      </p:sp>
      <p:sp>
        <p:nvSpPr>
          <p:cNvPr id="45061" name="Rectangle 3"/>
          <p:cNvSpPr>
            <a:spLocks noChangeArrowheads="1"/>
          </p:cNvSpPr>
          <p:nvPr/>
        </p:nvSpPr>
        <p:spPr bwMode="auto">
          <a:xfrm>
            <a:off x="1447800" y="1905000"/>
            <a:ext cx="6934200" cy="421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90000"/>
              </a:lnSpc>
            </a:pPr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int* grades = NULL;</a:t>
            </a:r>
          </a:p>
          <a:p>
            <a:pPr eaLnBrk="0" hangingPunct="0">
              <a:lnSpc>
                <a:spcPct val="90000"/>
              </a:lnSpc>
            </a:pPr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int numberOfGrades;</a:t>
            </a:r>
          </a:p>
          <a:p>
            <a:pPr eaLnBrk="0" hangingPunct="0">
              <a:lnSpc>
                <a:spcPct val="90000"/>
              </a:lnSpc>
            </a:pPr>
            <a:endParaRPr lang="en-US" sz="2000" b="1">
              <a:solidFill>
                <a:schemeClr val="tx2"/>
              </a:solidFill>
              <a:latin typeface="Courier New" pitchFamily="49" charset="0"/>
            </a:endParaRPr>
          </a:p>
          <a:p>
            <a:pPr eaLnBrk="0" hangingPunct="0">
              <a:lnSpc>
                <a:spcPct val="90000"/>
              </a:lnSpc>
            </a:pPr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cout &lt;&lt; "Enter the number of grades: ";</a:t>
            </a:r>
          </a:p>
          <a:p>
            <a:pPr eaLnBrk="0" hangingPunct="0">
              <a:lnSpc>
                <a:spcPct val="90000"/>
              </a:lnSpc>
            </a:pPr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cin &gt;&gt; numberOfGrades;</a:t>
            </a:r>
          </a:p>
          <a:p>
            <a:pPr eaLnBrk="0" hangingPunct="0">
              <a:lnSpc>
                <a:spcPct val="90000"/>
              </a:lnSpc>
            </a:pPr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grades = new int[numberOfGrades];</a:t>
            </a:r>
          </a:p>
          <a:p>
            <a:pPr eaLnBrk="0" hangingPunct="0">
              <a:lnSpc>
                <a:spcPct val="90000"/>
              </a:lnSpc>
            </a:pPr>
            <a:endParaRPr lang="en-US" sz="2000" b="1">
              <a:solidFill>
                <a:schemeClr val="tx2"/>
              </a:solidFill>
              <a:latin typeface="Courier New" pitchFamily="49" charset="0"/>
            </a:endParaRPr>
          </a:p>
          <a:p>
            <a:pPr eaLnBrk="0" hangingPunct="0">
              <a:lnSpc>
                <a:spcPct val="90000"/>
              </a:lnSpc>
            </a:pPr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for (int i = 0; i &lt; numberOfGrades; i++)</a:t>
            </a:r>
          </a:p>
          <a:p>
            <a:pPr eaLnBrk="0" hangingPunct="0">
              <a:lnSpc>
                <a:spcPct val="90000"/>
              </a:lnSpc>
            </a:pPr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   cin &gt;&gt; grades[i];</a:t>
            </a:r>
          </a:p>
          <a:p>
            <a:pPr eaLnBrk="0" hangingPunct="0">
              <a:lnSpc>
                <a:spcPct val="90000"/>
              </a:lnSpc>
            </a:pPr>
            <a:endParaRPr lang="en-US" sz="2000" b="1">
              <a:solidFill>
                <a:schemeClr val="tx2"/>
              </a:solidFill>
              <a:latin typeface="Courier New" pitchFamily="49" charset="0"/>
            </a:endParaRPr>
          </a:p>
          <a:p>
            <a:pPr eaLnBrk="0" hangingPunct="0">
              <a:lnSpc>
                <a:spcPct val="90000"/>
              </a:lnSpc>
            </a:pPr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for (int j = 0; j &lt; numberOfGrades; j++)</a:t>
            </a:r>
          </a:p>
          <a:p>
            <a:pPr eaLnBrk="0" hangingPunct="0">
              <a:lnSpc>
                <a:spcPct val="90000"/>
              </a:lnSpc>
            </a:pPr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      cout &lt;&lt; grades[j] &lt;&lt; " ";</a:t>
            </a:r>
          </a:p>
          <a:p>
            <a:pPr eaLnBrk="0" hangingPunct="0">
              <a:lnSpc>
                <a:spcPct val="90000"/>
              </a:lnSpc>
            </a:pPr>
            <a:endParaRPr lang="en-US" sz="2000" b="1">
              <a:solidFill>
                <a:schemeClr val="tx2"/>
              </a:solidFill>
              <a:latin typeface="Courier New" pitchFamily="49" charset="0"/>
            </a:endParaRPr>
          </a:p>
          <a:p>
            <a:pPr eaLnBrk="0" hangingPunct="0">
              <a:lnSpc>
                <a:spcPct val="90000"/>
              </a:lnSpc>
            </a:pPr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delete [] grades;</a:t>
            </a:r>
          </a:p>
          <a:p>
            <a:pPr eaLnBrk="0" hangingPunct="0">
              <a:lnSpc>
                <a:spcPct val="90000"/>
              </a:lnSpc>
            </a:pPr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grades = NULL;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Dynamic allocation of 2D arrays</a:t>
            </a:r>
          </a:p>
        </p:txBody>
      </p:sp>
      <p:sp>
        <p:nvSpPr>
          <p:cNvPr id="111619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905000"/>
            <a:ext cx="7924800" cy="4114800"/>
          </a:xfrm>
        </p:spPr>
        <p:txBody>
          <a:bodyPr lIns="0" rIns="0"/>
          <a:lstStyle/>
          <a:p>
            <a:pPr eaLnBrk="1" hangingPunct="1"/>
            <a:r>
              <a:rPr lang="en-US" smtClean="0"/>
              <a:t>A two dimensional array is really an array of arrays (rows).</a:t>
            </a:r>
          </a:p>
          <a:p>
            <a:pPr eaLnBrk="1" hangingPunct="1"/>
            <a:r>
              <a:rPr lang="en-US" smtClean="0"/>
              <a:t>To dynamically declare a two dimensional array of </a:t>
            </a:r>
            <a:r>
              <a:rPr lang="en-US" b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int </a:t>
            </a:r>
            <a:r>
              <a:rPr lang="en-US" smtClean="0"/>
              <a:t>type, you need to declare a pointer to a pointer as:</a:t>
            </a:r>
          </a:p>
          <a:p>
            <a:pPr lvl="1" eaLnBrk="1" hangingPunct="1">
              <a:buFontTx/>
              <a:buNone/>
            </a:pPr>
            <a:r>
              <a:rPr lang="en-US" b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  int **matrix;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A310A5E-3C85-4C0E-8C98-7612680137B6}" type="slidenum">
              <a:rPr lang="en-US"/>
              <a:pPr>
                <a:defRPr/>
              </a:pPr>
              <a:t>41</a:t>
            </a:fld>
            <a:endParaRPr lang="en-US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1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1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1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1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1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19" grpId="0" build="p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Dynamic allocation of 2D arrays (Cont ..)</a:t>
            </a:r>
          </a:p>
        </p:txBody>
      </p:sp>
      <p:sp>
        <p:nvSpPr>
          <p:cNvPr id="11264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905000"/>
            <a:ext cx="7772400" cy="4114800"/>
          </a:xfrm>
        </p:spPr>
        <p:txBody>
          <a:bodyPr>
            <a:normAutofit lnSpcReduction="10000"/>
          </a:bodyPr>
          <a:lstStyle/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sz="2800"/>
              <a:t>To allocate space for the 2D array with </a:t>
            </a:r>
            <a:r>
              <a:rPr lang="en-US" sz="2800" b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r</a:t>
            </a:r>
            <a:r>
              <a:rPr lang="en-US" sz="2800"/>
              <a:t> rows and </a:t>
            </a:r>
            <a:r>
              <a:rPr lang="en-US" sz="2800" b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</a:t>
            </a:r>
            <a:r>
              <a:rPr lang="en-US" sz="2800"/>
              <a:t> columns:</a:t>
            </a:r>
          </a:p>
          <a:p>
            <a:pPr marL="640080" lvl="1" indent="-246888" eaLnBrk="1" fontAlgn="auto" hangingPunct="1">
              <a:lnSpc>
                <a:spcPct val="9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en-US"/>
              <a:t>You first allocate the array of pointers which will point to the arrays (rows)</a:t>
            </a:r>
          </a:p>
          <a:p>
            <a:pPr lvl="2" indent="-246888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US" b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matrix = new int*[r];</a:t>
            </a:r>
          </a:p>
          <a:p>
            <a:pPr marL="640080" lvl="1" indent="-246888" eaLnBrk="1" fontAlgn="auto" hangingPunct="1">
              <a:lnSpc>
                <a:spcPct val="9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en-US"/>
              <a:t>This creates space for </a:t>
            </a:r>
            <a:r>
              <a:rPr lang="en-US" b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r</a:t>
            </a:r>
            <a:r>
              <a:rPr lang="en-US"/>
              <a:t> addresses; each being a pointer to an </a:t>
            </a:r>
            <a:r>
              <a:rPr lang="en-US" b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/>
              <a:t>.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sz="2800"/>
              <a:t>Then you need to allocate the space for the 1D arrays themselves, each with a size of </a:t>
            </a:r>
            <a:r>
              <a:rPr lang="en-US" sz="2800" b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</a:t>
            </a:r>
          </a:p>
          <a:p>
            <a:pPr lvl="2" indent="-246888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US" b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for(i=0; i&lt;r; i++)</a:t>
            </a:r>
          </a:p>
          <a:p>
            <a:pPr lvl="2" indent="-246888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US" b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   matrix[i] = new int[c];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B025A6-A5F1-4933-8EBE-AC06C0CBE628}" type="slidenum">
              <a:rPr lang="en-US"/>
              <a:pPr>
                <a:defRPr/>
              </a:pPr>
              <a:t>42</a:t>
            </a:fld>
            <a:endParaRPr lang="en-US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2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2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2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2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26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26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26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26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26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26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26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26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43" grpId="0" build="p" bldLvl="2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Dynamic allocation of 2D arrays (Cont ..)</a:t>
            </a:r>
          </a:p>
        </p:txBody>
      </p:sp>
      <p:sp>
        <p:nvSpPr>
          <p:cNvPr id="113667" name="Rectangle 3"/>
          <p:cNvSpPr>
            <a:spLocks noGrp="1" noChangeArrowheads="1"/>
          </p:cNvSpPr>
          <p:nvPr>
            <p:ph idx="1"/>
          </p:nvPr>
        </p:nvSpPr>
        <p:spPr/>
        <p:txBody>
          <a:bodyPr lIns="0" rIns="0"/>
          <a:lstStyle/>
          <a:p>
            <a:pPr eaLnBrk="1" hangingPunct="1"/>
            <a:r>
              <a:rPr lang="en-US" sz="2800" smtClean="0"/>
              <a:t>The elements of the array</a:t>
            </a:r>
            <a:r>
              <a:rPr lang="en-US" sz="2800" b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matrix </a:t>
            </a:r>
            <a:r>
              <a:rPr lang="en-US" sz="2800" smtClean="0"/>
              <a:t>now can be accessed by the</a:t>
            </a:r>
            <a:r>
              <a:rPr lang="en-US" sz="2800" b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matrix[i][j]</a:t>
            </a:r>
            <a:r>
              <a:rPr lang="en-US" sz="2800" smtClean="0"/>
              <a:t> notation</a:t>
            </a:r>
          </a:p>
          <a:p>
            <a:pPr eaLnBrk="1" hangingPunct="1"/>
            <a:r>
              <a:rPr lang="en-US" sz="2800" smtClean="0"/>
              <a:t>Keep in mind, the entire array is not in contiguous space (unlike a static 2D array)</a:t>
            </a:r>
          </a:p>
          <a:p>
            <a:pPr eaLnBrk="1" hangingPunct="1"/>
            <a:r>
              <a:rPr lang="en-US" sz="2800" smtClean="0"/>
              <a:t>The elements of each row are in contiguous space, but the rows themselves are not.</a:t>
            </a:r>
          </a:p>
          <a:p>
            <a:pPr lvl="1" eaLnBrk="1" hangingPunct="1"/>
            <a:r>
              <a:rPr lang="en-US" b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matrix[i][j+1]</a:t>
            </a:r>
            <a:r>
              <a:rPr lang="en-US" smtClean="0"/>
              <a:t> is after</a:t>
            </a:r>
            <a:r>
              <a:rPr lang="en-US" b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matrix[i][j]</a:t>
            </a:r>
            <a:r>
              <a:rPr lang="en-US" smtClean="0"/>
              <a:t> in memory, but </a:t>
            </a:r>
            <a:r>
              <a:rPr lang="en-US" b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matrix[i][0]</a:t>
            </a:r>
            <a:r>
              <a:rPr lang="en-US" smtClean="0"/>
              <a:t> may be before or after</a:t>
            </a:r>
            <a:r>
              <a:rPr lang="en-US" b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matrix[i+1][0]</a:t>
            </a:r>
            <a:r>
              <a:rPr lang="en-US" smtClean="0"/>
              <a:t> in memory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4242FF-AAB2-4975-B537-C6DB5FA26A74}" type="slidenum">
              <a:rPr lang="en-US"/>
              <a:pPr>
                <a:defRPr/>
              </a:pPr>
              <a:t>43</a:t>
            </a:fld>
            <a:endParaRPr lang="en-US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3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3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36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36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3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3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36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36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67" grpId="0" build="p" bldLvl="2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Example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981200"/>
            <a:ext cx="7772400" cy="2438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000" b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// create a 2D array dynamically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000" b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int rows, columns, i, j;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000" b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int **matrix;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000" b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cin &gt;&gt; rows &gt;&gt; columns;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000" b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matrix = new int*[rows];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000" b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for(i=0; i&lt;rows; i++)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000" b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 matrix[i] = new int[columns];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AA978C-B768-4A7E-A39C-1FEC3FCF9E4B}" type="slidenum">
              <a:rPr lang="en-US"/>
              <a:pPr>
                <a:defRPr/>
              </a:pPr>
              <a:t>44</a:t>
            </a:fld>
            <a:endParaRPr lang="en-US"/>
          </a:p>
        </p:txBody>
      </p:sp>
      <p:sp>
        <p:nvSpPr>
          <p:cNvPr id="114692" name="Rectangle 4"/>
          <p:cNvSpPr>
            <a:spLocks noChangeArrowheads="1"/>
          </p:cNvSpPr>
          <p:nvPr/>
        </p:nvSpPr>
        <p:spPr bwMode="auto">
          <a:xfrm>
            <a:off x="685800" y="4648200"/>
            <a:ext cx="77724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// deallocate the array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for(i=0; i&lt;rows; i++)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 delete [] matrix[i];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delete [] matrix;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4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692" grpId="0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Void pointer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5EC264-D841-470F-9BEA-E237821978EA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04800" y="1696736"/>
            <a:ext cx="8534400" cy="618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a pointer is declared as pointing to void then it can point to any data type.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syntax for declaring a void pointer is: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void *</a:t>
            </a:r>
            <a:r>
              <a:rPr kumimoji="0" lang="en-US" altLang="en-US" sz="1800" b="0" i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pointer-name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 smtClean="0">
              <a:solidFill>
                <a:srgbClr val="FF0000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 smtClean="0">
                <a:solidFill>
                  <a:srgbClr val="FF0000"/>
                </a:solidFill>
              </a:rPr>
              <a:t>GENERIC POINTERS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 smtClean="0">
                <a:solidFill>
                  <a:srgbClr val="FF0000"/>
                </a:solidFill>
              </a:rPr>
              <a:t>Void *</a:t>
            </a:r>
            <a:r>
              <a:rPr lang="en-US" altLang="en-US" sz="1800" dirty="0" err="1" smtClean="0">
                <a:solidFill>
                  <a:srgbClr val="FF0000"/>
                </a:solidFill>
              </a:rPr>
              <a:t>gp</a:t>
            </a:r>
            <a:endParaRPr lang="en-US" altLang="en-US" sz="1800" dirty="0" smtClean="0">
              <a:solidFill>
                <a:srgbClr val="FF0000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 err="1" smtClean="0">
                <a:solidFill>
                  <a:srgbClr val="FF0000"/>
                </a:solidFill>
              </a:rPr>
              <a:t>Int</a:t>
            </a:r>
            <a:r>
              <a:rPr lang="en-US" altLang="en-US" sz="1800" dirty="0" smtClean="0">
                <a:solidFill>
                  <a:srgbClr val="FF0000"/>
                </a:solidFill>
              </a:rPr>
              <a:t> *</a:t>
            </a:r>
            <a:r>
              <a:rPr lang="en-US" altLang="en-US" sz="1800" dirty="0" err="1" smtClean="0">
                <a:solidFill>
                  <a:srgbClr val="FF0000"/>
                </a:solidFill>
              </a:rPr>
              <a:t>gp</a:t>
            </a:r>
            <a:r>
              <a:rPr lang="en-US" altLang="en-US" sz="1800" dirty="0" smtClean="0">
                <a:solidFill>
                  <a:srgbClr val="FF0000"/>
                </a:solidFill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 err="1" smtClean="0">
                <a:solidFill>
                  <a:srgbClr val="FF0000"/>
                </a:solidFill>
              </a:rPr>
              <a:t>Gp</a:t>
            </a:r>
            <a:r>
              <a:rPr lang="en-US" altLang="en-US" sz="1800" dirty="0" smtClean="0">
                <a:solidFill>
                  <a:srgbClr val="FF0000"/>
                </a:solidFill>
              </a:rPr>
              <a:t>=</a:t>
            </a:r>
            <a:r>
              <a:rPr lang="en-US" altLang="en-US" sz="1800" dirty="0" err="1" smtClean="0">
                <a:solidFill>
                  <a:srgbClr val="FF0000"/>
                </a:solidFill>
              </a:rPr>
              <a:t>ip</a:t>
            </a:r>
            <a:r>
              <a:rPr lang="en-US" altLang="en-US" sz="1800" dirty="0" smtClean="0">
                <a:solidFill>
                  <a:srgbClr val="FF0000"/>
                </a:solidFill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solidFill>
                <a:srgbClr val="FF0000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 smtClean="0">
                <a:solidFill>
                  <a:srgbClr val="FF0000"/>
                </a:solidFill>
              </a:rPr>
              <a:t>But  *</a:t>
            </a:r>
            <a:r>
              <a:rPr lang="en-US" altLang="en-US" sz="1800" dirty="0" err="1" smtClean="0">
                <a:solidFill>
                  <a:srgbClr val="FF0000"/>
                </a:solidFill>
              </a:rPr>
              <a:t>ip</a:t>
            </a:r>
            <a:r>
              <a:rPr lang="en-US" altLang="en-US" sz="1800" dirty="0" smtClean="0">
                <a:solidFill>
                  <a:srgbClr val="FF0000"/>
                </a:solidFill>
              </a:rPr>
              <a:t>=*</a:t>
            </a:r>
            <a:r>
              <a:rPr lang="en-US" altLang="en-US" sz="1800" dirty="0" err="1" smtClean="0">
                <a:solidFill>
                  <a:srgbClr val="FF0000"/>
                </a:solidFill>
              </a:rPr>
              <a:t>gp</a:t>
            </a:r>
            <a:r>
              <a:rPr lang="en-US" altLang="en-US" sz="1800" dirty="0" smtClean="0">
                <a:solidFill>
                  <a:srgbClr val="FF0000"/>
                </a:solidFill>
              </a:rPr>
              <a:t>                     INVALID   (no need to deference a void pointer)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 smtClean="0">
              <a:solidFill>
                <a:srgbClr val="FF0000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solidFill>
                <a:srgbClr val="FF0000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 smtClean="0">
                <a:solidFill>
                  <a:srgbClr val="FF0000"/>
                </a:solidFill>
              </a:rPr>
              <a:t>Use of type cast operator</a:t>
            </a:r>
            <a:endParaRPr lang="en-US" altLang="en-US" sz="1800" dirty="0">
              <a:solidFill>
                <a:srgbClr val="FF0000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 smtClean="0">
                <a:solidFill>
                  <a:srgbClr val="FF0000"/>
                </a:solidFill>
              </a:rPr>
              <a:t>Void *</a:t>
            </a:r>
            <a:r>
              <a:rPr lang="en-US" altLang="en-US" sz="1800" dirty="0" err="1" smtClean="0">
                <a:solidFill>
                  <a:srgbClr val="FF0000"/>
                </a:solidFill>
              </a:rPr>
              <a:t>ptr</a:t>
            </a:r>
            <a:r>
              <a:rPr lang="en-US" altLang="en-US" sz="1800" dirty="0" smtClean="0">
                <a:solidFill>
                  <a:srgbClr val="FF0000"/>
                </a:solidFill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 smtClean="0">
                <a:solidFill>
                  <a:srgbClr val="FF0000"/>
                </a:solidFill>
              </a:rPr>
              <a:t>Char *ptr2;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 smtClean="0">
                <a:solidFill>
                  <a:srgbClr val="FF0000"/>
                </a:solidFill>
              </a:rPr>
              <a:t>Ptr2=(char *) ptr1;</a:t>
            </a:r>
            <a:endParaRPr lang="en-US" altLang="en-US" sz="1800" dirty="0">
              <a:solidFill>
                <a:srgbClr val="FF0000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solidFill>
                <a:srgbClr val="FF0000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980382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IN" dirty="0" smtClean="0"/>
              <a:t>Constant pointers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5EC264-D841-470F-9BEA-E237821978EA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291229" y="1313728"/>
            <a:ext cx="6561540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When a pointer points to a constant term, the pointer cannot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modify the value of the constant term.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declaration of a pointer to a constant is as follows: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</a:rPr>
              <a:t>const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</a:rPr>
              <a:t> </a:t>
            </a:r>
            <a:r>
              <a:rPr kumimoji="0" lang="en-US" altLang="en-US" sz="1800" b="0" i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</a:rPr>
              <a:t>data-type 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</a:rPr>
              <a:t>*</a:t>
            </a:r>
            <a:r>
              <a:rPr kumimoji="0" lang="en-US" altLang="en-US" sz="1800" b="0" i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</a:rPr>
              <a:t>pointer-name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</a:rPr>
              <a:t>;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</a:rPr>
              <a:t>const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</a:rPr>
              <a:t>int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</a:rPr>
              <a:t>num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</a:rPr>
              <a:t>=20;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</a:rPr>
            </a:b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</a:rPr>
              <a:t>const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</a:rPr>
              <a:t>int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</a:rPr>
              <a:t> *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</a:rPr>
              <a:t>ptr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</a:rPr>
              <a:t>;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</a:rPr>
            </a:b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</a:rPr>
              <a:t>ptr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</a:rPr>
              <a:t> = &amp;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</a:rPr>
              <a:t>num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</a:rPr>
              <a:t>;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address of a constant cannot be assigned to a pointer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unless the pointer is declared as pointing to a constant.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is incorrect: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=20;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*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=&amp;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 //Error (pointer not declared as pointing to a constant)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pointer to a constant cannot be assigned to a non-constant pointer.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</a:rPr>
              <a:t>const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</a:rPr>
              <a:t>int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</a:rPr>
              <a:t>num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</a:rPr>
              <a:t>=20;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</a:rPr>
            </a:b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</a:rPr>
              <a:t>const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</a:rPr>
              <a:t>int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</a:rPr>
              <a:t> *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</a:rPr>
              <a:t>ptr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</a:rPr>
              <a:t>;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</a:rPr>
            </a:b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</a:rPr>
              <a:t>ptr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</a:rPr>
              <a:t>=&amp;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</a:rPr>
              <a:t>num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</a:rPr>
              <a:t>;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</a:rPr>
            </a:b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</a:rPr>
              <a:t>int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</a:rPr>
              <a:t> *ptr2;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</a:rPr>
              <a:t>ptr2=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</a:rPr>
              <a:t>ptr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</a:rPr>
              <a:t>; //Error because ptr2 is a pointer to a non constant 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4527596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556FDD6-70DF-497C-9952-4675753F87C3}" type="slidenum">
              <a:rPr lang="en-US"/>
              <a:pPr>
                <a:defRPr/>
              </a:pPr>
              <a:t>47</a:t>
            </a:fld>
            <a:endParaRPr lang="en-US"/>
          </a:p>
        </p:txBody>
      </p:sp>
      <p:sp>
        <p:nvSpPr>
          <p:cNvPr id="50180" name="Rectangle 2"/>
          <p:cNvSpPr>
            <a:spLocks noChangeArrowheads="1"/>
          </p:cNvSpPr>
          <p:nvPr/>
        </p:nvSpPr>
        <p:spPr bwMode="auto">
          <a:xfrm>
            <a:off x="685800" y="26670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="ctr"/>
          <a:lstStyle/>
          <a:p>
            <a:pPr algn="ctr" eaLnBrk="0" hangingPunct="0"/>
            <a:r>
              <a:rPr lang="en-US" sz="4400">
                <a:solidFill>
                  <a:schemeClr val="tx2"/>
                </a:solidFill>
                <a:latin typeface="Tahoma" pitchFamily="34" charset="0"/>
              </a:rPr>
              <a:t>Passing pointers to a function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323850"/>
            <a:ext cx="6629400" cy="112395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Pointers as arguments to functions</a:t>
            </a:r>
          </a:p>
        </p:txBody>
      </p:sp>
      <p:sp>
        <p:nvSpPr>
          <p:cNvPr id="118787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2057400"/>
            <a:ext cx="7772400" cy="4114800"/>
          </a:xfrm>
        </p:spPr>
        <p:txBody>
          <a:bodyPr lIns="92075" tIns="46038" rIns="92075" bIns="46038"/>
          <a:lstStyle/>
          <a:p>
            <a:pPr eaLnBrk="1" hangingPunct="1"/>
            <a:r>
              <a:rPr lang="en-US" smtClean="0"/>
              <a:t>Pointers can be passed to functions just like other types.</a:t>
            </a:r>
          </a:p>
          <a:p>
            <a:pPr eaLnBrk="1" hangingPunct="1"/>
            <a:r>
              <a:rPr lang="en-US" smtClean="0"/>
              <a:t>Just as with any other argument, verify that the number and type of arguments in function invocation match the prototype (and function header).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444720-21F8-4DB2-A6A5-29BBE4238312}" type="slidenum">
              <a:rPr lang="en-US"/>
              <a:pPr>
                <a:defRPr/>
              </a:pPr>
              <a:t>48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8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8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8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8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87" grpId="0" build="p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Example of pointer arguments</a:t>
            </a:r>
          </a:p>
        </p:txBody>
      </p:sp>
      <p:sp>
        <p:nvSpPr>
          <p:cNvPr id="120835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981200"/>
            <a:ext cx="8077200" cy="4114800"/>
          </a:xfrm>
        </p:spPr>
        <p:txBody>
          <a:bodyPr>
            <a:normAutofit lnSpcReduction="10000"/>
          </a:bodyPr>
          <a:lstStyle/>
          <a:p>
            <a:pPr marL="274320" indent="-274320" eaLnBrk="1" fontAlgn="auto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>
                <a:schemeClr val="accent3"/>
              </a:buClr>
              <a:buFontTx/>
              <a:buNone/>
              <a:defRPr/>
            </a:pPr>
            <a:r>
              <a:rPr lang="en-US" sz="1800" b="1">
                <a:solidFill>
                  <a:schemeClr val="tx2"/>
                </a:solidFill>
                <a:latin typeface="Courier New" pitchFamily="49" charset="0"/>
              </a:rPr>
              <a:t>void Swap(int *p1, int *p2);</a:t>
            </a:r>
          </a:p>
          <a:p>
            <a:pPr marL="274320" indent="-274320" eaLnBrk="1" fontAlgn="auto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>
                <a:schemeClr val="accent3"/>
              </a:buClr>
              <a:buFontTx/>
              <a:buNone/>
              <a:defRPr/>
            </a:pPr>
            <a:endParaRPr lang="en-US" sz="1800" b="1">
              <a:solidFill>
                <a:schemeClr val="tx2"/>
              </a:solidFill>
              <a:latin typeface="Courier New" pitchFamily="49" charset="0"/>
            </a:endParaRPr>
          </a:p>
          <a:p>
            <a:pPr marL="274320" indent="-274320" eaLnBrk="1" fontAlgn="auto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>
                <a:schemeClr val="accent3"/>
              </a:buClr>
              <a:buFontTx/>
              <a:buNone/>
              <a:defRPr/>
            </a:pPr>
            <a:r>
              <a:rPr lang="en-US" sz="1800" b="1">
                <a:solidFill>
                  <a:schemeClr val="tx2"/>
                </a:solidFill>
                <a:latin typeface="Courier New" pitchFamily="49" charset="0"/>
              </a:rPr>
              <a:t>void main ()</a:t>
            </a:r>
          </a:p>
          <a:p>
            <a:pPr marL="274320" indent="-274320" eaLnBrk="1" fontAlgn="auto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>
                <a:schemeClr val="accent3"/>
              </a:buClr>
              <a:buFontTx/>
              <a:buNone/>
              <a:defRPr/>
            </a:pPr>
            <a:r>
              <a:rPr lang="en-US" sz="1800" b="1">
                <a:solidFill>
                  <a:schemeClr val="tx2"/>
                </a:solidFill>
                <a:latin typeface="Courier New" pitchFamily="49" charset="0"/>
              </a:rPr>
              <a:t>{</a:t>
            </a:r>
          </a:p>
          <a:p>
            <a:pPr marL="274320" indent="-274320" eaLnBrk="1" fontAlgn="auto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>
                <a:schemeClr val="accent3"/>
              </a:buClr>
              <a:buFontTx/>
              <a:buNone/>
              <a:defRPr/>
            </a:pPr>
            <a:r>
              <a:rPr lang="en-US" sz="1800" b="1">
                <a:solidFill>
                  <a:schemeClr val="tx2"/>
                </a:solidFill>
                <a:latin typeface="Courier New" pitchFamily="49" charset="0"/>
              </a:rPr>
              <a:t>   int x, y;</a:t>
            </a:r>
          </a:p>
          <a:p>
            <a:pPr marL="274320" indent="-274320" eaLnBrk="1" fontAlgn="auto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>
                <a:schemeClr val="accent3"/>
              </a:buClr>
              <a:buFontTx/>
              <a:buNone/>
              <a:defRPr/>
            </a:pPr>
            <a:r>
              <a:rPr lang="en-US" sz="1800" b="1">
                <a:solidFill>
                  <a:schemeClr val="tx2"/>
                </a:solidFill>
                <a:latin typeface="Courier New" pitchFamily="49" charset="0"/>
              </a:rPr>
              <a:t>   cin &gt;&gt; x &gt;&gt; y;</a:t>
            </a:r>
          </a:p>
          <a:p>
            <a:pPr marL="274320" indent="-274320" eaLnBrk="1" fontAlgn="auto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>
                <a:schemeClr val="accent3"/>
              </a:buClr>
              <a:buFontTx/>
              <a:buNone/>
              <a:defRPr/>
            </a:pPr>
            <a:r>
              <a:rPr lang="en-US" sz="1800" b="1">
                <a:solidFill>
                  <a:schemeClr val="tx2"/>
                </a:solidFill>
                <a:latin typeface="Courier New" pitchFamily="49" charset="0"/>
              </a:rPr>
              <a:t>   cout &lt;&lt; x &lt;&lt; " " &lt;&lt; y &lt;&lt; endl;</a:t>
            </a:r>
          </a:p>
          <a:p>
            <a:pPr marL="274320" indent="-274320" eaLnBrk="1" fontAlgn="auto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>
                <a:schemeClr val="accent3"/>
              </a:buClr>
              <a:buFontTx/>
              <a:buNone/>
              <a:defRPr/>
            </a:pPr>
            <a:r>
              <a:rPr lang="en-US" sz="1800" b="1">
                <a:solidFill>
                  <a:schemeClr val="tx2"/>
                </a:solidFill>
                <a:latin typeface="Courier New" pitchFamily="49" charset="0"/>
              </a:rPr>
              <a:t>   Swap(&amp;x,&amp;y); // passes addresses of x and y explicitly</a:t>
            </a:r>
          </a:p>
          <a:p>
            <a:pPr marL="274320" indent="-274320" eaLnBrk="1" fontAlgn="auto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>
                <a:schemeClr val="accent3"/>
              </a:buClr>
              <a:buFontTx/>
              <a:buNone/>
              <a:defRPr/>
            </a:pPr>
            <a:r>
              <a:rPr lang="en-US" sz="1800" b="1">
                <a:solidFill>
                  <a:schemeClr val="tx2"/>
                </a:solidFill>
                <a:latin typeface="Courier New" pitchFamily="49" charset="0"/>
              </a:rPr>
              <a:t>   cout &lt;&lt; x &lt;&lt; " " &lt;&lt; y &lt;&lt; endl;</a:t>
            </a:r>
          </a:p>
          <a:p>
            <a:pPr marL="274320" indent="-274320" eaLnBrk="1" fontAlgn="auto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>
                <a:schemeClr val="accent3"/>
              </a:buClr>
              <a:buFontTx/>
              <a:buNone/>
              <a:defRPr/>
            </a:pPr>
            <a:r>
              <a:rPr lang="en-US" sz="1800" b="1">
                <a:solidFill>
                  <a:schemeClr val="tx2"/>
                </a:solidFill>
                <a:latin typeface="Courier New" pitchFamily="49" charset="0"/>
              </a:rPr>
              <a:t>}</a:t>
            </a:r>
          </a:p>
          <a:p>
            <a:pPr marL="274320" indent="-274320" eaLnBrk="1" fontAlgn="auto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>
                <a:schemeClr val="accent3"/>
              </a:buClr>
              <a:buFontTx/>
              <a:buNone/>
              <a:defRPr/>
            </a:pPr>
            <a:endParaRPr lang="en-US" sz="1800" b="1">
              <a:solidFill>
                <a:schemeClr val="tx2"/>
              </a:solidFill>
              <a:latin typeface="Courier New" pitchFamily="49" charset="0"/>
            </a:endParaRPr>
          </a:p>
          <a:p>
            <a:pPr marL="274320" indent="-274320" eaLnBrk="1" fontAlgn="auto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>
                <a:schemeClr val="accent3"/>
              </a:buClr>
              <a:buFontTx/>
              <a:buNone/>
              <a:defRPr/>
            </a:pPr>
            <a:r>
              <a:rPr lang="en-US" sz="1800" b="1">
                <a:solidFill>
                  <a:schemeClr val="tx2"/>
                </a:solidFill>
                <a:latin typeface="Courier New" pitchFamily="49" charset="0"/>
              </a:rPr>
              <a:t>void Swap(int *p1, int *p2)</a:t>
            </a:r>
          </a:p>
          <a:p>
            <a:pPr marL="274320" indent="-274320" eaLnBrk="1" fontAlgn="auto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>
                <a:schemeClr val="accent3"/>
              </a:buClr>
              <a:buFontTx/>
              <a:buNone/>
              <a:defRPr/>
            </a:pPr>
            <a:r>
              <a:rPr lang="en-US" sz="1800" b="1">
                <a:solidFill>
                  <a:schemeClr val="tx2"/>
                </a:solidFill>
                <a:latin typeface="Courier New" pitchFamily="49" charset="0"/>
              </a:rPr>
              <a:t>{</a:t>
            </a:r>
          </a:p>
          <a:p>
            <a:pPr marL="274320" indent="-274320" eaLnBrk="1" fontAlgn="auto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>
                <a:schemeClr val="accent3"/>
              </a:buClr>
              <a:buFontTx/>
              <a:buNone/>
              <a:defRPr/>
            </a:pPr>
            <a:r>
              <a:rPr lang="en-US" sz="1800" b="1">
                <a:solidFill>
                  <a:schemeClr val="tx2"/>
                </a:solidFill>
                <a:latin typeface="Courier New" pitchFamily="49" charset="0"/>
              </a:rPr>
              <a:t>   int temp = *p1;</a:t>
            </a:r>
          </a:p>
          <a:p>
            <a:pPr marL="274320" indent="-274320" eaLnBrk="1" fontAlgn="auto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>
                <a:schemeClr val="accent3"/>
              </a:buClr>
              <a:buFontTx/>
              <a:buNone/>
              <a:defRPr/>
            </a:pPr>
            <a:r>
              <a:rPr lang="en-US" sz="1800" b="1">
                <a:solidFill>
                  <a:schemeClr val="tx2"/>
                </a:solidFill>
                <a:latin typeface="Courier New" pitchFamily="49" charset="0"/>
              </a:rPr>
              <a:t>   *p1 = *p2;</a:t>
            </a:r>
          </a:p>
          <a:p>
            <a:pPr marL="274320" indent="-274320" eaLnBrk="1" fontAlgn="auto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>
                <a:schemeClr val="accent3"/>
              </a:buClr>
              <a:buFontTx/>
              <a:buNone/>
              <a:defRPr/>
            </a:pPr>
            <a:r>
              <a:rPr lang="en-US" sz="1800" b="1">
                <a:solidFill>
                  <a:schemeClr val="tx2"/>
                </a:solidFill>
                <a:latin typeface="Courier New" pitchFamily="49" charset="0"/>
              </a:rPr>
              <a:t>   *p2 = temp;</a:t>
            </a:r>
          </a:p>
          <a:p>
            <a:pPr marL="274320" indent="-274320" eaLnBrk="1" fontAlgn="auto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>
                <a:schemeClr val="accent3"/>
              </a:buClr>
              <a:buFontTx/>
              <a:buNone/>
              <a:defRPr/>
            </a:pPr>
            <a:r>
              <a:rPr lang="en-US" sz="1800" b="1">
                <a:solidFill>
                  <a:schemeClr val="tx2"/>
                </a:solidFill>
                <a:latin typeface="Courier New" pitchFamily="49" charset="0"/>
              </a:rPr>
              <a:t>}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80FA449-E6D9-4CFE-9D00-5260B4508571}" type="slidenum">
              <a:rPr lang="en-US"/>
              <a:pPr>
                <a:defRPr/>
              </a:pPr>
              <a:t>49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Example of reference arguments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1800" b="1" smtClean="0">
                <a:solidFill>
                  <a:schemeClr val="tx2"/>
                </a:solidFill>
                <a:latin typeface="Courier New" pitchFamily="49" charset="0"/>
              </a:rPr>
              <a:t>void Swap(int &amp;a, int &amp;b);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sz="1800" b="1" smtClean="0">
              <a:solidFill>
                <a:schemeClr val="tx2"/>
              </a:solidFill>
              <a:latin typeface="Courier New" pitchFamily="49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1800" b="1" smtClean="0">
                <a:solidFill>
                  <a:schemeClr val="tx2"/>
                </a:solidFill>
                <a:latin typeface="Courier New" pitchFamily="49" charset="0"/>
              </a:rPr>
              <a:t>void main ()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1800" b="1" smtClean="0">
                <a:solidFill>
                  <a:schemeClr val="tx2"/>
                </a:solidFill>
                <a:latin typeface="Courier New" pitchFamily="49" charset="0"/>
              </a:rPr>
              <a:t>{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1800" b="1" smtClean="0">
                <a:solidFill>
                  <a:schemeClr val="tx2"/>
                </a:solidFill>
                <a:latin typeface="Courier New" pitchFamily="49" charset="0"/>
              </a:rPr>
              <a:t>   int x, y;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1800" b="1" smtClean="0">
                <a:solidFill>
                  <a:schemeClr val="tx2"/>
                </a:solidFill>
                <a:latin typeface="Courier New" pitchFamily="49" charset="0"/>
              </a:rPr>
              <a:t>   cin &gt;&gt; x &gt;&gt; y;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1800" b="1" smtClean="0">
                <a:solidFill>
                  <a:schemeClr val="tx2"/>
                </a:solidFill>
                <a:latin typeface="Courier New" pitchFamily="49" charset="0"/>
              </a:rPr>
              <a:t>   cout &lt;&lt; x &lt;&lt; " " &lt;&lt; y &lt;&lt; endl;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1800" b="1" smtClean="0">
                <a:solidFill>
                  <a:schemeClr val="tx2"/>
                </a:solidFill>
                <a:latin typeface="Courier New" pitchFamily="49" charset="0"/>
              </a:rPr>
              <a:t>   Swap(x,y); // passes addresses of x and y implicitly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1800" b="1" smtClean="0">
                <a:solidFill>
                  <a:schemeClr val="tx2"/>
                </a:solidFill>
                <a:latin typeface="Courier New" pitchFamily="49" charset="0"/>
              </a:rPr>
              <a:t>   cout &lt;&lt; x &lt;&lt; " " &lt;&lt; y &lt;&lt; endl;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1800" b="1" smtClean="0">
                <a:solidFill>
                  <a:schemeClr val="tx2"/>
                </a:solidFill>
                <a:latin typeface="Courier New" pitchFamily="49" charset="0"/>
              </a:rPr>
              <a:t>}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sz="1800" b="1" smtClean="0">
              <a:solidFill>
                <a:schemeClr val="tx2"/>
              </a:solidFill>
              <a:latin typeface="Courier New" pitchFamily="49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1800" b="1" smtClean="0">
                <a:solidFill>
                  <a:schemeClr val="tx2"/>
                </a:solidFill>
                <a:latin typeface="Courier New" pitchFamily="49" charset="0"/>
              </a:rPr>
              <a:t>void Swap(int &amp;a, int &amp;b)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1800" b="1" smtClean="0">
                <a:solidFill>
                  <a:schemeClr val="tx2"/>
                </a:solidFill>
                <a:latin typeface="Courier New" pitchFamily="49" charset="0"/>
              </a:rPr>
              <a:t>{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1800" b="1" smtClean="0">
                <a:solidFill>
                  <a:schemeClr val="tx2"/>
                </a:solidFill>
                <a:latin typeface="Courier New" pitchFamily="49" charset="0"/>
              </a:rPr>
              <a:t>   int temp = a;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1800" b="1" smtClean="0">
                <a:solidFill>
                  <a:schemeClr val="tx2"/>
                </a:solidFill>
                <a:latin typeface="Courier New" pitchFamily="49" charset="0"/>
              </a:rPr>
              <a:t>   a = b;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1800" b="1" smtClean="0">
                <a:solidFill>
                  <a:schemeClr val="tx2"/>
                </a:solidFill>
                <a:latin typeface="Courier New" pitchFamily="49" charset="0"/>
              </a:rPr>
              <a:t>   b = temp;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1800" b="1" smtClean="0">
                <a:solidFill>
                  <a:schemeClr val="tx2"/>
                </a:solidFill>
                <a:latin typeface="Courier New" pitchFamily="49" charset="0"/>
              </a:rPr>
              <a:t>}</a:t>
            </a:r>
            <a:endParaRPr lang="en-US" sz="280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F3E58C-4266-4F14-BA73-BE0DED158967}" type="slidenum">
              <a:rPr lang="en-US"/>
              <a:pPr>
                <a:defRPr/>
              </a:pPr>
              <a:t>50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More example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2E33176-AD21-4C98-B7E8-38E52DE0517E}" type="slidenum">
              <a:rPr lang="en-US"/>
              <a:pPr>
                <a:defRPr/>
              </a:pPr>
              <a:t>51</a:t>
            </a:fld>
            <a:endParaRPr lang="en-US"/>
          </a:p>
        </p:txBody>
      </p:sp>
      <p:sp>
        <p:nvSpPr>
          <p:cNvPr id="54277" name="Rectangle 3"/>
          <p:cNvSpPr>
            <a:spLocks noChangeArrowheads="1"/>
          </p:cNvSpPr>
          <p:nvPr/>
        </p:nvSpPr>
        <p:spPr bwMode="auto">
          <a:xfrm>
            <a:off x="1600200" y="1905000"/>
            <a:ext cx="6951663" cy="421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90000"/>
              </a:lnSpc>
            </a:pPr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void main ()</a:t>
            </a:r>
          </a:p>
          <a:p>
            <a:pPr eaLnBrk="0" hangingPunct="0">
              <a:lnSpc>
                <a:spcPct val="90000"/>
              </a:lnSpc>
            </a:pPr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{</a:t>
            </a:r>
          </a:p>
          <a:p>
            <a:pPr eaLnBrk="0" hangingPunct="0">
              <a:lnSpc>
                <a:spcPct val="90000"/>
              </a:lnSpc>
            </a:pPr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   int r, s = 5, t = 6;</a:t>
            </a:r>
          </a:p>
          <a:p>
            <a:pPr eaLnBrk="0" hangingPunct="0">
              <a:lnSpc>
                <a:spcPct val="90000"/>
              </a:lnSpc>
            </a:pPr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   int *tp = &amp;t;</a:t>
            </a:r>
          </a:p>
          <a:p>
            <a:pPr eaLnBrk="0" hangingPunct="0">
              <a:lnSpc>
                <a:spcPct val="90000"/>
              </a:lnSpc>
            </a:pPr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   r = MyFunction(tp,s);</a:t>
            </a:r>
          </a:p>
          <a:p>
            <a:pPr eaLnBrk="0" hangingPunct="0">
              <a:lnSpc>
                <a:spcPct val="90000"/>
              </a:lnSpc>
            </a:pPr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   r = MyFunction(&amp;t,s);</a:t>
            </a:r>
          </a:p>
          <a:p>
            <a:pPr eaLnBrk="0" hangingPunct="0">
              <a:lnSpc>
                <a:spcPct val="90000"/>
              </a:lnSpc>
            </a:pPr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   r = MyFunction(&amp;s,*tp);</a:t>
            </a:r>
          </a:p>
          <a:p>
            <a:pPr eaLnBrk="0" hangingPunct="0">
              <a:lnSpc>
                <a:spcPct val="90000"/>
              </a:lnSpc>
            </a:pPr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}</a:t>
            </a:r>
          </a:p>
          <a:p>
            <a:pPr eaLnBrk="0" hangingPunct="0">
              <a:lnSpc>
                <a:spcPct val="90000"/>
              </a:lnSpc>
            </a:pPr>
            <a:endParaRPr lang="en-US" sz="2000" b="1">
              <a:solidFill>
                <a:schemeClr val="tx2"/>
              </a:solidFill>
              <a:latin typeface="Courier New" pitchFamily="49" charset="0"/>
            </a:endParaRPr>
          </a:p>
          <a:p>
            <a:pPr eaLnBrk="0" hangingPunct="0">
              <a:lnSpc>
                <a:spcPct val="90000"/>
              </a:lnSpc>
            </a:pPr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int MyFunction(int *p, int i)</a:t>
            </a:r>
          </a:p>
          <a:p>
            <a:pPr eaLnBrk="0" hangingPunct="0">
              <a:lnSpc>
                <a:spcPct val="90000"/>
              </a:lnSpc>
            </a:pPr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{</a:t>
            </a:r>
          </a:p>
          <a:p>
            <a:pPr eaLnBrk="0" hangingPunct="0">
              <a:lnSpc>
                <a:spcPct val="90000"/>
              </a:lnSpc>
            </a:pPr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   *p = 3;</a:t>
            </a:r>
          </a:p>
          <a:p>
            <a:pPr eaLnBrk="0" hangingPunct="0">
              <a:lnSpc>
                <a:spcPct val="90000"/>
              </a:lnSpc>
            </a:pPr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   i = 4;</a:t>
            </a:r>
          </a:p>
          <a:p>
            <a:pPr eaLnBrk="0" hangingPunct="0">
              <a:lnSpc>
                <a:spcPct val="90000"/>
              </a:lnSpc>
            </a:pPr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   return i;</a:t>
            </a:r>
          </a:p>
          <a:p>
            <a:pPr eaLnBrk="0" hangingPunct="0">
              <a:lnSpc>
                <a:spcPct val="90000"/>
              </a:lnSpc>
            </a:pPr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}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DFE37C-F53B-4EF0-9F54-98444EAA76BB}" type="slidenum">
              <a:rPr lang="en-US"/>
              <a:pPr>
                <a:defRPr/>
              </a:pPr>
              <a:t>52</a:t>
            </a:fld>
            <a:endParaRPr lang="en-US"/>
          </a:p>
        </p:txBody>
      </p:sp>
      <p:sp>
        <p:nvSpPr>
          <p:cNvPr id="55300" name="Rectangle 2"/>
          <p:cNvSpPr>
            <a:spLocks noChangeArrowheads="1"/>
          </p:cNvSpPr>
          <p:nvPr/>
        </p:nvSpPr>
        <p:spPr bwMode="auto">
          <a:xfrm>
            <a:off x="685800" y="26670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="ctr"/>
          <a:lstStyle/>
          <a:p>
            <a:pPr algn="ctr" eaLnBrk="0" hangingPunct="0"/>
            <a:r>
              <a:rPr lang="en-US" sz="4400">
                <a:solidFill>
                  <a:srgbClr val="C00000"/>
                </a:solidFill>
                <a:latin typeface="Tahoma" pitchFamily="34" charset="0"/>
              </a:rPr>
              <a:t>Memory leaks and</a:t>
            </a:r>
          </a:p>
          <a:p>
            <a:pPr algn="ctr" eaLnBrk="0" hangingPunct="0"/>
            <a:r>
              <a:rPr lang="en-US" sz="4400">
                <a:solidFill>
                  <a:srgbClr val="C00000"/>
                </a:solidFill>
                <a:latin typeface="Tahoma" pitchFamily="34" charset="0"/>
              </a:rPr>
              <a:t>Dangling Pointers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Memory leaks</a:t>
            </a:r>
          </a:p>
        </p:txBody>
      </p:sp>
      <p:sp>
        <p:nvSpPr>
          <p:cNvPr id="1505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When you dynamically create objects, you can access them through the pointer which is assigned by the </a:t>
            </a:r>
            <a:r>
              <a:rPr lang="en-US" sz="2800" b="1" smtClean="0">
                <a:solidFill>
                  <a:schemeClr val="tx2"/>
                </a:solidFill>
                <a:latin typeface="Courier New" pitchFamily="49" charset="0"/>
              </a:rPr>
              <a:t>new</a:t>
            </a:r>
            <a:r>
              <a:rPr lang="en-US" sz="2800" smtClean="0"/>
              <a:t> operator</a:t>
            </a:r>
          </a:p>
          <a:p>
            <a:pPr eaLnBrk="1" hangingPunct="1"/>
            <a:r>
              <a:rPr lang="en-US" sz="2800" smtClean="0"/>
              <a:t>Reassigning a pointer without deleting the memory it pointed to previously is called a memory leak</a:t>
            </a:r>
          </a:p>
          <a:p>
            <a:pPr eaLnBrk="1" hangingPunct="1"/>
            <a:r>
              <a:rPr lang="en-US" sz="2800" smtClean="0"/>
              <a:t>It results in loss of available memory space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B8F1E00-4EFF-4043-8970-42AB568156E8}" type="slidenum">
              <a:rPr lang="en-US"/>
              <a:pPr>
                <a:defRPr/>
              </a:pPr>
              <a:t>53</a:t>
            </a:fld>
            <a:endParaRPr lang="en-US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0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0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0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0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0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0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531" grpId="0" build="p" autoUpdateAnimBg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Memory leak example</a:t>
            </a:r>
          </a:p>
        </p:txBody>
      </p:sp>
      <p:sp>
        <p:nvSpPr>
          <p:cNvPr id="26" name="Slide Number Placeholder 2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71061D-F9ED-4147-BFB0-A86750E512F8}" type="slidenum">
              <a:rPr lang="en-US"/>
              <a:pPr>
                <a:defRPr/>
              </a:pPr>
              <a:t>54</a:t>
            </a:fld>
            <a:endParaRPr lang="en-US"/>
          </a:p>
        </p:txBody>
      </p:sp>
      <p:sp>
        <p:nvSpPr>
          <p:cNvPr id="151555" name="Rectangle 3"/>
          <p:cNvSpPr>
            <a:spLocks noChangeArrowheads="1"/>
          </p:cNvSpPr>
          <p:nvPr/>
        </p:nvSpPr>
        <p:spPr bwMode="auto">
          <a:xfrm>
            <a:off x="577850" y="2028825"/>
            <a:ext cx="3232150" cy="149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tx1"/>
              </a:buClr>
              <a:buSzPct val="100000"/>
            </a:pPr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int *ptr1 = new int;</a:t>
            </a:r>
          </a:p>
          <a:p>
            <a:pPr eaLnBrk="0" hangingPunct="0">
              <a:spcBef>
                <a:spcPct val="20000"/>
              </a:spcBef>
              <a:buClr>
                <a:schemeClr val="tx1"/>
              </a:buClr>
              <a:buSzPct val="100000"/>
            </a:pPr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int *ptr2 = new int;</a:t>
            </a:r>
          </a:p>
          <a:p>
            <a:pPr eaLnBrk="0" hangingPunct="0">
              <a:spcBef>
                <a:spcPct val="20000"/>
              </a:spcBef>
              <a:buClr>
                <a:schemeClr val="tx1"/>
              </a:buClr>
              <a:buSzPct val="100000"/>
            </a:pPr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*ptr1 = 8;</a:t>
            </a:r>
          </a:p>
          <a:p>
            <a:pPr eaLnBrk="0" hangingPunct="0">
              <a:spcBef>
                <a:spcPct val="20000"/>
              </a:spcBef>
              <a:buClr>
                <a:schemeClr val="tx1"/>
              </a:buClr>
              <a:buSzPct val="100000"/>
            </a:pPr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*ptr2 = 5;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4883150" y="1889125"/>
            <a:ext cx="2959100" cy="1838325"/>
            <a:chOff x="3076" y="1190"/>
            <a:chExt cx="1864" cy="1158"/>
          </a:xfrm>
        </p:grpSpPr>
        <p:sp>
          <p:nvSpPr>
            <p:cNvPr id="57362" name="Rectangle 5"/>
            <p:cNvSpPr>
              <a:spLocks noChangeArrowheads="1"/>
            </p:cNvSpPr>
            <p:nvPr/>
          </p:nvSpPr>
          <p:spPr bwMode="auto">
            <a:xfrm>
              <a:off x="3108" y="1190"/>
              <a:ext cx="40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2000">
                  <a:solidFill>
                    <a:schemeClr val="tx2"/>
                  </a:solidFill>
                  <a:latin typeface="Tahoma" pitchFamily="34" charset="0"/>
                </a:rPr>
                <a:t>ptr1</a:t>
              </a:r>
            </a:p>
          </p:txBody>
        </p:sp>
        <p:sp>
          <p:nvSpPr>
            <p:cNvPr id="57363" name="Rectangle 6"/>
            <p:cNvSpPr>
              <a:spLocks noChangeArrowheads="1"/>
            </p:cNvSpPr>
            <p:nvPr/>
          </p:nvSpPr>
          <p:spPr bwMode="auto">
            <a:xfrm>
              <a:off x="3076" y="1444"/>
              <a:ext cx="507" cy="28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onstantia" pitchFamily="18" charset="0"/>
              </a:endParaRPr>
            </a:p>
          </p:txBody>
        </p:sp>
        <p:sp>
          <p:nvSpPr>
            <p:cNvPr id="57364" name="Rectangle 7"/>
            <p:cNvSpPr>
              <a:spLocks noChangeArrowheads="1"/>
            </p:cNvSpPr>
            <p:nvPr/>
          </p:nvSpPr>
          <p:spPr bwMode="auto">
            <a:xfrm>
              <a:off x="3076" y="2068"/>
              <a:ext cx="507" cy="28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onstantia" pitchFamily="18" charset="0"/>
              </a:endParaRPr>
            </a:p>
          </p:txBody>
        </p:sp>
        <p:sp>
          <p:nvSpPr>
            <p:cNvPr id="57365" name="Rectangle 8"/>
            <p:cNvSpPr>
              <a:spLocks noChangeArrowheads="1"/>
            </p:cNvSpPr>
            <p:nvPr/>
          </p:nvSpPr>
          <p:spPr bwMode="auto">
            <a:xfrm>
              <a:off x="4433" y="1396"/>
              <a:ext cx="507" cy="32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>
                  <a:latin typeface="Tahoma" pitchFamily="34" charset="0"/>
                </a:rPr>
                <a:t>8</a:t>
              </a:r>
            </a:p>
          </p:txBody>
        </p:sp>
        <p:sp>
          <p:nvSpPr>
            <p:cNvPr id="57366" name="Rectangle 9"/>
            <p:cNvSpPr>
              <a:spLocks noChangeArrowheads="1"/>
            </p:cNvSpPr>
            <p:nvPr/>
          </p:nvSpPr>
          <p:spPr bwMode="auto">
            <a:xfrm>
              <a:off x="4433" y="2020"/>
              <a:ext cx="507" cy="32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>
                  <a:latin typeface="Tahoma" pitchFamily="34" charset="0"/>
                </a:rPr>
                <a:t>5</a:t>
              </a:r>
            </a:p>
          </p:txBody>
        </p:sp>
        <p:sp>
          <p:nvSpPr>
            <p:cNvPr id="57367" name="Line 10"/>
            <p:cNvSpPr>
              <a:spLocks noChangeShapeType="1"/>
            </p:cNvSpPr>
            <p:nvPr/>
          </p:nvSpPr>
          <p:spPr bwMode="auto">
            <a:xfrm>
              <a:off x="3587" y="2208"/>
              <a:ext cx="84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68" name="Line 11"/>
            <p:cNvSpPr>
              <a:spLocks noChangeShapeType="1"/>
            </p:cNvSpPr>
            <p:nvPr/>
          </p:nvSpPr>
          <p:spPr bwMode="auto">
            <a:xfrm>
              <a:off x="3587" y="1584"/>
              <a:ext cx="84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69" name="Rectangle 12"/>
            <p:cNvSpPr>
              <a:spLocks noChangeArrowheads="1"/>
            </p:cNvSpPr>
            <p:nvPr/>
          </p:nvSpPr>
          <p:spPr bwMode="auto">
            <a:xfrm>
              <a:off x="3108" y="1814"/>
              <a:ext cx="40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2000">
                  <a:solidFill>
                    <a:schemeClr val="tx2"/>
                  </a:solidFill>
                  <a:latin typeface="Tahoma" pitchFamily="34" charset="0"/>
                </a:rPr>
                <a:t>ptr2</a:t>
              </a:r>
            </a:p>
          </p:txBody>
        </p:sp>
      </p:grp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4876800" y="4181475"/>
            <a:ext cx="2959100" cy="1838325"/>
            <a:chOff x="3072" y="2634"/>
            <a:chExt cx="1864" cy="1158"/>
          </a:xfrm>
        </p:grpSpPr>
        <p:sp>
          <p:nvSpPr>
            <p:cNvPr id="57354" name="Rectangle 14"/>
            <p:cNvSpPr>
              <a:spLocks noChangeArrowheads="1"/>
            </p:cNvSpPr>
            <p:nvPr/>
          </p:nvSpPr>
          <p:spPr bwMode="auto">
            <a:xfrm>
              <a:off x="3104" y="2634"/>
              <a:ext cx="40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2000">
                  <a:solidFill>
                    <a:schemeClr val="tx2"/>
                  </a:solidFill>
                  <a:latin typeface="Tahoma" pitchFamily="34" charset="0"/>
                </a:rPr>
                <a:t>ptr1</a:t>
              </a:r>
            </a:p>
          </p:txBody>
        </p:sp>
        <p:sp>
          <p:nvSpPr>
            <p:cNvPr id="57355" name="Rectangle 15"/>
            <p:cNvSpPr>
              <a:spLocks noChangeArrowheads="1"/>
            </p:cNvSpPr>
            <p:nvPr/>
          </p:nvSpPr>
          <p:spPr bwMode="auto">
            <a:xfrm>
              <a:off x="3072" y="2888"/>
              <a:ext cx="507" cy="28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onstantia" pitchFamily="18" charset="0"/>
              </a:endParaRPr>
            </a:p>
          </p:txBody>
        </p:sp>
        <p:sp>
          <p:nvSpPr>
            <p:cNvPr id="57356" name="Rectangle 16"/>
            <p:cNvSpPr>
              <a:spLocks noChangeArrowheads="1"/>
            </p:cNvSpPr>
            <p:nvPr/>
          </p:nvSpPr>
          <p:spPr bwMode="auto">
            <a:xfrm>
              <a:off x="3072" y="3512"/>
              <a:ext cx="507" cy="28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onstantia" pitchFamily="18" charset="0"/>
              </a:endParaRPr>
            </a:p>
          </p:txBody>
        </p:sp>
        <p:sp>
          <p:nvSpPr>
            <p:cNvPr id="57357" name="Rectangle 17"/>
            <p:cNvSpPr>
              <a:spLocks noChangeArrowheads="1"/>
            </p:cNvSpPr>
            <p:nvPr/>
          </p:nvSpPr>
          <p:spPr bwMode="auto">
            <a:xfrm>
              <a:off x="4429" y="2840"/>
              <a:ext cx="507" cy="32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>
                  <a:latin typeface="Tahoma" pitchFamily="34" charset="0"/>
                </a:rPr>
                <a:t>8</a:t>
              </a:r>
            </a:p>
          </p:txBody>
        </p:sp>
        <p:sp>
          <p:nvSpPr>
            <p:cNvPr id="57358" name="Rectangle 18"/>
            <p:cNvSpPr>
              <a:spLocks noChangeArrowheads="1"/>
            </p:cNvSpPr>
            <p:nvPr/>
          </p:nvSpPr>
          <p:spPr bwMode="auto">
            <a:xfrm>
              <a:off x="4429" y="3464"/>
              <a:ext cx="507" cy="32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>
                  <a:latin typeface="Tahoma" pitchFamily="34" charset="0"/>
                </a:rPr>
                <a:t>5</a:t>
              </a:r>
            </a:p>
          </p:txBody>
        </p:sp>
        <p:sp>
          <p:nvSpPr>
            <p:cNvPr id="57359" name="Line 19"/>
            <p:cNvSpPr>
              <a:spLocks noChangeShapeType="1"/>
            </p:cNvSpPr>
            <p:nvPr/>
          </p:nvSpPr>
          <p:spPr bwMode="auto">
            <a:xfrm flipV="1">
              <a:off x="3583" y="3120"/>
              <a:ext cx="833" cy="5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60" name="Line 20"/>
            <p:cNvSpPr>
              <a:spLocks noChangeShapeType="1"/>
            </p:cNvSpPr>
            <p:nvPr/>
          </p:nvSpPr>
          <p:spPr bwMode="auto">
            <a:xfrm>
              <a:off x="3583" y="3028"/>
              <a:ext cx="84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61" name="Rectangle 21"/>
            <p:cNvSpPr>
              <a:spLocks noChangeArrowheads="1"/>
            </p:cNvSpPr>
            <p:nvPr/>
          </p:nvSpPr>
          <p:spPr bwMode="auto">
            <a:xfrm>
              <a:off x="3104" y="3258"/>
              <a:ext cx="40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2000">
                  <a:solidFill>
                    <a:schemeClr val="tx2"/>
                  </a:solidFill>
                  <a:latin typeface="Tahoma" pitchFamily="34" charset="0"/>
                </a:rPr>
                <a:t>ptr2</a:t>
              </a:r>
            </a:p>
          </p:txBody>
        </p:sp>
      </p:grpSp>
      <p:sp>
        <p:nvSpPr>
          <p:cNvPr id="151574" name="Rectangle 22"/>
          <p:cNvSpPr>
            <a:spLocks noChangeArrowheads="1"/>
          </p:cNvSpPr>
          <p:nvPr/>
        </p:nvSpPr>
        <p:spPr bwMode="auto">
          <a:xfrm>
            <a:off x="609600" y="3476625"/>
            <a:ext cx="20129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tx1"/>
              </a:buClr>
              <a:buSzPct val="100000"/>
            </a:pPr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ptr2 = ptr1;</a:t>
            </a:r>
          </a:p>
        </p:txBody>
      </p:sp>
      <p:sp>
        <p:nvSpPr>
          <p:cNvPr id="151575" name="Text Box 23"/>
          <p:cNvSpPr txBox="1">
            <a:spLocks noChangeArrowheads="1"/>
          </p:cNvSpPr>
          <p:nvPr/>
        </p:nvSpPr>
        <p:spPr bwMode="auto">
          <a:xfrm>
            <a:off x="609600" y="4953000"/>
            <a:ext cx="22860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sy="50000" kx="-2453608" rotWithShape="0">
              <a:schemeClr val="bg2"/>
            </a:outerShdw>
          </a:effectLst>
        </p:spPr>
        <p:txBody>
          <a:bodyPr>
            <a:spAutoFit/>
          </a:bodyPr>
          <a:lstStyle/>
          <a:p>
            <a:pPr eaLnBrk="0" fontAlgn="auto" hangingPunct="0">
              <a:spcBef>
                <a:spcPct val="50000"/>
              </a:spcBef>
              <a:spcAft>
                <a:spcPts val="0"/>
              </a:spcAft>
              <a:defRPr/>
            </a:pPr>
            <a:r>
              <a:rPr lang="en-US">
                <a:latin typeface="Tahoma" pitchFamily="34" charset="0"/>
              </a:rPr>
              <a:t>How to avoid?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1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1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1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55" grpId="0" autoUpdateAnimBg="0"/>
      <p:bldP spid="151574" grpId="0" autoUpdateAnimBg="0"/>
      <p:bldP spid="151575" grpId="0" autoUpdateAnimBg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Inaccessible object</a:t>
            </a:r>
          </a:p>
        </p:txBody>
      </p:sp>
      <p:sp>
        <p:nvSpPr>
          <p:cNvPr id="1525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An inaccessible object is an unnamed object that was created by operator </a:t>
            </a:r>
            <a:r>
              <a:rPr lang="en-US" b="1" smtClean="0">
                <a:solidFill>
                  <a:schemeClr val="tx2"/>
                </a:solidFill>
                <a:latin typeface="Courier New" pitchFamily="49" charset="0"/>
              </a:rPr>
              <a:t>new</a:t>
            </a:r>
            <a:r>
              <a:rPr lang="en-US" smtClean="0"/>
              <a:t> and which a programmer has left without a pointer to it.</a:t>
            </a:r>
          </a:p>
          <a:p>
            <a:pPr eaLnBrk="1" hangingPunct="1"/>
            <a:r>
              <a:rPr lang="en-US" smtClean="0"/>
              <a:t>It is a logical error and causes memory leaks.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B19909-3656-45CE-8678-9453BC7985FC}" type="slidenum">
              <a:rPr lang="en-US"/>
              <a:pPr>
                <a:defRPr/>
              </a:pPr>
              <a:t>55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2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2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2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2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579" grpId="0" build="p" autoUpdateAnimBg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Dangling Pointer</a:t>
            </a:r>
          </a:p>
        </p:txBody>
      </p:sp>
      <p:sp>
        <p:nvSpPr>
          <p:cNvPr id="15360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981200"/>
            <a:ext cx="7772400" cy="2438400"/>
          </a:xfrm>
        </p:spPr>
        <p:txBody>
          <a:bodyPr/>
          <a:lstStyle/>
          <a:p>
            <a:pPr eaLnBrk="1" hangingPunct="1"/>
            <a:r>
              <a:rPr lang="en-US" smtClean="0"/>
              <a:t>It is a pointer that points to dynamic memory that has been deallocated.</a:t>
            </a:r>
          </a:p>
          <a:p>
            <a:pPr eaLnBrk="1" hangingPunct="1"/>
            <a:r>
              <a:rPr lang="en-US" smtClean="0"/>
              <a:t>The result of dereferencing a dangling pointer is unpredictable.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74C47F-FDE4-4AD6-A850-E32B29D83BEA}" type="slidenum">
              <a:rPr lang="en-US"/>
              <a:pPr>
                <a:defRPr/>
              </a:pPr>
              <a:t>56</a:t>
            </a:fld>
            <a:endParaRPr lang="en-US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3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3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03" grpId="0" build="p" autoUpdateAnimBg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A26C2E-35AB-4846-88E8-9E62AD0D1AD0}" type="slidenum">
              <a:rPr lang="en-US"/>
              <a:pPr>
                <a:defRPr/>
              </a:pPr>
              <a:t>57</a:t>
            </a:fld>
            <a:endParaRPr lang="en-US"/>
          </a:p>
        </p:txBody>
      </p:sp>
      <p:sp>
        <p:nvSpPr>
          <p:cNvPr id="60420" name="Rectangle 2"/>
          <p:cNvSpPr>
            <a:spLocks noChangeArrowheads="1"/>
          </p:cNvSpPr>
          <p:nvPr/>
        </p:nvSpPr>
        <p:spPr bwMode="auto">
          <a:xfrm>
            <a:off x="1828800" y="323850"/>
            <a:ext cx="6629400" cy="112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="ctr"/>
          <a:lstStyle/>
          <a:p>
            <a:pPr algn="ctr" eaLnBrk="0" hangingPunct="0"/>
            <a:r>
              <a:rPr lang="en-US" sz="4400">
                <a:solidFill>
                  <a:schemeClr val="tx2"/>
                </a:solidFill>
                <a:latin typeface="Tahoma" pitchFamily="34" charset="0"/>
              </a:rPr>
              <a:t>Dangling Pointer example</a:t>
            </a:r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577850" y="2028825"/>
            <a:ext cx="3232150" cy="149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tx1"/>
              </a:buClr>
              <a:buSzPct val="100000"/>
            </a:pPr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int *ptr1 = new int;</a:t>
            </a:r>
          </a:p>
          <a:p>
            <a:pPr eaLnBrk="0" hangingPunct="0">
              <a:spcBef>
                <a:spcPct val="20000"/>
              </a:spcBef>
              <a:buClr>
                <a:schemeClr val="tx1"/>
              </a:buClr>
              <a:buSzPct val="100000"/>
            </a:pPr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int *ptr2;</a:t>
            </a:r>
          </a:p>
          <a:p>
            <a:pPr eaLnBrk="0" hangingPunct="0">
              <a:spcBef>
                <a:spcPct val="20000"/>
              </a:spcBef>
              <a:buClr>
                <a:schemeClr val="tx1"/>
              </a:buClr>
              <a:buSzPct val="100000"/>
            </a:pPr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*ptr1 = 8;</a:t>
            </a:r>
          </a:p>
          <a:p>
            <a:pPr eaLnBrk="0" hangingPunct="0">
              <a:spcBef>
                <a:spcPct val="20000"/>
              </a:spcBef>
              <a:buClr>
                <a:schemeClr val="tx1"/>
              </a:buClr>
              <a:buSzPct val="100000"/>
            </a:pPr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ptr2 = ptr1;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4876800" y="1819275"/>
            <a:ext cx="2959100" cy="1838325"/>
            <a:chOff x="3072" y="1146"/>
            <a:chExt cx="1864" cy="1158"/>
          </a:xfrm>
        </p:grpSpPr>
        <p:sp>
          <p:nvSpPr>
            <p:cNvPr id="60431" name="Rectangle 5"/>
            <p:cNvSpPr>
              <a:spLocks noChangeArrowheads="1"/>
            </p:cNvSpPr>
            <p:nvPr/>
          </p:nvSpPr>
          <p:spPr bwMode="auto">
            <a:xfrm>
              <a:off x="3104" y="1146"/>
              <a:ext cx="40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2000">
                  <a:solidFill>
                    <a:schemeClr val="tx2"/>
                  </a:solidFill>
                  <a:latin typeface="Tahoma" pitchFamily="34" charset="0"/>
                </a:rPr>
                <a:t>ptr1</a:t>
              </a:r>
            </a:p>
          </p:txBody>
        </p:sp>
        <p:sp>
          <p:nvSpPr>
            <p:cNvPr id="60432" name="Rectangle 6"/>
            <p:cNvSpPr>
              <a:spLocks noChangeArrowheads="1"/>
            </p:cNvSpPr>
            <p:nvPr/>
          </p:nvSpPr>
          <p:spPr bwMode="auto">
            <a:xfrm>
              <a:off x="3072" y="1400"/>
              <a:ext cx="507" cy="28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onstantia" pitchFamily="18" charset="0"/>
              </a:endParaRPr>
            </a:p>
          </p:txBody>
        </p:sp>
        <p:sp>
          <p:nvSpPr>
            <p:cNvPr id="60433" name="Rectangle 7"/>
            <p:cNvSpPr>
              <a:spLocks noChangeArrowheads="1"/>
            </p:cNvSpPr>
            <p:nvPr/>
          </p:nvSpPr>
          <p:spPr bwMode="auto">
            <a:xfrm>
              <a:off x="3072" y="2024"/>
              <a:ext cx="507" cy="28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onstantia" pitchFamily="18" charset="0"/>
              </a:endParaRPr>
            </a:p>
          </p:txBody>
        </p:sp>
        <p:sp>
          <p:nvSpPr>
            <p:cNvPr id="60434" name="Rectangle 8"/>
            <p:cNvSpPr>
              <a:spLocks noChangeArrowheads="1"/>
            </p:cNvSpPr>
            <p:nvPr/>
          </p:nvSpPr>
          <p:spPr bwMode="auto">
            <a:xfrm>
              <a:off x="4429" y="1352"/>
              <a:ext cx="507" cy="32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>
                  <a:latin typeface="Tahoma" pitchFamily="34" charset="0"/>
                </a:rPr>
                <a:t>8</a:t>
              </a:r>
            </a:p>
          </p:txBody>
        </p:sp>
        <p:sp>
          <p:nvSpPr>
            <p:cNvPr id="60435" name="Line 9"/>
            <p:cNvSpPr>
              <a:spLocks noChangeShapeType="1"/>
            </p:cNvSpPr>
            <p:nvPr/>
          </p:nvSpPr>
          <p:spPr bwMode="auto">
            <a:xfrm flipV="1">
              <a:off x="3583" y="1632"/>
              <a:ext cx="833" cy="5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436" name="Line 10"/>
            <p:cNvSpPr>
              <a:spLocks noChangeShapeType="1"/>
            </p:cNvSpPr>
            <p:nvPr/>
          </p:nvSpPr>
          <p:spPr bwMode="auto">
            <a:xfrm>
              <a:off x="3583" y="1540"/>
              <a:ext cx="84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437" name="Rectangle 11"/>
            <p:cNvSpPr>
              <a:spLocks noChangeArrowheads="1"/>
            </p:cNvSpPr>
            <p:nvPr/>
          </p:nvSpPr>
          <p:spPr bwMode="auto">
            <a:xfrm>
              <a:off x="3104" y="1770"/>
              <a:ext cx="40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2000">
                  <a:solidFill>
                    <a:schemeClr val="tx2"/>
                  </a:solidFill>
                  <a:latin typeface="Tahoma" pitchFamily="34" charset="0"/>
                </a:rPr>
                <a:t>ptr2</a:t>
              </a:r>
            </a:p>
          </p:txBody>
        </p:sp>
      </p:grpSp>
      <p:sp>
        <p:nvSpPr>
          <p:cNvPr id="154636" name="Rectangle 12"/>
          <p:cNvSpPr>
            <a:spLocks noChangeArrowheads="1"/>
          </p:cNvSpPr>
          <p:nvPr/>
        </p:nvSpPr>
        <p:spPr bwMode="auto">
          <a:xfrm>
            <a:off x="577850" y="3505200"/>
            <a:ext cx="20129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tx1"/>
              </a:buClr>
              <a:buSzPct val="100000"/>
            </a:pPr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delete ptr1;</a:t>
            </a:r>
          </a:p>
        </p:txBody>
      </p: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4876800" y="3952875"/>
            <a:ext cx="2133600" cy="1838325"/>
            <a:chOff x="3072" y="2490"/>
            <a:chExt cx="1344" cy="1158"/>
          </a:xfrm>
        </p:grpSpPr>
        <p:sp>
          <p:nvSpPr>
            <p:cNvPr id="60426" name="Rectangle 14"/>
            <p:cNvSpPr>
              <a:spLocks noChangeArrowheads="1"/>
            </p:cNvSpPr>
            <p:nvPr/>
          </p:nvSpPr>
          <p:spPr bwMode="auto">
            <a:xfrm>
              <a:off x="3104" y="2490"/>
              <a:ext cx="40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2000">
                  <a:solidFill>
                    <a:schemeClr val="tx2"/>
                  </a:solidFill>
                  <a:latin typeface="Tahoma" pitchFamily="34" charset="0"/>
                </a:rPr>
                <a:t>ptr1</a:t>
              </a:r>
            </a:p>
          </p:txBody>
        </p:sp>
        <p:sp>
          <p:nvSpPr>
            <p:cNvPr id="60427" name="Rectangle 15"/>
            <p:cNvSpPr>
              <a:spLocks noChangeArrowheads="1"/>
            </p:cNvSpPr>
            <p:nvPr/>
          </p:nvSpPr>
          <p:spPr bwMode="auto">
            <a:xfrm>
              <a:off x="3072" y="2744"/>
              <a:ext cx="507" cy="28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onstantia" pitchFamily="18" charset="0"/>
              </a:endParaRPr>
            </a:p>
          </p:txBody>
        </p:sp>
        <p:sp>
          <p:nvSpPr>
            <p:cNvPr id="60428" name="Rectangle 16"/>
            <p:cNvSpPr>
              <a:spLocks noChangeArrowheads="1"/>
            </p:cNvSpPr>
            <p:nvPr/>
          </p:nvSpPr>
          <p:spPr bwMode="auto">
            <a:xfrm>
              <a:off x="3072" y="3368"/>
              <a:ext cx="507" cy="28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onstantia" pitchFamily="18" charset="0"/>
              </a:endParaRPr>
            </a:p>
          </p:txBody>
        </p:sp>
        <p:sp>
          <p:nvSpPr>
            <p:cNvPr id="60429" name="Line 17"/>
            <p:cNvSpPr>
              <a:spLocks noChangeShapeType="1"/>
            </p:cNvSpPr>
            <p:nvPr/>
          </p:nvSpPr>
          <p:spPr bwMode="auto">
            <a:xfrm flipV="1">
              <a:off x="3583" y="2976"/>
              <a:ext cx="833" cy="5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430" name="Rectangle 18"/>
            <p:cNvSpPr>
              <a:spLocks noChangeArrowheads="1"/>
            </p:cNvSpPr>
            <p:nvPr/>
          </p:nvSpPr>
          <p:spPr bwMode="auto">
            <a:xfrm>
              <a:off x="3104" y="3114"/>
              <a:ext cx="40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2000">
                  <a:solidFill>
                    <a:schemeClr val="tx2"/>
                  </a:solidFill>
                  <a:latin typeface="Tahoma" pitchFamily="34" charset="0"/>
                </a:rPr>
                <a:t>ptr2</a:t>
              </a:r>
            </a:p>
          </p:txBody>
        </p:sp>
      </p:grpSp>
      <p:sp>
        <p:nvSpPr>
          <p:cNvPr id="154643" name="Text Box 19"/>
          <p:cNvSpPr txBox="1">
            <a:spLocks noChangeArrowheads="1"/>
          </p:cNvSpPr>
          <p:nvPr/>
        </p:nvSpPr>
        <p:spPr bwMode="auto">
          <a:xfrm>
            <a:off x="609600" y="4953000"/>
            <a:ext cx="22860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sy="50000" kx="-2453608" rotWithShape="0">
              <a:schemeClr val="bg2"/>
            </a:outerShdw>
          </a:effectLst>
        </p:spPr>
        <p:txBody>
          <a:bodyPr>
            <a:spAutoFit/>
          </a:bodyPr>
          <a:lstStyle/>
          <a:p>
            <a:pPr eaLnBrk="0" fontAlgn="auto" hangingPunct="0">
              <a:spcBef>
                <a:spcPct val="50000"/>
              </a:spcBef>
              <a:spcAft>
                <a:spcPts val="0"/>
              </a:spcAft>
              <a:defRPr/>
            </a:pPr>
            <a:r>
              <a:rPr lang="en-US">
                <a:latin typeface="Tahoma" pitchFamily="34" charset="0"/>
              </a:rPr>
              <a:t>How to avoid?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4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4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4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627" grpId="0" autoUpdateAnimBg="0"/>
      <p:bldP spid="154636" grpId="0" autoUpdateAnimBg="0"/>
      <p:bldP spid="154643" grpId="0" autoUpdateAnimBg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ChangeArrowheads="1"/>
          </p:cNvSpPr>
          <p:nvPr/>
        </p:nvSpPr>
        <p:spPr bwMode="auto">
          <a:xfrm>
            <a:off x="685800" y="26670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="ctr"/>
          <a:lstStyle/>
          <a:p>
            <a:pPr algn="ctr" eaLnBrk="0" hangingPunct="0"/>
            <a:r>
              <a:rPr lang="en-US" sz="4400">
                <a:latin typeface="Tahoma" pitchFamily="34" charset="0"/>
              </a:rPr>
              <a:t>Pointers to objects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Pointers to objects</a:t>
            </a:r>
          </a:p>
        </p:txBody>
      </p:sp>
      <p:sp>
        <p:nvSpPr>
          <p:cNvPr id="14336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981200"/>
            <a:ext cx="7772400" cy="1447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Any type that can be used to declare a variable/object can also have a pointer type.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Consider the following class: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8D6F669-A231-49F5-B2E3-58EAD30AEE8E}" type="slidenum">
              <a:rPr lang="en-US"/>
              <a:pPr>
                <a:defRPr/>
              </a:pPr>
              <a:t>59</a:t>
            </a:fld>
            <a:endParaRPr lang="en-US"/>
          </a:p>
        </p:txBody>
      </p:sp>
      <p:sp>
        <p:nvSpPr>
          <p:cNvPr id="143364" name="Rectangle 4"/>
          <p:cNvSpPr>
            <a:spLocks noChangeArrowheads="1"/>
          </p:cNvSpPr>
          <p:nvPr/>
        </p:nvSpPr>
        <p:spPr bwMode="auto">
          <a:xfrm>
            <a:off x="2362200" y="3352800"/>
            <a:ext cx="5486400" cy="283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lvl="1"/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class Rational</a:t>
            </a:r>
          </a:p>
          <a:p>
            <a:pPr lvl="1"/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{</a:t>
            </a:r>
          </a:p>
          <a:p>
            <a:pPr lvl="1"/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   private:</a:t>
            </a:r>
          </a:p>
          <a:p>
            <a:pPr lvl="1"/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      int numerator;</a:t>
            </a:r>
          </a:p>
          <a:p>
            <a:pPr lvl="1"/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      int denominator;</a:t>
            </a:r>
          </a:p>
          <a:p>
            <a:pPr lvl="1"/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   public:</a:t>
            </a:r>
          </a:p>
          <a:p>
            <a:pPr lvl="1"/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      Rational(int n, int d);</a:t>
            </a:r>
          </a:p>
          <a:p>
            <a:pPr lvl="1"/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      void Display();</a:t>
            </a:r>
          </a:p>
          <a:p>
            <a:pPr lvl="1"/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};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3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3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3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63" grpId="0" build="p" autoUpdateAnimBg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07" name="Rectangle 23"/>
          <p:cNvSpPr>
            <a:spLocks noGrp="1" noChangeArrowheads="1"/>
          </p:cNvSpPr>
          <p:nvPr>
            <p:ph type="title"/>
          </p:nvPr>
        </p:nvSpPr>
        <p:spPr>
          <a:xfrm>
            <a:off x="1828800" y="323850"/>
            <a:ext cx="6781800" cy="112395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Pointers to objects (Cont..)</a:t>
            </a:r>
          </a:p>
        </p:txBody>
      </p:sp>
      <p:sp>
        <p:nvSpPr>
          <p:cNvPr id="36" name="Slide Number Placeholder 3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7A6EDE-0B20-48D6-8319-34DF9087C842}" type="slidenum">
              <a:rPr lang="en-US"/>
              <a:pPr>
                <a:defRPr/>
              </a:pPr>
              <a:t>60</a:t>
            </a:fld>
            <a:endParaRPr lang="en-US"/>
          </a:p>
        </p:txBody>
      </p:sp>
      <p:sp>
        <p:nvSpPr>
          <p:cNvPr id="63493" name="Rectangle 2"/>
          <p:cNvSpPr>
            <a:spLocks noChangeArrowheads="1"/>
          </p:cNvSpPr>
          <p:nvPr/>
        </p:nvSpPr>
        <p:spPr bwMode="auto">
          <a:xfrm>
            <a:off x="1066800" y="1981200"/>
            <a:ext cx="43434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/>
            <a:r>
              <a:rPr lang="en-US" b="1">
                <a:solidFill>
                  <a:schemeClr val="tx2"/>
                </a:solidFill>
                <a:latin typeface="Courier New" pitchFamily="49" charset="0"/>
              </a:rPr>
              <a:t>Rational *rp = NULL;</a:t>
            </a:r>
          </a:p>
          <a:p>
            <a:pPr marL="342900" indent="-342900"/>
            <a:r>
              <a:rPr lang="en-US" b="1">
                <a:solidFill>
                  <a:schemeClr val="tx2"/>
                </a:solidFill>
                <a:latin typeface="Courier New" pitchFamily="49" charset="0"/>
              </a:rPr>
              <a:t>Rational r(3,4);</a:t>
            </a:r>
          </a:p>
          <a:p>
            <a:pPr marL="342900" indent="-342900"/>
            <a:r>
              <a:rPr lang="en-US" b="1">
                <a:solidFill>
                  <a:schemeClr val="tx2"/>
                </a:solidFill>
                <a:latin typeface="Courier New" pitchFamily="49" charset="0"/>
              </a:rPr>
              <a:t>rp = &amp;r;</a:t>
            </a:r>
          </a:p>
          <a:p>
            <a:pPr marL="342900" indent="-342900">
              <a:spcBef>
                <a:spcPct val="20000"/>
              </a:spcBef>
            </a:pPr>
            <a:endParaRPr lang="en-US" b="1">
              <a:solidFill>
                <a:schemeClr val="tx2"/>
              </a:solidFill>
              <a:latin typeface="Courier New" pitchFamily="49" charset="0"/>
            </a:endParaRPr>
          </a:p>
        </p:txBody>
      </p:sp>
      <p:sp>
        <p:nvSpPr>
          <p:cNvPr id="63494" name="AutoShape 3"/>
          <p:cNvSpPr>
            <a:spLocks noChangeArrowheads="1"/>
          </p:cNvSpPr>
          <p:nvPr/>
        </p:nvSpPr>
        <p:spPr bwMode="auto">
          <a:xfrm>
            <a:off x="381000" y="2133600"/>
            <a:ext cx="533400" cy="152400"/>
          </a:xfrm>
          <a:prstGeom prst="rightArrow">
            <a:avLst>
              <a:gd name="adj1" fmla="val 50000"/>
              <a:gd name="adj2" fmla="val 875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63495" name="Rectangle 59" descr="Light upward diagonal"/>
          <p:cNvSpPr>
            <a:spLocks noChangeArrowheads="1"/>
          </p:cNvSpPr>
          <p:nvPr/>
        </p:nvSpPr>
        <p:spPr bwMode="auto">
          <a:xfrm>
            <a:off x="7794625" y="2057400"/>
            <a:ext cx="1116013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000">
                <a:solidFill>
                  <a:schemeClr val="accent2"/>
                </a:solidFill>
                <a:latin typeface="Tahoma" pitchFamily="34" charset="0"/>
              </a:rPr>
              <a:t>0</a:t>
            </a:r>
            <a:endParaRPr lang="en-US" sz="1400">
              <a:solidFill>
                <a:schemeClr val="accent2"/>
              </a:solidFill>
              <a:latin typeface="Tahoma" pitchFamily="34" charset="0"/>
            </a:endParaRPr>
          </a:p>
        </p:txBody>
      </p:sp>
      <p:sp>
        <p:nvSpPr>
          <p:cNvPr id="63496" name="Rectangle 60"/>
          <p:cNvSpPr>
            <a:spLocks noChangeArrowheads="1"/>
          </p:cNvSpPr>
          <p:nvPr/>
        </p:nvSpPr>
        <p:spPr bwMode="auto">
          <a:xfrm>
            <a:off x="6772275" y="2057400"/>
            <a:ext cx="102235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FFF0</a:t>
            </a:r>
          </a:p>
        </p:txBody>
      </p:sp>
      <p:sp>
        <p:nvSpPr>
          <p:cNvPr id="63497" name="Rectangle 64" descr="Light upward diagonal"/>
          <p:cNvSpPr>
            <a:spLocks noChangeArrowheads="1"/>
          </p:cNvSpPr>
          <p:nvPr/>
        </p:nvSpPr>
        <p:spPr bwMode="auto">
          <a:xfrm>
            <a:off x="7799388" y="2362200"/>
            <a:ext cx="1116012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sz="1400">
              <a:solidFill>
                <a:schemeClr val="accent2"/>
              </a:solidFill>
              <a:latin typeface="Tahoma" pitchFamily="34" charset="0"/>
            </a:endParaRPr>
          </a:p>
        </p:txBody>
      </p:sp>
      <p:sp>
        <p:nvSpPr>
          <p:cNvPr id="63498" name="Rectangle 65"/>
          <p:cNvSpPr>
            <a:spLocks noChangeArrowheads="1"/>
          </p:cNvSpPr>
          <p:nvPr/>
        </p:nvSpPr>
        <p:spPr bwMode="auto">
          <a:xfrm>
            <a:off x="6777038" y="2362200"/>
            <a:ext cx="102235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FFF1</a:t>
            </a:r>
          </a:p>
        </p:txBody>
      </p:sp>
      <p:sp>
        <p:nvSpPr>
          <p:cNvPr id="63499" name="Rectangle 66" descr="Light upward diagonal"/>
          <p:cNvSpPr>
            <a:spLocks noChangeArrowheads="1"/>
          </p:cNvSpPr>
          <p:nvPr/>
        </p:nvSpPr>
        <p:spPr bwMode="auto">
          <a:xfrm>
            <a:off x="7799388" y="2667000"/>
            <a:ext cx="1116012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sz="1400">
              <a:solidFill>
                <a:schemeClr val="accent2"/>
              </a:solidFill>
              <a:latin typeface="Tahoma" pitchFamily="34" charset="0"/>
            </a:endParaRPr>
          </a:p>
        </p:txBody>
      </p:sp>
      <p:sp>
        <p:nvSpPr>
          <p:cNvPr id="63500" name="Rectangle 67"/>
          <p:cNvSpPr>
            <a:spLocks noChangeArrowheads="1"/>
          </p:cNvSpPr>
          <p:nvPr/>
        </p:nvSpPr>
        <p:spPr bwMode="auto">
          <a:xfrm>
            <a:off x="6777038" y="2667000"/>
            <a:ext cx="102235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FFF2</a:t>
            </a:r>
          </a:p>
        </p:txBody>
      </p:sp>
      <p:sp>
        <p:nvSpPr>
          <p:cNvPr id="63501" name="Rectangle 68" descr="Light upward diagonal"/>
          <p:cNvSpPr>
            <a:spLocks noChangeArrowheads="1"/>
          </p:cNvSpPr>
          <p:nvPr/>
        </p:nvSpPr>
        <p:spPr bwMode="auto">
          <a:xfrm>
            <a:off x="7799388" y="2971800"/>
            <a:ext cx="1116012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sz="1400">
              <a:solidFill>
                <a:schemeClr val="accent2"/>
              </a:solidFill>
              <a:latin typeface="Tahoma" pitchFamily="34" charset="0"/>
            </a:endParaRPr>
          </a:p>
        </p:txBody>
      </p:sp>
      <p:sp>
        <p:nvSpPr>
          <p:cNvPr id="63502" name="Rectangle 69"/>
          <p:cNvSpPr>
            <a:spLocks noChangeArrowheads="1"/>
          </p:cNvSpPr>
          <p:nvPr/>
        </p:nvSpPr>
        <p:spPr bwMode="auto">
          <a:xfrm>
            <a:off x="6777038" y="2971800"/>
            <a:ext cx="102235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FFF3</a:t>
            </a:r>
          </a:p>
        </p:txBody>
      </p:sp>
      <p:sp>
        <p:nvSpPr>
          <p:cNvPr id="63503" name="Rectangle 70" descr="Light upward diagonal"/>
          <p:cNvSpPr>
            <a:spLocks noChangeArrowheads="1"/>
          </p:cNvSpPr>
          <p:nvPr/>
        </p:nvSpPr>
        <p:spPr bwMode="auto">
          <a:xfrm>
            <a:off x="7799388" y="3276600"/>
            <a:ext cx="1116012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sz="1400">
              <a:solidFill>
                <a:schemeClr val="accent2"/>
              </a:solidFill>
              <a:latin typeface="Tahoma" pitchFamily="34" charset="0"/>
            </a:endParaRPr>
          </a:p>
        </p:txBody>
      </p:sp>
      <p:sp>
        <p:nvSpPr>
          <p:cNvPr id="63504" name="Rectangle 71"/>
          <p:cNvSpPr>
            <a:spLocks noChangeArrowheads="1"/>
          </p:cNvSpPr>
          <p:nvPr/>
        </p:nvSpPr>
        <p:spPr bwMode="auto">
          <a:xfrm>
            <a:off x="6777038" y="3276600"/>
            <a:ext cx="102235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FFF4</a:t>
            </a:r>
          </a:p>
        </p:txBody>
      </p:sp>
      <p:sp>
        <p:nvSpPr>
          <p:cNvPr id="63505" name="Rectangle 72" descr="Light upward diagonal"/>
          <p:cNvSpPr>
            <a:spLocks noChangeArrowheads="1"/>
          </p:cNvSpPr>
          <p:nvPr/>
        </p:nvSpPr>
        <p:spPr bwMode="auto">
          <a:xfrm>
            <a:off x="7799388" y="3581400"/>
            <a:ext cx="1116012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sz="1400">
              <a:solidFill>
                <a:schemeClr val="accent2"/>
              </a:solidFill>
              <a:latin typeface="Tahoma" pitchFamily="34" charset="0"/>
            </a:endParaRPr>
          </a:p>
        </p:txBody>
      </p:sp>
      <p:sp>
        <p:nvSpPr>
          <p:cNvPr id="63506" name="Rectangle 73"/>
          <p:cNvSpPr>
            <a:spLocks noChangeArrowheads="1"/>
          </p:cNvSpPr>
          <p:nvPr/>
        </p:nvSpPr>
        <p:spPr bwMode="auto">
          <a:xfrm>
            <a:off x="6777038" y="3581400"/>
            <a:ext cx="102235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FFF5</a:t>
            </a:r>
          </a:p>
        </p:txBody>
      </p:sp>
      <p:sp>
        <p:nvSpPr>
          <p:cNvPr id="63507" name="Rectangle 74" descr="Light upward diagonal"/>
          <p:cNvSpPr>
            <a:spLocks noChangeArrowheads="1"/>
          </p:cNvSpPr>
          <p:nvPr/>
        </p:nvSpPr>
        <p:spPr bwMode="auto">
          <a:xfrm>
            <a:off x="7799388" y="3886200"/>
            <a:ext cx="1116012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sz="1400">
              <a:solidFill>
                <a:schemeClr val="accent2"/>
              </a:solidFill>
              <a:latin typeface="Tahoma" pitchFamily="34" charset="0"/>
            </a:endParaRPr>
          </a:p>
        </p:txBody>
      </p:sp>
      <p:sp>
        <p:nvSpPr>
          <p:cNvPr id="63508" name="Rectangle 75"/>
          <p:cNvSpPr>
            <a:spLocks noChangeArrowheads="1"/>
          </p:cNvSpPr>
          <p:nvPr/>
        </p:nvSpPr>
        <p:spPr bwMode="auto">
          <a:xfrm>
            <a:off x="6777038" y="3886200"/>
            <a:ext cx="102235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FFF6</a:t>
            </a:r>
          </a:p>
        </p:txBody>
      </p:sp>
      <p:sp>
        <p:nvSpPr>
          <p:cNvPr id="63509" name="Rectangle 76" descr="Light upward diagonal"/>
          <p:cNvSpPr>
            <a:spLocks noChangeArrowheads="1"/>
          </p:cNvSpPr>
          <p:nvPr/>
        </p:nvSpPr>
        <p:spPr bwMode="auto">
          <a:xfrm>
            <a:off x="7799388" y="4191000"/>
            <a:ext cx="1116012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sz="1400">
              <a:solidFill>
                <a:schemeClr val="accent2"/>
              </a:solidFill>
              <a:latin typeface="Tahoma" pitchFamily="34" charset="0"/>
            </a:endParaRPr>
          </a:p>
        </p:txBody>
      </p:sp>
      <p:sp>
        <p:nvSpPr>
          <p:cNvPr id="63510" name="Rectangle 77"/>
          <p:cNvSpPr>
            <a:spLocks noChangeArrowheads="1"/>
          </p:cNvSpPr>
          <p:nvPr/>
        </p:nvSpPr>
        <p:spPr bwMode="auto">
          <a:xfrm>
            <a:off x="6777038" y="4191000"/>
            <a:ext cx="102235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FFF7</a:t>
            </a:r>
          </a:p>
        </p:txBody>
      </p:sp>
      <p:sp>
        <p:nvSpPr>
          <p:cNvPr id="63511" name="Rectangle 78" descr="Light upward diagonal"/>
          <p:cNvSpPr>
            <a:spLocks noChangeArrowheads="1"/>
          </p:cNvSpPr>
          <p:nvPr/>
        </p:nvSpPr>
        <p:spPr bwMode="auto">
          <a:xfrm>
            <a:off x="7799388" y="4495800"/>
            <a:ext cx="1116012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sz="1400">
              <a:solidFill>
                <a:schemeClr val="accent2"/>
              </a:solidFill>
              <a:latin typeface="Tahoma" pitchFamily="34" charset="0"/>
            </a:endParaRPr>
          </a:p>
        </p:txBody>
      </p:sp>
      <p:sp>
        <p:nvSpPr>
          <p:cNvPr id="63512" name="Rectangle 79"/>
          <p:cNvSpPr>
            <a:spLocks noChangeArrowheads="1"/>
          </p:cNvSpPr>
          <p:nvPr/>
        </p:nvSpPr>
        <p:spPr bwMode="auto">
          <a:xfrm>
            <a:off x="6777038" y="4495800"/>
            <a:ext cx="102235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FFF8</a:t>
            </a:r>
          </a:p>
        </p:txBody>
      </p:sp>
      <p:sp>
        <p:nvSpPr>
          <p:cNvPr id="63513" name="Rectangle 80" descr="Light upward diagonal"/>
          <p:cNvSpPr>
            <a:spLocks noChangeArrowheads="1"/>
          </p:cNvSpPr>
          <p:nvPr/>
        </p:nvSpPr>
        <p:spPr bwMode="auto">
          <a:xfrm>
            <a:off x="7799388" y="4800600"/>
            <a:ext cx="1116012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sz="1400">
              <a:solidFill>
                <a:schemeClr val="accent2"/>
              </a:solidFill>
              <a:latin typeface="Tahoma" pitchFamily="34" charset="0"/>
            </a:endParaRPr>
          </a:p>
        </p:txBody>
      </p:sp>
      <p:sp>
        <p:nvSpPr>
          <p:cNvPr id="63514" name="Rectangle 81"/>
          <p:cNvSpPr>
            <a:spLocks noChangeArrowheads="1"/>
          </p:cNvSpPr>
          <p:nvPr/>
        </p:nvSpPr>
        <p:spPr bwMode="auto">
          <a:xfrm>
            <a:off x="6777038" y="4800600"/>
            <a:ext cx="102235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FFF9</a:t>
            </a:r>
          </a:p>
        </p:txBody>
      </p:sp>
      <p:sp>
        <p:nvSpPr>
          <p:cNvPr id="63515" name="Rectangle 82" descr="Light upward diagonal"/>
          <p:cNvSpPr>
            <a:spLocks noChangeArrowheads="1"/>
          </p:cNvSpPr>
          <p:nvPr/>
        </p:nvSpPr>
        <p:spPr bwMode="auto">
          <a:xfrm>
            <a:off x="7799388" y="5105400"/>
            <a:ext cx="1116012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sz="1400">
              <a:solidFill>
                <a:schemeClr val="accent2"/>
              </a:solidFill>
              <a:latin typeface="Tahoma" pitchFamily="34" charset="0"/>
            </a:endParaRPr>
          </a:p>
        </p:txBody>
      </p:sp>
      <p:sp>
        <p:nvSpPr>
          <p:cNvPr id="63516" name="Rectangle 83"/>
          <p:cNvSpPr>
            <a:spLocks noChangeArrowheads="1"/>
          </p:cNvSpPr>
          <p:nvPr/>
        </p:nvSpPr>
        <p:spPr bwMode="auto">
          <a:xfrm>
            <a:off x="6777038" y="5105400"/>
            <a:ext cx="102235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FFFA</a:t>
            </a:r>
          </a:p>
        </p:txBody>
      </p:sp>
      <p:sp>
        <p:nvSpPr>
          <p:cNvPr id="63517" name="Rectangle 84" descr="Light upward diagonal"/>
          <p:cNvSpPr>
            <a:spLocks noChangeArrowheads="1"/>
          </p:cNvSpPr>
          <p:nvPr/>
        </p:nvSpPr>
        <p:spPr bwMode="auto">
          <a:xfrm>
            <a:off x="7799388" y="5410200"/>
            <a:ext cx="1116012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sz="1400">
              <a:solidFill>
                <a:schemeClr val="accent2"/>
              </a:solidFill>
              <a:latin typeface="Tahoma" pitchFamily="34" charset="0"/>
            </a:endParaRPr>
          </a:p>
        </p:txBody>
      </p:sp>
      <p:sp>
        <p:nvSpPr>
          <p:cNvPr id="63518" name="Rectangle 85"/>
          <p:cNvSpPr>
            <a:spLocks noChangeArrowheads="1"/>
          </p:cNvSpPr>
          <p:nvPr/>
        </p:nvSpPr>
        <p:spPr bwMode="auto">
          <a:xfrm>
            <a:off x="6777038" y="5410200"/>
            <a:ext cx="102235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FFFB</a:t>
            </a:r>
          </a:p>
        </p:txBody>
      </p:sp>
      <p:sp>
        <p:nvSpPr>
          <p:cNvPr id="63519" name="Rectangle 86" descr="Light upward diagonal"/>
          <p:cNvSpPr>
            <a:spLocks noChangeArrowheads="1"/>
          </p:cNvSpPr>
          <p:nvPr/>
        </p:nvSpPr>
        <p:spPr bwMode="auto">
          <a:xfrm>
            <a:off x="7799388" y="5715000"/>
            <a:ext cx="1116012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sz="1400">
              <a:solidFill>
                <a:schemeClr val="accent2"/>
              </a:solidFill>
              <a:latin typeface="Tahoma" pitchFamily="34" charset="0"/>
            </a:endParaRPr>
          </a:p>
        </p:txBody>
      </p:sp>
      <p:sp>
        <p:nvSpPr>
          <p:cNvPr id="63520" name="Rectangle 87"/>
          <p:cNvSpPr>
            <a:spLocks noChangeArrowheads="1"/>
          </p:cNvSpPr>
          <p:nvPr/>
        </p:nvSpPr>
        <p:spPr bwMode="auto">
          <a:xfrm>
            <a:off x="6777038" y="5715000"/>
            <a:ext cx="102235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FFFC</a:t>
            </a:r>
          </a:p>
        </p:txBody>
      </p:sp>
      <p:sp>
        <p:nvSpPr>
          <p:cNvPr id="63521" name="Rectangle 88" descr="Light upward diagonal"/>
          <p:cNvSpPr>
            <a:spLocks noChangeArrowheads="1"/>
          </p:cNvSpPr>
          <p:nvPr/>
        </p:nvSpPr>
        <p:spPr bwMode="auto">
          <a:xfrm>
            <a:off x="7799388" y="6019800"/>
            <a:ext cx="1116012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sz="1400">
              <a:solidFill>
                <a:schemeClr val="accent2"/>
              </a:solidFill>
              <a:latin typeface="Tahoma" pitchFamily="34" charset="0"/>
            </a:endParaRPr>
          </a:p>
        </p:txBody>
      </p:sp>
      <p:sp>
        <p:nvSpPr>
          <p:cNvPr id="63522" name="Rectangle 89"/>
          <p:cNvSpPr>
            <a:spLocks noChangeArrowheads="1"/>
          </p:cNvSpPr>
          <p:nvPr/>
        </p:nvSpPr>
        <p:spPr bwMode="auto">
          <a:xfrm>
            <a:off x="6777038" y="6019800"/>
            <a:ext cx="102235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FFFD</a:t>
            </a:r>
          </a:p>
        </p:txBody>
      </p:sp>
      <p:sp>
        <p:nvSpPr>
          <p:cNvPr id="63523" name="Text Box 90"/>
          <p:cNvSpPr txBox="1">
            <a:spLocks noChangeArrowheads="1"/>
          </p:cNvSpPr>
          <p:nvPr/>
        </p:nvSpPr>
        <p:spPr bwMode="auto">
          <a:xfrm>
            <a:off x="6172200" y="1935163"/>
            <a:ext cx="685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rIns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i="1">
                <a:solidFill>
                  <a:schemeClr val="tx2"/>
                </a:solidFill>
                <a:latin typeface="Constantia" pitchFamily="18" charset="0"/>
              </a:rPr>
              <a:t>rp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34" name="Rectangle 26"/>
          <p:cNvSpPr>
            <a:spLocks noGrp="1" noChangeArrowheads="1"/>
          </p:cNvSpPr>
          <p:nvPr>
            <p:ph type="title"/>
          </p:nvPr>
        </p:nvSpPr>
        <p:spPr>
          <a:xfrm>
            <a:off x="1828800" y="323850"/>
            <a:ext cx="6781800" cy="112395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Pointers to objects (Cont..)</a:t>
            </a:r>
          </a:p>
        </p:txBody>
      </p:sp>
      <p:sp>
        <p:nvSpPr>
          <p:cNvPr id="39" name="Slide Number Placeholder 3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80248C-C2AE-4A12-ADF7-3AFEEE8F1B1F}" type="slidenum">
              <a:rPr lang="en-US"/>
              <a:pPr>
                <a:defRPr/>
              </a:pPr>
              <a:t>61</a:t>
            </a:fld>
            <a:endParaRPr lang="en-US"/>
          </a:p>
        </p:txBody>
      </p:sp>
      <p:sp>
        <p:nvSpPr>
          <p:cNvPr id="64517" name="Rectangle 2"/>
          <p:cNvSpPr>
            <a:spLocks noChangeArrowheads="1"/>
          </p:cNvSpPr>
          <p:nvPr/>
        </p:nvSpPr>
        <p:spPr bwMode="auto">
          <a:xfrm>
            <a:off x="1066800" y="1981200"/>
            <a:ext cx="44196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/>
            <a:r>
              <a:rPr lang="en-US" b="1">
                <a:solidFill>
                  <a:schemeClr val="tx2"/>
                </a:solidFill>
                <a:latin typeface="Courier New" pitchFamily="49" charset="0"/>
              </a:rPr>
              <a:t>Rational *rp = NULL;</a:t>
            </a:r>
          </a:p>
          <a:p>
            <a:pPr marL="342900" indent="-342900"/>
            <a:r>
              <a:rPr lang="en-US" b="1">
                <a:solidFill>
                  <a:schemeClr val="tx2"/>
                </a:solidFill>
                <a:latin typeface="Courier New" pitchFamily="49" charset="0"/>
              </a:rPr>
              <a:t>Rational r(3,4);</a:t>
            </a:r>
          </a:p>
          <a:p>
            <a:pPr marL="342900" indent="-342900"/>
            <a:r>
              <a:rPr lang="en-US" b="1">
                <a:solidFill>
                  <a:schemeClr val="tx2"/>
                </a:solidFill>
                <a:latin typeface="Courier New" pitchFamily="49" charset="0"/>
              </a:rPr>
              <a:t>rp = &amp;r;</a:t>
            </a:r>
          </a:p>
          <a:p>
            <a:pPr marL="342900" indent="-342900">
              <a:spcBef>
                <a:spcPct val="20000"/>
              </a:spcBef>
            </a:pPr>
            <a:endParaRPr lang="en-US" b="1">
              <a:solidFill>
                <a:schemeClr val="tx2"/>
              </a:solidFill>
              <a:latin typeface="Courier New" pitchFamily="49" charset="0"/>
            </a:endParaRPr>
          </a:p>
        </p:txBody>
      </p:sp>
      <p:sp>
        <p:nvSpPr>
          <p:cNvPr id="64518" name="AutoShape 3"/>
          <p:cNvSpPr>
            <a:spLocks noChangeArrowheads="1"/>
          </p:cNvSpPr>
          <p:nvPr/>
        </p:nvSpPr>
        <p:spPr bwMode="auto">
          <a:xfrm>
            <a:off x="381000" y="2438400"/>
            <a:ext cx="533400" cy="152400"/>
          </a:xfrm>
          <a:prstGeom prst="rightArrow">
            <a:avLst>
              <a:gd name="adj1" fmla="val 50000"/>
              <a:gd name="adj2" fmla="val 875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64519" name="Rectangle 5" descr="Light upward diagonal"/>
          <p:cNvSpPr>
            <a:spLocks noChangeArrowheads="1"/>
          </p:cNvSpPr>
          <p:nvPr/>
        </p:nvSpPr>
        <p:spPr bwMode="auto">
          <a:xfrm>
            <a:off x="7794625" y="2057400"/>
            <a:ext cx="1116013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000">
                <a:solidFill>
                  <a:schemeClr val="accent2"/>
                </a:solidFill>
                <a:latin typeface="Tahoma" pitchFamily="34" charset="0"/>
              </a:rPr>
              <a:t>0</a:t>
            </a:r>
            <a:endParaRPr lang="en-US" sz="1400">
              <a:solidFill>
                <a:schemeClr val="accent2"/>
              </a:solidFill>
              <a:latin typeface="Tahoma" pitchFamily="34" charset="0"/>
            </a:endParaRPr>
          </a:p>
        </p:txBody>
      </p:sp>
      <p:sp>
        <p:nvSpPr>
          <p:cNvPr id="64520" name="Rectangle 12"/>
          <p:cNvSpPr>
            <a:spLocks noChangeArrowheads="1"/>
          </p:cNvSpPr>
          <p:nvPr/>
        </p:nvSpPr>
        <p:spPr bwMode="auto">
          <a:xfrm>
            <a:off x="6772275" y="2057400"/>
            <a:ext cx="102235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FFF0</a:t>
            </a:r>
          </a:p>
        </p:txBody>
      </p:sp>
      <p:sp>
        <p:nvSpPr>
          <p:cNvPr id="64521" name="AutoShape 24"/>
          <p:cNvSpPr>
            <a:spLocks/>
          </p:cNvSpPr>
          <p:nvPr/>
        </p:nvSpPr>
        <p:spPr bwMode="auto">
          <a:xfrm>
            <a:off x="6391275" y="3352800"/>
            <a:ext cx="157163" cy="2362200"/>
          </a:xfrm>
          <a:prstGeom prst="leftBrace">
            <a:avLst>
              <a:gd name="adj1" fmla="val 125252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64522" name="Rectangle 25"/>
          <p:cNvSpPr>
            <a:spLocks noChangeArrowheads="1"/>
          </p:cNvSpPr>
          <p:nvPr/>
        </p:nvSpPr>
        <p:spPr bwMode="auto">
          <a:xfrm>
            <a:off x="4105275" y="4295775"/>
            <a:ext cx="1752600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i="1">
                <a:latin typeface="Tahoma" pitchFamily="34" charset="0"/>
              </a:rPr>
              <a:t>numerator</a:t>
            </a:r>
            <a:r>
              <a:rPr lang="en-US" sz="1600">
                <a:latin typeface="Tahoma" pitchFamily="34" charset="0"/>
              </a:rPr>
              <a:t> = 3</a:t>
            </a:r>
          </a:p>
          <a:p>
            <a:pPr algn="ctr"/>
            <a:r>
              <a:rPr lang="en-US" sz="1600" i="1">
                <a:latin typeface="Tahoma" pitchFamily="34" charset="0"/>
              </a:rPr>
              <a:t>denominator</a:t>
            </a:r>
            <a:r>
              <a:rPr lang="en-US" sz="1600">
                <a:latin typeface="Tahoma" pitchFamily="34" charset="0"/>
              </a:rPr>
              <a:t> = 4</a:t>
            </a:r>
          </a:p>
        </p:txBody>
      </p:sp>
      <p:sp>
        <p:nvSpPr>
          <p:cNvPr id="64523" name="Rectangle 47" descr="Light upward diagonal"/>
          <p:cNvSpPr>
            <a:spLocks noChangeArrowheads="1"/>
          </p:cNvSpPr>
          <p:nvPr/>
        </p:nvSpPr>
        <p:spPr bwMode="auto">
          <a:xfrm>
            <a:off x="7799388" y="2362200"/>
            <a:ext cx="1116012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sz="1400">
              <a:solidFill>
                <a:schemeClr val="accent2"/>
              </a:solidFill>
              <a:latin typeface="Tahoma" pitchFamily="34" charset="0"/>
            </a:endParaRPr>
          </a:p>
        </p:txBody>
      </p:sp>
      <p:sp>
        <p:nvSpPr>
          <p:cNvPr id="64524" name="Rectangle 48"/>
          <p:cNvSpPr>
            <a:spLocks noChangeArrowheads="1"/>
          </p:cNvSpPr>
          <p:nvPr/>
        </p:nvSpPr>
        <p:spPr bwMode="auto">
          <a:xfrm>
            <a:off x="6777038" y="2362200"/>
            <a:ext cx="102235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FFF1</a:t>
            </a:r>
          </a:p>
        </p:txBody>
      </p:sp>
      <p:sp>
        <p:nvSpPr>
          <p:cNvPr id="64525" name="Rectangle 49" descr="Light upward diagonal"/>
          <p:cNvSpPr>
            <a:spLocks noChangeArrowheads="1"/>
          </p:cNvSpPr>
          <p:nvPr/>
        </p:nvSpPr>
        <p:spPr bwMode="auto">
          <a:xfrm>
            <a:off x="7799388" y="2667000"/>
            <a:ext cx="1116012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sz="1400">
              <a:solidFill>
                <a:schemeClr val="accent2"/>
              </a:solidFill>
              <a:latin typeface="Tahoma" pitchFamily="34" charset="0"/>
            </a:endParaRPr>
          </a:p>
        </p:txBody>
      </p:sp>
      <p:sp>
        <p:nvSpPr>
          <p:cNvPr id="64526" name="Rectangle 50"/>
          <p:cNvSpPr>
            <a:spLocks noChangeArrowheads="1"/>
          </p:cNvSpPr>
          <p:nvPr/>
        </p:nvSpPr>
        <p:spPr bwMode="auto">
          <a:xfrm>
            <a:off x="6777038" y="2667000"/>
            <a:ext cx="102235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FFF2</a:t>
            </a:r>
          </a:p>
        </p:txBody>
      </p:sp>
      <p:sp>
        <p:nvSpPr>
          <p:cNvPr id="64527" name="Rectangle 51" descr="Light upward diagonal"/>
          <p:cNvSpPr>
            <a:spLocks noChangeArrowheads="1"/>
          </p:cNvSpPr>
          <p:nvPr/>
        </p:nvSpPr>
        <p:spPr bwMode="auto">
          <a:xfrm>
            <a:off x="7799388" y="2971800"/>
            <a:ext cx="1116012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sz="1400">
              <a:solidFill>
                <a:schemeClr val="accent2"/>
              </a:solidFill>
              <a:latin typeface="Tahoma" pitchFamily="34" charset="0"/>
            </a:endParaRPr>
          </a:p>
        </p:txBody>
      </p:sp>
      <p:sp>
        <p:nvSpPr>
          <p:cNvPr id="64528" name="Rectangle 52"/>
          <p:cNvSpPr>
            <a:spLocks noChangeArrowheads="1"/>
          </p:cNvSpPr>
          <p:nvPr/>
        </p:nvSpPr>
        <p:spPr bwMode="auto">
          <a:xfrm>
            <a:off x="6777038" y="2971800"/>
            <a:ext cx="102235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FFF3</a:t>
            </a:r>
          </a:p>
        </p:txBody>
      </p:sp>
      <p:sp>
        <p:nvSpPr>
          <p:cNvPr id="64529" name="Rectangle 53" descr="Light upward diagonal"/>
          <p:cNvSpPr>
            <a:spLocks noChangeArrowheads="1"/>
          </p:cNvSpPr>
          <p:nvPr/>
        </p:nvSpPr>
        <p:spPr bwMode="auto">
          <a:xfrm>
            <a:off x="7799388" y="3276600"/>
            <a:ext cx="1116012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000">
                <a:solidFill>
                  <a:schemeClr val="accent2"/>
                </a:solidFill>
                <a:latin typeface="Tahoma" pitchFamily="34" charset="0"/>
              </a:rPr>
              <a:t>3</a:t>
            </a:r>
            <a:endParaRPr lang="en-US" sz="1400">
              <a:solidFill>
                <a:schemeClr val="accent2"/>
              </a:solidFill>
              <a:latin typeface="Tahoma" pitchFamily="34" charset="0"/>
            </a:endParaRPr>
          </a:p>
        </p:txBody>
      </p:sp>
      <p:sp>
        <p:nvSpPr>
          <p:cNvPr id="64530" name="Rectangle 54"/>
          <p:cNvSpPr>
            <a:spLocks noChangeArrowheads="1"/>
          </p:cNvSpPr>
          <p:nvPr/>
        </p:nvSpPr>
        <p:spPr bwMode="auto">
          <a:xfrm>
            <a:off x="6777038" y="3276600"/>
            <a:ext cx="102235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FFF4</a:t>
            </a:r>
          </a:p>
        </p:txBody>
      </p:sp>
      <p:sp>
        <p:nvSpPr>
          <p:cNvPr id="64531" name="Rectangle 55" descr="Light upward diagonal"/>
          <p:cNvSpPr>
            <a:spLocks noChangeArrowheads="1"/>
          </p:cNvSpPr>
          <p:nvPr/>
        </p:nvSpPr>
        <p:spPr bwMode="auto">
          <a:xfrm>
            <a:off x="7799388" y="3581400"/>
            <a:ext cx="1116012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sz="1400">
              <a:solidFill>
                <a:schemeClr val="accent2"/>
              </a:solidFill>
              <a:latin typeface="Tahoma" pitchFamily="34" charset="0"/>
            </a:endParaRPr>
          </a:p>
        </p:txBody>
      </p:sp>
      <p:sp>
        <p:nvSpPr>
          <p:cNvPr id="64532" name="Rectangle 56"/>
          <p:cNvSpPr>
            <a:spLocks noChangeArrowheads="1"/>
          </p:cNvSpPr>
          <p:nvPr/>
        </p:nvSpPr>
        <p:spPr bwMode="auto">
          <a:xfrm>
            <a:off x="6777038" y="3581400"/>
            <a:ext cx="102235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FFF5</a:t>
            </a:r>
          </a:p>
        </p:txBody>
      </p:sp>
      <p:sp>
        <p:nvSpPr>
          <p:cNvPr id="64533" name="Rectangle 57" descr="Light upward diagonal"/>
          <p:cNvSpPr>
            <a:spLocks noChangeArrowheads="1"/>
          </p:cNvSpPr>
          <p:nvPr/>
        </p:nvSpPr>
        <p:spPr bwMode="auto">
          <a:xfrm>
            <a:off x="7799388" y="3886200"/>
            <a:ext cx="1116012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sz="1400">
              <a:solidFill>
                <a:schemeClr val="accent2"/>
              </a:solidFill>
              <a:latin typeface="Tahoma" pitchFamily="34" charset="0"/>
            </a:endParaRPr>
          </a:p>
        </p:txBody>
      </p:sp>
      <p:sp>
        <p:nvSpPr>
          <p:cNvPr id="64534" name="Rectangle 58"/>
          <p:cNvSpPr>
            <a:spLocks noChangeArrowheads="1"/>
          </p:cNvSpPr>
          <p:nvPr/>
        </p:nvSpPr>
        <p:spPr bwMode="auto">
          <a:xfrm>
            <a:off x="6777038" y="3886200"/>
            <a:ext cx="102235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FFF6</a:t>
            </a:r>
          </a:p>
        </p:txBody>
      </p:sp>
      <p:sp>
        <p:nvSpPr>
          <p:cNvPr id="64535" name="Rectangle 59" descr="Light upward diagonal"/>
          <p:cNvSpPr>
            <a:spLocks noChangeArrowheads="1"/>
          </p:cNvSpPr>
          <p:nvPr/>
        </p:nvSpPr>
        <p:spPr bwMode="auto">
          <a:xfrm>
            <a:off x="7799388" y="4191000"/>
            <a:ext cx="1116012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sz="1400">
              <a:solidFill>
                <a:schemeClr val="accent2"/>
              </a:solidFill>
              <a:latin typeface="Tahoma" pitchFamily="34" charset="0"/>
            </a:endParaRPr>
          </a:p>
        </p:txBody>
      </p:sp>
      <p:sp>
        <p:nvSpPr>
          <p:cNvPr id="64536" name="Rectangle 60"/>
          <p:cNvSpPr>
            <a:spLocks noChangeArrowheads="1"/>
          </p:cNvSpPr>
          <p:nvPr/>
        </p:nvSpPr>
        <p:spPr bwMode="auto">
          <a:xfrm>
            <a:off x="6777038" y="4191000"/>
            <a:ext cx="102235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FFF7</a:t>
            </a:r>
          </a:p>
        </p:txBody>
      </p:sp>
      <p:sp>
        <p:nvSpPr>
          <p:cNvPr id="64537" name="Rectangle 61" descr="Light upward diagonal"/>
          <p:cNvSpPr>
            <a:spLocks noChangeArrowheads="1"/>
          </p:cNvSpPr>
          <p:nvPr/>
        </p:nvSpPr>
        <p:spPr bwMode="auto">
          <a:xfrm>
            <a:off x="7799388" y="4495800"/>
            <a:ext cx="1116012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000">
                <a:solidFill>
                  <a:schemeClr val="accent2"/>
                </a:solidFill>
                <a:latin typeface="Tahoma" pitchFamily="34" charset="0"/>
              </a:rPr>
              <a:t>4</a:t>
            </a:r>
            <a:endParaRPr lang="en-US" sz="1400">
              <a:solidFill>
                <a:schemeClr val="accent2"/>
              </a:solidFill>
              <a:latin typeface="Tahoma" pitchFamily="34" charset="0"/>
            </a:endParaRPr>
          </a:p>
        </p:txBody>
      </p:sp>
      <p:sp>
        <p:nvSpPr>
          <p:cNvPr id="64538" name="Rectangle 62"/>
          <p:cNvSpPr>
            <a:spLocks noChangeArrowheads="1"/>
          </p:cNvSpPr>
          <p:nvPr/>
        </p:nvSpPr>
        <p:spPr bwMode="auto">
          <a:xfrm>
            <a:off x="6777038" y="4495800"/>
            <a:ext cx="102235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FFF8</a:t>
            </a:r>
          </a:p>
        </p:txBody>
      </p:sp>
      <p:sp>
        <p:nvSpPr>
          <p:cNvPr id="64539" name="Rectangle 63" descr="Light upward diagonal"/>
          <p:cNvSpPr>
            <a:spLocks noChangeArrowheads="1"/>
          </p:cNvSpPr>
          <p:nvPr/>
        </p:nvSpPr>
        <p:spPr bwMode="auto">
          <a:xfrm>
            <a:off x="7799388" y="4800600"/>
            <a:ext cx="1116012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sz="1400">
              <a:solidFill>
                <a:schemeClr val="accent2"/>
              </a:solidFill>
              <a:latin typeface="Tahoma" pitchFamily="34" charset="0"/>
            </a:endParaRPr>
          </a:p>
        </p:txBody>
      </p:sp>
      <p:sp>
        <p:nvSpPr>
          <p:cNvPr id="64540" name="Rectangle 64"/>
          <p:cNvSpPr>
            <a:spLocks noChangeArrowheads="1"/>
          </p:cNvSpPr>
          <p:nvPr/>
        </p:nvSpPr>
        <p:spPr bwMode="auto">
          <a:xfrm>
            <a:off x="6777038" y="4800600"/>
            <a:ext cx="102235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FFF9</a:t>
            </a:r>
          </a:p>
        </p:txBody>
      </p:sp>
      <p:sp>
        <p:nvSpPr>
          <p:cNvPr id="64541" name="Rectangle 65" descr="Light upward diagonal"/>
          <p:cNvSpPr>
            <a:spLocks noChangeArrowheads="1"/>
          </p:cNvSpPr>
          <p:nvPr/>
        </p:nvSpPr>
        <p:spPr bwMode="auto">
          <a:xfrm>
            <a:off x="7799388" y="5105400"/>
            <a:ext cx="1116012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sz="1400">
              <a:solidFill>
                <a:schemeClr val="accent2"/>
              </a:solidFill>
              <a:latin typeface="Tahoma" pitchFamily="34" charset="0"/>
            </a:endParaRPr>
          </a:p>
        </p:txBody>
      </p:sp>
      <p:sp>
        <p:nvSpPr>
          <p:cNvPr id="64542" name="Rectangle 66"/>
          <p:cNvSpPr>
            <a:spLocks noChangeArrowheads="1"/>
          </p:cNvSpPr>
          <p:nvPr/>
        </p:nvSpPr>
        <p:spPr bwMode="auto">
          <a:xfrm>
            <a:off x="6777038" y="5105400"/>
            <a:ext cx="102235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FFFA</a:t>
            </a:r>
          </a:p>
        </p:txBody>
      </p:sp>
      <p:sp>
        <p:nvSpPr>
          <p:cNvPr id="64543" name="Rectangle 67" descr="Light upward diagonal"/>
          <p:cNvSpPr>
            <a:spLocks noChangeArrowheads="1"/>
          </p:cNvSpPr>
          <p:nvPr/>
        </p:nvSpPr>
        <p:spPr bwMode="auto">
          <a:xfrm>
            <a:off x="7799388" y="5410200"/>
            <a:ext cx="1116012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sz="1400">
              <a:solidFill>
                <a:schemeClr val="accent2"/>
              </a:solidFill>
              <a:latin typeface="Tahoma" pitchFamily="34" charset="0"/>
            </a:endParaRPr>
          </a:p>
        </p:txBody>
      </p:sp>
      <p:sp>
        <p:nvSpPr>
          <p:cNvPr id="64544" name="Rectangle 68"/>
          <p:cNvSpPr>
            <a:spLocks noChangeArrowheads="1"/>
          </p:cNvSpPr>
          <p:nvPr/>
        </p:nvSpPr>
        <p:spPr bwMode="auto">
          <a:xfrm>
            <a:off x="6777038" y="5410200"/>
            <a:ext cx="102235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FFFB</a:t>
            </a:r>
          </a:p>
        </p:txBody>
      </p:sp>
      <p:sp>
        <p:nvSpPr>
          <p:cNvPr id="64545" name="Rectangle 69" descr="Light upward diagonal"/>
          <p:cNvSpPr>
            <a:spLocks noChangeArrowheads="1"/>
          </p:cNvSpPr>
          <p:nvPr/>
        </p:nvSpPr>
        <p:spPr bwMode="auto">
          <a:xfrm>
            <a:off x="7799388" y="5715000"/>
            <a:ext cx="1116012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sz="1400">
              <a:solidFill>
                <a:schemeClr val="accent2"/>
              </a:solidFill>
              <a:latin typeface="Tahoma" pitchFamily="34" charset="0"/>
            </a:endParaRPr>
          </a:p>
        </p:txBody>
      </p:sp>
      <p:sp>
        <p:nvSpPr>
          <p:cNvPr id="64546" name="Rectangle 70"/>
          <p:cNvSpPr>
            <a:spLocks noChangeArrowheads="1"/>
          </p:cNvSpPr>
          <p:nvPr/>
        </p:nvSpPr>
        <p:spPr bwMode="auto">
          <a:xfrm>
            <a:off x="6777038" y="5715000"/>
            <a:ext cx="102235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FFFC</a:t>
            </a:r>
          </a:p>
        </p:txBody>
      </p:sp>
      <p:sp>
        <p:nvSpPr>
          <p:cNvPr id="64547" name="Rectangle 71" descr="Light upward diagonal"/>
          <p:cNvSpPr>
            <a:spLocks noChangeArrowheads="1"/>
          </p:cNvSpPr>
          <p:nvPr/>
        </p:nvSpPr>
        <p:spPr bwMode="auto">
          <a:xfrm>
            <a:off x="7799388" y="6019800"/>
            <a:ext cx="1116012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sz="1400">
              <a:solidFill>
                <a:schemeClr val="accent2"/>
              </a:solidFill>
              <a:latin typeface="Tahoma" pitchFamily="34" charset="0"/>
            </a:endParaRPr>
          </a:p>
        </p:txBody>
      </p:sp>
      <p:sp>
        <p:nvSpPr>
          <p:cNvPr id="64548" name="Rectangle 72"/>
          <p:cNvSpPr>
            <a:spLocks noChangeArrowheads="1"/>
          </p:cNvSpPr>
          <p:nvPr/>
        </p:nvSpPr>
        <p:spPr bwMode="auto">
          <a:xfrm>
            <a:off x="6777038" y="6019800"/>
            <a:ext cx="102235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FFFD</a:t>
            </a:r>
          </a:p>
        </p:txBody>
      </p:sp>
      <p:sp>
        <p:nvSpPr>
          <p:cNvPr id="64549" name="Text Box 73"/>
          <p:cNvSpPr txBox="1">
            <a:spLocks noChangeArrowheads="1"/>
          </p:cNvSpPr>
          <p:nvPr/>
        </p:nvSpPr>
        <p:spPr bwMode="auto">
          <a:xfrm>
            <a:off x="6172200" y="1935163"/>
            <a:ext cx="685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rIns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i="1">
                <a:solidFill>
                  <a:schemeClr val="tx2"/>
                </a:solidFill>
                <a:latin typeface="Constantia" pitchFamily="18" charset="0"/>
              </a:rPr>
              <a:t>rp</a:t>
            </a:r>
          </a:p>
        </p:txBody>
      </p:sp>
      <p:sp>
        <p:nvSpPr>
          <p:cNvPr id="64550" name="Text Box 74"/>
          <p:cNvSpPr txBox="1">
            <a:spLocks noChangeArrowheads="1"/>
          </p:cNvSpPr>
          <p:nvPr/>
        </p:nvSpPr>
        <p:spPr bwMode="auto">
          <a:xfrm>
            <a:off x="6096000" y="4191000"/>
            <a:ext cx="304800" cy="5191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rIns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800" i="1">
                <a:solidFill>
                  <a:schemeClr val="tx2"/>
                </a:solidFill>
                <a:latin typeface="Constantia" pitchFamily="18" charset="0"/>
              </a:rPr>
              <a:t>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61" name="Rectangle 29"/>
          <p:cNvSpPr>
            <a:spLocks noGrp="1" noChangeArrowheads="1"/>
          </p:cNvSpPr>
          <p:nvPr>
            <p:ph type="title"/>
          </p:nvPr>
        </p:nvSpPr>
        <p:spPr>
          <a:xfrm>
            <a:off x="1828800" y="323850"/>
            <a:ext cx="6781800" cy="112395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Pointers to objects (Cont..)</a:t>
            </a:r>
          </a:p>
        </p:txBody>
      </p:sp>
      <p:sp>
        <p:nvSpPr>
          <p:cNvPr id="45" name="Slide Number Placeholder 4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6D0E94-E9B8-48C3-B21E-B8C419544E23}" type="slidenum">
              <a:rPr lang="en-US"/>
              <a:pPr>
                <a:defRPr/>
              </a:pPr>
              <a:t>62</a:t>
            </a:fld>
            <a:endParaRPr lang="en-US"/>
          </a:p>
        </p:txBody>
      </p:sp>
      <p:sp>
        <p:nvSpPr>
          <p:cNvPr id="65541" name="Rectangle 2"/>
          <p:cNvSpPr>
            <a:spLocks noChangeArrowheads="1"/>
          </p:cNvSpPr>
          <p:nvPr/>
        </p:nvSpPr>
        <p:spPr bwMode="auto">
          <a:xfrm>
            <a:off x="1066800" y="1981200"/>
            <a:ext cx="44958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/>
            <a:r>
              <a:rPr lang="en-US" b="1">
                <a:solidFill>
                  <a:schemeClr val="tx2"/>
                </a:solidFill>
                <a:latin typeface="Courier New" pitchFamily="49" charset="0"/>
              </a:rPr>
              <a:t>Rational *rp = NULL;</a:t>
            </a:r>
          </a:p>
          <a:p>
            <a:pPr marL="342900" indent="-342900"/>
            <a:r>
              <a:rPr lang="en-US" b="1">
                <a:solidFill>
                  <a:schemeClr val="tx2"/>
                </a:solidFill>
                <a:latin typeface="Courier New" pitchFamily="49" charset="0"/>
              </a:rPr>
              <a:t>Rational r(3,4);</a:t>
            </a:r>
          </a:p>
          <a:p>
            <a:pPr marL="342900" indent="-342900"/>
            <a:r>
              <a:rPr lang="en-US" b="1">
                <a:solidFill>
                  <a:schemeClr val="tx2"/>
                </a:solidFill>
                <a:latin typeface="Courier New" pitchFamily="49" charset="0"/>
              </a:rPr>
              <a:t>rp = &amp;r;</a:t>
            </a:r>
          </a:p>
          <a:p>
            <a:pPr marL="342900" indent="-342900">
              <a:spcBef>
                <a:spcPct val="20000"/>
              </a:spcBef>
            </a:pPr>
            <a:endParaRPr lang="en-US" b="1">
              <a:solidFill>
                <a:schemeClr val="tx2"/>
              </a:solidFill>
              <a:latin typeface="Courier New" pitchFamily="49" charset="0"/>
            </a:endParaRPr>
          </a:p>
        </p:txBody>
      </p:sp>
      <p:sp>
        <p:nvSpPr>
          <p:cNvPr id="65542" name="AutoShape 3"/>
          <p:cNvSpPr>
            <a:spLocks noChangeArrowheads="1"/>
          </p:cNvSpPr>
          <p:nvPr/>
        </p:nvSpPr>
        <p:spPr bwMode="auto">
          <a:xfrm>
            <a:off x="381000" y="2819400"/>
            <a:ext cx="533400" cy="152400"/>
          </a:xfrm>
          <a:prstGeom prst="rightArrow">
            <a:avLst>
              <a:gd name="adj1" fmla="val 50000"/>
              <a:gd name="adj2" fmla="val 875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65543" name="Rectangle 33" descr="Light upward diagonal"/>
          <p:cNvSpPr>
            <a:spLocks noChangeArrowheads="1"/>
          </p:cNvSpPr>
          <p:nvPr/>
        </p:nvSpPr>
        <p:spPr bwMode="auto">
          <a:xfrm>
            <a:off x="7794625" y="2057400"/>
            <a:ext cx="1116013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000">
                <a:solidFill>
                  <a:schemeClr val="accent2"/>
                </a:solidFill>
                <a:latin typeface="Tahoma" pitchFamily="34" charset="0"/>
              </a:rPr>
              <a:t>FFF4</a:t>
            </a:r>
            <a:endParaRPr lang="en-US" sz="1400">
              <a:solidFill>
                <a:schemeClr val="accent2"/>
              </a:solidFill>
              <a:latin typeface="Tahoma" pitchFamily="34" charset="0"/>
            </a:endParaRPr>
          </a:p>
        </p:txBody>
      </p:sp>
      <p:sp>
        <p:nvSpPr>
          <p:cNvPr id="65544" name="Rectangle 34"/>
          <p:cNvSpPr>
            <a:spLocks noChangeArrowheads="1"/>
          </p:cNvSpPr>
          <p:nvPr/>
        </p:nvSpPr>
        <p:spPr bwMode="auto">
          <a:xfrm>
            <a:off x="6772275" y="2057400"/>
            <a:ext cx="102235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FFF0</a:t>
            </a:r>
          </a:p>
        </p:txBody>
      </p:sp>
      <p:sp>
        <p:nvSpPr>
          <p:cNvPr id="65545" name="AutoShape 37"/>
          <p:cNvSpPr>
            <a:spLocks/>
          </p:cNvSpPr>
          <p:nvPr/>
        </p:nvSpPr>
        <p:spPr bwMode="auto">
          <a:xfrm>
            <a:off x="6391275" y="3352800"/>
            <a:ext cx="157163" cy="2362200"/>
          </a:xfrm>
          <a:prstGeom prst="leftBrace">
            <a:avLst>
              <a:gd name="adj1" fmla="val 125252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65546" name="Rectangle 38"/>
          <p:cNvSpPr>
            <a:spLocks noChangeArrowheads="1"/>
          </p:cNvSpPr>
          <p:nvPr/>
        </p:nvSpPr>
        <p:spPr bwMode="auto">
          <a:xfrm>
            <a:off x="4105275" y="4295775"/>
            <a:ext cx="1752600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i="1">
                <a:latin typeface="Tahoma" pitchFamily="34" charset="0"/>
              </a:rPr>
              <a:t>numerator</a:t>
            </a:r>
            <a:r>
              <a:rPr lang="en-US" sz="1600">
                <a:latin typeface="Tahoma" pitchFamily="34" charset="0"/>
              </a:rPr>
              <a:t> = 3</a:t>
            </a:r>
          </a:p>
          <a:p>
            <a:pPr algn="ctr"/>
            <a:r>
              <a:rPr lang="en-US" sz="1600" i="1">
                <a:latin typeface="Tahoma" pitchFamily="34" charset="0"/>
              </a:rPr>
              <a:t>denominator</a:t>
            </a:r>
            <a:r>
              <a:rPr lang="en-US" sz="1600">
                <a:latin typeface="Tahoma" pitchFamily="34" charset="0"/>
              </a:rPr>
              <a:t> = 4</a:t>
            </a:r>
          </a:p>
        </p:txBody>
      </p:sp>
      <p:sp>
        <p:nvSpPr>
          <p:cNvPr id="65547" name="Rectangle 39" descr="Light upward diagonal"/>
          <p:cNvSpPr>
            <a:spLocks noChangeArrowheads="1"/>
          </p:cNvSpPr>
          <p:nvPr/>
        </p:nvSpPr>
        <p:spPr bwMode="auto">
          <a:xfrm>
            <a:off x="7799388" y="2362200"/>
            <a:ext cx="1116012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sz="1400">
              <a:solidFill>
                <a:schemeClr val="accent2"/>
              </a:solidFill>
              <a:latin typeface="Tahoma" pitchFamily="34" charset="0"/>
            </a:endParaRPr>
          </a:p>
        </p:txBody>
      </p:sp>
      <p:sp>
        <p:nvSpPr>
          <p:cNvPr id="65548" name="Rectangle 40"/>
          <p:cNvSpPr>
            <a:spLocks noChangeArrowheads="1"/>
          </p:cNvSpPr>
          <p:nvPr/>
        </p:nvSpPr>
        <p:spPr bwMode="auto">
          <a:xfrm>
            <a:off x="6777038" y="2362200"/>
            <a:ext cx="102235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FFF1</a:t>
            </a:r>
          </a:p>
        </p:txBody>
      </p:sp>
      <p:sp>
        <p:nvSpPr>
          <p:cNvPr id="65549" name="Rectangle 41" descr="Light upward diagonal"/>
          <p:cNvSpPr>
            <a:spLocks noChangeArrowheads="1"/>
          </p:cNvSpPr>
          <p:nvPr/>
        </p:nvSpPr>
        <p:spPr bwMode="auto">
          <a:xfrm>
            <a:off x="7799388" y="2667000"/>
            <a:ext cx="1116012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sz="1400">
              <a:solidFill>
                <a:schemeClr val="accent2"/>
              </a:solidFill>
              <a:latin typeface="Tahoma" pitchFamily="34" charset="0"/>
            </a:endParaRPr>
          </a:p>
        </p:txBody>
      </p:sp>
      <p:sp>
        <p:nvSpPr>
          <p:cNvPr id="65550" name="Rectangle 42"/>
          <p:cNvSpPr>
            <a:spLocks noChangeArrowheads="1"/>
          </p:cNvSpPr>
          <p:nvPr/>
        </p:nvSpPr>
        <p:spPr bwMode="auto">
          <a:xfrm>
            <a:off x="6777038" y="2667000"/>
            <a:ext cx="102235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FFF2</a:t>
            </a:r>
          </a:p>
        </p:txBody>
      </p:sp>
      <p:sp>
        <p:nvSpPr>
          <p:cNvPr id="65551" name="Rectangle 43" descr="Light upward diagonal"/>
          <p:cNvSpPr>
            <a:spLocks noChangeArrowheads="1"/>
          </p:cNvSpPr>
          <p:nvPr/>
        </p:nvSpPr>
        <p:spPr bwMode="auto">
          <a:xfrm>
            <a:off x="7799388" y="2971800"/>
            <a:ext cx="1116012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sz="1400">
              <a:solidFill>
                <a:schemeClr val="accent2"/>
              </a:solidFill>
              <a:latin typeface="Tahoma" pitchFamily="34" charset="0"/>
            </a:endParaRPr>
          </a:p>
        </p:txBody>
      </p:sp>
      <p:sp>
        <p:nvSpPr>
          <p:cNvPr id="65552" name="Rectangle 44"/>
          <p:cNvSpPr>
            <a:spLocks noChangeArrowheads="1"/>
          </p:cNvSpPr>
          <p:nvPr/>
        </p:nvSpPr>
        <p:spPr bwMode="auto">
          <a:xfrm>
            <a:off x="6777038" y="2971800"/>
            <a:ext cx="102235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FFF3</a:t>
            </a:r>
          </a:p>
        </p:txBody>
      </p:sp>
      <p:sp>
        <p:nvSpPr>
          <p:cNvPr id="65553" name="Rectangle 45" descr="Light upward diagonal"/>
          <p:cNvSpPr>
            <a:spLocks noChangeArrowheads="1"/>
          </p:cNvSpPr>
          <p:nvPr/>
        </p:nvSpPr>
        <p:spPr bwMode="auto">
          <a:xfrm>
            <a:off x="7799388" y="3276600"/>
            <a:ext cx="1116012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000">
                <a:solidFill>
                  <a:schemeClr val="accent2"/>
                </a:solidFill>
                <a:latin typeface="Tahoma" pitchFamily="34" charset="0"/>
              </a:rPr>
              <a:t>3</a:t>
            </a:r>
            <a:endParaRPr lang="en-US" sz="1400">
              <a:solidFill>
                <a:schemeClr val="accent2"/>
              </a:solidFill>
              <a:latin typeface="Tahoma" pitchFamily="34" charset="0"/>
            </a:endParaRPr>
          </a:p>
        </p:txBody>
      </p:sp>
      <p:sp>
        <p:nvSpPr>
          <p:cNvPr id="65554" name="Rectangle 46"/>
          <p:cNvSpPr>
            <a:spLocks noChangeArrowheads="1"/>
          </p:cNvSpPr>
          <p:nvPr/>
        </p:nvSpPr>
        <p:spPr bwMode="auto">
          <a:xfrm>
            <a:off x="6777038" y="3276600"/>
            <a:ext cx="102235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FFF4</a:t>
            </a:r>
          </a:p>
        </p:txBody>
      </p:sp>
      <p:sp>
        <p:nvSpPr>
          <p:cNvPr id="65555" name="Rectangle 47" descr="Light upward diagonal"/>
          <p:cNvSpPr>
            <a:spLocks noChangeArrowheads="1"/>
          </p:cNvSpPr>
          <p:nvPr/>
        </p:nvSpPr>
        <p:spPr bwMode="auto">
          <a:xfrm>
            <a:off x="7799388" y="3581400"/>
            <a:ext cx="1116012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sz="1400">
              <a:solidFill>
                <a:schemeClr val="accent2"/>
              </a:solidFill>
              <a:latin typeface="Tahoma" pitchFamily="34" charset="0"/>
            </a:endParaRPr>
          </a:p>
        </p:txBody>
      </p:sp>
      <p:sp>
        <p:nvSpPr>
          <p:cNvPr id="65556" name="Rectangle 48"/>
          <p:cNvSpPr>
            <a:spLocks noChangeArrowheads="1"/>
          </p:cNvSpPr>
          <p:nvPr/>
        </p:nvSpPr>
        <p:spPr bwMode="auto">
          <a:xfrm>
            <a:off x="6777038" y="3581400"/>
            <a:ext cx="102235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FFF5</a:t>
            </a:r>
          </a:p>
        </p:txBody>
      </p:sp>
      <p:sp>
        <p:nvSpPr>
          <p:cNvPr id="65557" name="Rectangle 49" descr="Light upward diagonal"/>
          <p:cNvSpPr>
            <a:spLocks noChangeArrowheads="1"/>
          </p:cNvSpPr>
          <p:nvPr/>
        </p:nvSpPr>
        <p:spPr bwMode="auto">
          <a:xfrm>
            <a:off x="7799388" y="3886200"/>
            <a:ext cx="1116012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sz="1400">
              <a:solidFill>
                <a:schemeClr val="accent2"/>
              </a:solidFill>
              <a:latin typeface="Tahoma" pitchFamily="34" charset="0"/>
            </a:endParaRPr>
          </a:p>
        </p:txBody>
      </p:sp>
      <p:sp>
        <p:nvSpPr>
          <p:cNvPr id="65558" name="Rectangle 50"/>
          <p:cNvSpPr>
            <a:spLocks noChangeArrowheads="1"/>
          </p:cNvSpPr>
          <p:nvPr/>
        </p:nvSpPr>
        <p:spPr bwMode="auto">
          <a:xfrm>
            <a:off x="6777038" y="3886200"/>
            <a:ext cx="102235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FFF6</a:t>
            </a:r>
          </a:p>
        </p:txBody>
      </p:sp>
      <p:sp>
        <p:nvSpPr>
          <p:cNvPr id="65559" name="Rectangle 51" descr="Light upward diagonal"/>
          <p:cNvSpPr>
            <a:spLocks noChangeArrowheads="1"/>
          </p:cNvSpPr>
          <p:nvPr/>
        </p:nvSpPr>
        <p:spPr bwMode="auto">
          <a:xfrm>
            <a:off x="7799388" y="4191000"/>
            <a:ext cx="1116012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sz="1400">
              <a:solidFill>
                <a:schemeClr val="accent2"/>
              </a:solidFill>
              <a:latin typeface="Tahoma" pitchFamily="34" charset="0"/>
            </a:endParaRPr>
          </a:p>
        </p:txBody>
      </p:sp>
      <p:sp>
        <p:nvSpPr>
          <p:cNvPr id="65560" name="Rectangle 52"/>
          <p:cNvSpPr>
            <a:spLocks noChangeArrowheads="1"/>
          </p:cNvSpPr>
          <p:nvPr/>
        </p:nvSpPr>
        <p:spPr bwMode="auto">
          <a:xfrm>
            <a:off x="6777038" y="4191000"/>
            <a:ext cx="102235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FFF7</a:t>
            </a:r>
          </a:p>
        </p:txBody>
      </p:sp>
      <p:sp>
        <p:nvSpPr>
          <p:cNvPr id="65561" name="Rectangle 53" descr="Light upward diagonal"/>
          <p:cNvSpPr>
            <a:spLocks noChangeArrowheads="1"/>
          </p:cNvSpPr>
          <p:nvPr/>
        </p:nvSpPr>
        <p:spPr bwMode="auto">
          <a:xfrm>
            <a:off x="7799388" y="4495800"/>
            <a:ext cx="1116012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000">
                <a:solidFill>
                  <a:schemeClr val="accent2"/>
                </a:solidFill>
                <a:latin typeface="Tahoma" pitchFamily="34" charset="0"/>
              </a:rPr>
              <a:t>4</a:t>
            </a:r>
            <a:endParaRPr lang="en-US" sz="1400">
              <a:solidFill>
                <a:schemeClr val="accent2"/>
              </a:solidFill>
              <a:latin typeface="Tahoma" pitchFamily="34" charset="0"/>
            </a:endParaRPr>
          </a:p>
        </p:txBody>
      </p:sp>
      <p:sp>
        <p:nvSpPr>
          <p:cNvPr id="65562" name="Rectangle 54"/>
          <p:cNvSpPr>
            <a:spLocks noChangeArrowheads="1"/>
          </p:cNvSpPr>
          <p:nvPr/>
        </p:nvSpPr>
        <p:spPr bwMode="auto">
          <a:xfrm>
            <a:off x="6777038" y="4495800"/>
            <a:ext cx="102235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FFF8</a:t>
            </a:r>
          </a:p>
        </p:txBody>
      </p:sp>
      <p:sp>
        <p:nvSpPr>
          <p:cNvPr id="65563" name="Rectangle 55" descr="Light upward diagonal"/>
          <p:cNvSpPr>
            <a:spLocks noChangeArrowheads="1"/>
          </p:cNvSpPr>
          <p:nvPr/>
        </p:nvSpPr>
        <p:spPr bwMode="auto">
          <a:xfrm>
            <a:off x="7799388" y="4800600"/>
            <a:ext cx="1116012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sz="1400">
              <a:solidFill>
                <a:schemeClr val="accent2"/>
              </a:solidFill>
              <a:latin typeface="Tahoma" pitchFamily="34" charset="0"/>
            </a:endParaRPr>
          </a:p>
        </p:txBody>
      </p:sp>
      <p:sp>
        <p:nvSpPr>
          <p:cNvPr id="65564" name="Rectangle 56"/>
          <p:cNvSpPr>
            <a:spLocks noChangeArrowheads="1"/>
          </p:cNvSpPr>
          <p:nvPr/>
        </p:nvSpPr>
        <p:spPr bwMode="auto">
          <a:xfrm>
            <a:off x="6777038" y="4800600"/>
            <a:ext cx="102235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FFF9</a:t>
            </a:r>
          </a:p>
        </p:txBody>
      </p:sp>
      <p:sp>
        <p:nvSpPr>
          <p:cNvPr id="65565" name="Rectangle 57" descr="Light upward diagonal"/>
          <p:cNvSpPr>
            <a:spLocks noChangeArrowheads="1"/>
          </p:cNvSpPr>
          <p:nvPr/>
        </p:nvSpPr>
        <p:spPr bwMode="auto">
          <a:xfrm>
            <a:off x="7799388" y="5105400"/>
            <a:ext cx="1116012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sz="1400">
              <a:solidFill>
                <a:schemeClr val="accent2"/>
              </a:solidFill>
              <a:latin typeface="Tahoma" pitchFamily="34" charset="0"/>
            </a:endParaRPr>
          </a:p>
        </p:txBody>
      </p:sp>
      <p:sp>
        <p:nvSpPr>
          <p:cNvPr id="65566" name="Rectangle 58"/>
          <p:cNvSpPr>
            <a:spLocks noChangeArrowheads="1"/>
          </p:cNvSpPr>
          <p:nvPr/>
        </p:nvSpPr>
        <p:spPr bwMode="auto">
          <a:xfrm>
            <a:off x="6777038" y="5105400"/>
            <a:ext cx="102235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FFFA</a:t>
            </a:r>
          </a:p>
        </p:txBody>
      </p:sp>
      <p:sp>
        <p:nvSpPr>
          <p:cNvPr id="65567" name="Rectangle 59" descr="Light upward diagonal"/>
          <p:cNvSpPr>
            <a:spLocks noChangeArrowheads="1"/>
          </p:cNvSpPr>
          <p:nvPr/>
        </p:nvSpPr>
        <p:spPr bwMode="auto">
          <a:xfrm>
            <a:off x="7799388" y="5410200"/>
            <a:ext cx="1116012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sz="1400">
              <a:solidFill>
                <a:schemeClr val="accent2"/>
              </a:solidFill>
              <a:latin typeface="Tahoma" pitchFamily="34" charset="0"/>
            </a:endParaRPr>
          </a:p>
        </p:txBody>
      </p:sp>
      <p:sp>
        <p:nvSpPr>
          <p:cNvPr id="65568" name="Rectangle 60"/>
          <p:cNvSpPr>
            <a:spLocks noChangeArrowheads="1"/>
          </p:cNvSpPr>
          <p:nvPr/>
        </p:nvSpPr>
        <p:spPr bwMode="auto">
          <a:xfrm>
            <a:off x="6777038" y="5410200"/>
            <a:ext cx="102235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FFFB</a:t>
            </a:r>
          </a:p>
        </p:txBody>
      </p:sp>
      <p:sp>
        <p:nvSpPr>
          <p:cNvPr id="65569" name="Rectangle 61" descr="Light upward diagonal"/>
          <p:cNvSpPr>
            <a:spLocks noChangeArrowheads="1"/>
          </p:cNvSpPr>
          <p:nvPr/>
        </p:nvSpPr>
        <p:spPr bwMode="auto">
          <a:xfrm>
            <a:off x="7799388" y="5715000"/>
            <a:ext cx="1116012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sz="1400">
              <a:solidFill>
                <a:schemeClr val="accent2"/>
              </a:solidFill>
              <a:latin typeface="Tahoma" pitchFamily="34" charset="0"/>
            </a:endParaRPr>
          </a:p>
        </p:txBody>
      </p:sp>
      <p:sp>
        <p:nvSpPr>
          <p:cNvPr id="65570" name="Rectangle 62"/>
          <p:cNvSpPr>
            <a:spLocks noChangeArrowheads="1"/>
          </p:cNvSpPr>
          <p:nvPr/>
        </p:nvSpPr>
        <p:spPr bwMode="auto">
          <a:xfrm>
            <a:off x="6777038" y="5715000"/>
            <a:ext cx="102235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FFFC</a:t>
            </a:r>
          </a:p>
        </p:txBody>
      </p:sp>
      <p:sp>
        <p:nvSpPr>
          <p:cNvPr id="65571" name="Rectangle 63" descr="Light upward diagonal"/>
          <p:cNvSpPr>
            <a:spLocks noChangeArrowheads="1"/>
          </p:cNvSpPr>
          <p:nvPr/>
        </p:nvSpPr>
        <p:spPr bwMode="auto">
          <a:xfrm>
            <a:off x="7799388" y="6019800"/>
            <a:ext cx="1116012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sz="1400">
              <a:solidFill>
                <a:schemeClr val="accent2"/>
              </a:solidFill>
              <a:latin typeface="Tahoma" pitchFamily="34" charset="0"/>
            </a:endParaRPr>
          </a:p>
        </p:txBody>
      </p:sp>
      <p:sp>
        <p:nvSpPr>
          <p:cNvPr id="65572" name="Rectangle 64"/>
          <p:cNvSpPr>
            <a:spLocks noChangeArrowheads="1"/>
          </p:cNvSpPr>
          <p:nvPr/>
        </p:nvSpPr>
        <p:spPr bwMode="auto">
          <a:xfrm>
            <a:off x="6777038" y="6019800"/>
            <a:ext cx="102235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latin typeface="Courier New" pitchFamily="49" charset="0"/>
              </a:rPr>
              <a:t>FFFD</a:t>
            </a:r>
          </a:p>
        </p:txBody>
      </p:sp>
      <p:grpSp>
        <p:nvGrpSpPr>
          <p:cNvPr id="65573" name="Group 72"/>
          <p:cNvGrpSpPr>
            <a:grpSpLocks/>
          </p:cNvGrpSpPr>
          <p:nvPr/>
        </p:nvGrpSpPr>
        <p:grpSpPr bwMode="auto">
          <a:xfrm>
            <a:off x="5715000" y="1905000"/>
            <a:ext cx="3352800" cy="1524000"/>
            <a:chOff x="3600" y="1200"/>
            <a:chExt cx="2112" cy="960"/>
          </a:xfrm>
        </p:grpSpPr>
        <p:sp>
          <p:nvSpPr>
            <p:cNvPr id="65576" name="Line 66"/>
            <p:cNvSpPr>
              <a:spLocks noChangeShapeType="1"/>
            </p:cNvSpPr>
            <p:nvPr/>
          </p:nvSpPr>
          <p:spPr bwMode="auto">
            <a:xfrm flipH="1">
              <a:off x="5520" y="1402"/>
              <a:ext cx="1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577" name="Line 67"/>
            <p:cNvSpPr>
              <a:spLocks noChangeShapeType="1"/>
            </p:cNvSpPr>
            <p:nvPr/>
          </p:nvSpPr>
          <p:spPr bwMode="auto">
            <a:xfrm flipH="1" flipV="1">
              <a:off x="5712" y="1200"/>
              <a:ext cx="0" cy="20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578" name="Line 68"/>
            <p:cNvSpPr>
              <a:spLocks noChangeShapeType="1"/>
            </p:cNvSpPr>
            <p:nvPr/>
          </p:nvSpPr>
          <p:spPr bwMode="auto">
            <a:xfrm>
              <a:off x="3600" y="1200"/>
              <a:ext cx="21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579" name="Line 69"/>
            <p:cNvSpPr>
              <a:spLocks noChangeShapeType="1"/>
            </p:cNvSpPr>
            <p:nvPr/>
          </p:nvSpPr>
          <p:spPr bwMode="auto">
            <a:xfrm flipH="1">
              <a:off x="3600" y="1200"/>
              <a:ext cx="0" cy="9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580" name="Line 70"/>
            <p:cNvSpPr>
              <a:spLocks noChangeShapeType="1"/>
            </p:cNvSpPr>
            <p:nvPr/>
          </p:nvSpPr>
          <p:spPr bwMode="auto">
            <a:xfrm flipV="1">
              <a:off x="3600" y="2160"/>
              <a:ext cx="4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5574" name="Text Box 75"/>
          <p:cNvSpPr txBox="1">
            <a:spLocks noChangeArrowheads="1"/>
          </p:cNvSpPr>
          <p:nvPr/>
        </p:nvSpPr>
        <p:spPr bwMode="auto">
          <a:xfrm>
            <a:off x="6096000" y="4191000"/>
            <a:ext cx="304800" cy="5191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rIns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800" i="1">
                <a:solidFill>
                  <a:schemeClr val="tx2"/>
                </a:solidFill>
                <a:latin typeface="Constantia" pitchFamily="18" charset="0"/>
              </a:rPr>
              <a:t>r</a:t>
            </a:r>
          </a:p>
        </p:txBody>
      </p:sp>
      <p:sp>
        <p:nvSpPr>
          <p:cNvPr id="65575" name="Text Box 76"/>
          <p:cNvSpPr txBox="1">
            <a:spLocks noChangeArrowheads="1"/>
          </p:cNvSpPr>
          <p:nvPr/>
        </p:nvSpPr>
        <p:spPr bwMode="auto">
          <a:xfrm>
            <a:off x="6172200" y="1935163"/>
            <a:ext cx="685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rIns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i="1">
                <a:solidFill>
                  <a:schemeClr val="tx2"/>
                </a:solidFill>
                <a:latin typeface="Constantia" pitchFamily="18" charset="0"/>
              </a:rPr>
              <a:t>rp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9" name="Rectangle 3"/>
          <p:cNvSpPr>
            <a:spLocks noGrp="1" noChangeArrowheads="1"/>
          </p:cNvSpPr>
          <p:nvPr>
            <p:ph type="title"/>
          </p:nvPr>
        </p:nvSpPr>
        <p:spPr>
          <a:xfrm>
            <a:off x="1828800" y="323850"/>
            <a:ext cx="6781800" cy="112395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Pointers to objects (Cont..)</a:t>
            </a:r>
          </a:p>
        </p:txBody>
      </p:sp>
      <p:sp>
        <p:nvSpPr>
          <p:cNvPr id="147458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If </a:t>
            </a:r>
            <a:r>
              <a:rPr lang="en-US" b="1" smtClean="0">
                <a:solidFill>
                  <a:schemeClr val="tx2"/>
                </a:solidFill>
                <a:latin typeface="Courier New" pitchFamily="49" charset="0"/>
              </a:rPr>
              <a:t>rp</a:t>
            </a:r>
            <a:r>
              <a:rPr lang="en-US" smtClean="0"/>
              <a:t> is a pointer to an object, then two notations can be used to reference the instance/object </a:t>
            </a:r>
            <a:r>
              <a:rPr lang="en-US" b="1" smtClean="0">
                <a:solidFill>
                  <a:schemeClr val="tx2"/>
                </a:solidFill>
                <a:latin typeface="Courier New" pitchFamily="49" charset="0"/>
              </a:rPr>
              <a:t>rp</a:t>
            </a:r>
            <a:r>
              <a:rPr lang="en-US" smtClean="0"/>
              <a:t> points to.</a:t>
            </a:r>
          </a:p>
          <a:p>
            <a:pPr eaLnBrk="1" hangingPunct="1"/>
            <a:r>
              <a:rPr lang="en-US" smtClean="0"/>
              <a:t>Using the </a:t>
            </a:r>
            <a:r>
              <a:rPr lang="en-US" i="1" smtClean="0"/>
              <a:t>de-referencing</a:t>
            </a:r>
            <a:r>
              <a:rPr lang="en-US" smtClean="0"/>
              <a:t> operator </a:t>
            </a:r>
            <a:r>
              <a:rPr lang="en-US" b="1" smtClean="0">
                <a:solidFill>
                  <a:schemeClr val="tx2"/>
                </a:solidFill>
                <a:latin typeface="Courier New" pitchFamily="49" charset="0"/>
              </a:rPr>
              <a:t>*</a:t>
            </a:r>
          </a:p>
          <a:p>
            <a:pPr lvl="1" eaLnBrk="1" hangingPunct="1">
              <a:buFontTx/>
              <a:buNone/>
            </a:pPr>
            <a:r>
              <a:rPr lang="en-US" b="1" smtClean="0">
                <a:solidFill>
                  <a:schemeClr val="tx2"/>
                </a:solidFill>
                <a:latin typeface="Courier New" pitchFamily="49" charset="0"/>
              </a:rPr>
              <a:t>    (*rp).Display();</a:t>
            </a:r>
          </a:p>
          <a:p>
            <a:pPr eaLnBrk="1" hangingPunct="1"/>
            <a:r>
              <a:rPr lang="en-US" smtClean="0"/>
              <a:t>Using the </a:t>
            </a:r>
            <a:r>
              <a:rPr lang="en-US" i="1" smtClean="0"/>
              <a:t>member access</a:t>
            </a:r>
            <a:r>
              <a:rPr lang="en-US" smtClean="0"/>
              <a:t> operator </a:t>
            </a:r>
            <a:r>
              <a:rPr lang="en-US" b="1" smtClean="0">
                <a:solidFill>
                  <a:schemeClr val="tx2"/>
                </a:solidFill>
                <a:latin typeface="Courier New" pitchFamily="49" charset="0"/>
              </a:rPr>
              <a:t>-&gt;</a:t>
            </a:r>
          </a:p>
          <a:p>
            <a:pPr lvl="1" eaLnBrk="1" hangingPunct="1">
              <a:buFontTx/>
              <a:buNone/>
            </a:pPr>
            <a:r>
              <a:rPr lang="en-US" b="1" smtClean="0">
                <a:solidFill>
                  <a:schemeClr val="tx2"/>
                </a:solidFill>
                <a:latin typeface="Courier New" pitchFamily="49" charset="0"/>
              </a:rPr>
              <a:t>    rp -&gt; Display();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5A3BE0-8EDE-4AFB-81AB-B888DBC126A6}" type="slidenum">
              <a:rPr lang="en-US"/>
              <a:pPr>
                <a:defRPr/>
              </a:pPr>
              <a:t>63</a:t>
            </a:fld>
            <a:endParaRPr lang="en-US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7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7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74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74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74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74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74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74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74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74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458" grpId="0" build="p" bldLvl="2" autoUpdateAnimBg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mtClean="0"/>
              <a:t>Dynamic Allocation of a Class Object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800" smtClean="0"/>
              <a:t>Consider the Rational class defined before</a:t>
            </a:r>
          </a:p>
          <a:p>
            <a:pPr eaLnBrk="1" hangingPunct="1">
              <a:lnSpc>
                <a:spcPct val="80000"/>
              </a:lnSpc>
            </a:pPr>
            <a:endParaRPr lang="en-US" sz="2800" smtClean="0">
              <a:solidFill>
                <a:schemeClr val="tx2"/>
              </a:solidFill>
            </a:endParaRP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b="1" smtClean="0">
                <a:solidFill>
                  <a:schemeClr val="tx2"/>
                </a:solidFill>
                <a:latin typeface="Courier New" pitchFamily="49" charset="0"/>
              </a:rPr>
              <a:t>Rational *rp;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b="1" smtClean="0">
                <a:solidFill>
                  <a:schemeClr val="tx2"/>
                </a:solidFill>
                <a:latin typeface="Courier New" pitchFamily="49" charset="0"/>
              </a:rPr>
              <a:t>int a, b;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b="1" smtClean="0">
                <a:solidFill>
                  <a:schemeClr val="tx2"/>
                </a:solidFill>
                <a:latin typeface="Courier New" pitchFamily="49" charset="0"/>
              </a:rPr>
              <a:t>cin &gt;&gt; a &gt;&gt; b;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b="1" smtClean="0">
                <a:solidFill>
                  <a:schemeClr val="tx2"/>
                </a:solidFill>
                <a:latin typeface="Courier New" pitchFamily="49" charset="0"/>
              </a:rPr>
              <a:t>rp = new Rational(a,b);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b="1" smtClean="0">
                <a:solidFill>
                  <a:schemeClr val="tx2"/>
                </a:solidFill>
                <a:latin typeface="Courier New" pitchFamily="49" charset="0"/>
              </a:rPr>
              <a:t>(*rp).Display(); // rp-&gt;Display();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b="1" smtClean="0">
                <a:solidFill>
                  <a:schemeClr val="tx2"/>
                </a:solidFill>
                <a:latin typeface="Courier New" pitchFamily="49" charset="0"/>
              </a:rPr>
              <a:t>delete rp;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b="1" smtClean="0">
                <a:solidFill>
                  <a:schemeClr val="tx2"/>
                </a:solidFill>
                <a:latin typeface="Courier New" pitchFamily="49" charset="0"/>
              </a:rPr>
              <a:t>rp = NULL;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B5523F8-9173-43D5-AB76-2418E146D40E}" type="slidenum">
              <a:rPr lang="en-US"/>
              <a:pPr>
                <a:defRPr/>
              </a:pPr>
              <a:t>64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2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107</TotalTime>
  <Words>3503</Words>
  <Application>Microsoft Office PowerPoint</Application>
  <PresentationFormat>On-screen Show (4:3)</PresentationFormat>
  <Paragraphs>811</Paragraphs>
  <Slides>64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73" baseType="lpstr">
      <vt:lpstr>Arial</vt:lpstr>
      <vt:lpstr>Book Antiqua</vt:lpstr>
      <vt:lpstr>Calibri</vt:lpstr>
      <vt:lpstr>Constantia</vt:lpstr>
      <vt:lpstr>Courier New</vt:lpstr>
      <vt:lpstr>Tahoma</vt:lpstr>
      <vt:lpstr>Times New Roman</vt:lpstr>
      <vt:lpstr>Wingdings 2</vt:lpstr>
      <vt:lpstr>Flow</vt:lpstr>
      <vt:lpstr>Pointers and Dynamic Memory Allocation</vt:lpstr>
      <vt:lpstr>Pointers</vt:lpstr>
      <vt:lpstr>Addresses and Pointers</vt:lpstr>
      <vt:lpstr>Example</vt:lpstr>
      <vt:lpstr>Pointer Variables</vt:lpstr>
      <vt:lpstr>Declaration of Pointer Variables</vt:lpstr>
      <vt:lpstr>Declaration of Pointer Variables (Cont ..)</vt:lpstr>
      <vt:lpstr>Declaration of Pointer Variables (Cont ..)</vt:lpstr>
      <vt:lpstr>Assignment of Pointer Variables</vt:lpstr>
      <vt:lpstr>Assignment of Pointer Variables (Cont ..)</vt:lpstr>
      <vt:lpstr>Assignment of Pointer Variables (Cont ..)</vt:lpstr>
      <vt:lpstr>Assignment of Pointer Variables (Cont ..)</vt:lpstr>
      <vt:lpstr>Assignment of Pointer Variables (Cont ..)</vt:lpstr>
      <vt:lpstr>Initializing pointers</vt:lpstr>
      <vt:lpstr>The NULL pointer</vt:lpstr>
      <vt:lpstr>Dereferencing</vt:lpstr>
      <vt:lpstr>Dereferencing (Cont ..)</vt:lpstr>
      <vt:lpstr>Dereferencing (Cont ..)</vt:lpstr>
      <vt:lpstr>Dereferencing Example</vt:lpstr>
      <vt:lpstr>Dereferencing Example (Cont ..)</vt:lpstr>
      <vt:lpstr>Dereferencing Example (Cont ..)</vt:lpstr>
      <vt:lpstr>Dereferencing Example (Cont ..)</vt:lpstr>
      <vt:lpstr>Dereferencing Example (Cont ..)</vt:lpstr>
      <vt:lpstr>Operations on Pointer Variables</vt:lpstr>
      <vt:lpstr>Pointers to arrays</vt:lpstr>
      <vt:lpstr>PowerPoint Presentation</vt:lpstr>
      <vt:lpstr>Types of Program Data</vt:lpstr>
      <vt:lpstr>Allocation of Memory</vt:lpstr>
      <vt:lpstr>Dynamic memory allocation</vt:lpstr>
      <vt:lpstr>Dynamic memory allocation</vt:lpstr>
      <vt:lpstr>The new operator</vt:lpstr>
      <vt:lpstr>The delete operator</vt:lpstr>
      <vt:lpstr>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Dynamic allocation and deallocation of arrays</vt:lpstr>
      <vt:lpstr>Example of dynamic array allocation</vt:lpstr>
      <vt:lpstr>Dynamic allocation of 2D arrays</vt:lpstr>
      <vt:lpstr>Dynamic allocation of 2D arrays (Cont ..)</vt:lpstr>
      <vt:lpstr>Dynamic allocation of 2D arrays (Cont ..)</vt:lpstr>
      <vt:lpstr>Example</vt:lpstr>
      <vt:lpstr>Void pointer</vt:lpstr>
      <vt:lpstr>Constant pointers</vt:lpstr>
      <vt:lpstr>PowerPoint Presentation</vt:lpstr>
      <vt:lpstr>Pointers as arguments to functions</vt:lpstr>
      <vt:lpstr>Example of pointer arguments</vt:lpstr>
      <vt:lpstr>Example of reference arguments</vt:lpstr>
      <vt:lpstr>More example</vt:lpstr>
      <vt:lpstr>PowerPoint Presentation</vt:lpstr>
      <vt:lpstr>Memory leaks</vt:lpstr>
      <vt:lpstr>Memory leak example</vt:lpstr>
      <vt:lpstr>Inaccessible object</vt:lpstr>
      <vt:lpstr>Dangling Pointer</vt:lpstr>
      <vt:lpstr>PowerPoint Presentation</vt:lpstr>
      <vt:lpstr>PowerPoint Presentation</vt:lpstr>
      <vt:lpstr>Pointers to objects</vt:lpstr>
      <vt:lpstr>Pointers to objects (Cont..)</vt:lpstr>
      <vt:lpstr>Pointers to objects (Cont..)</vt:lpstr>
      <vt:lpstr>Pointers to objects (Cont..)</vt:lpstr>
      <vt:lpstr>Pointers to objects (Cont..)</vt:lpstr>
      <vt:lpstr>Dynamic Allocation of a Class Object</vt:lpstr>
    </vt:vector>
  </TitlesOfParts>
  <Company>TTU Dept of Computer Science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Pointers and Dynamic Memory Allocation</dc:title>
  <dc:creator>sghafoor</dc:creator>
  <cp:lastModifiedBy>ashutosh gupta</cp:lastModifiedBy>
  <cp:revision>15</cp:revision>
  <dcterms:created xsi:type="dcterms:W3CDTF">2009-08-28T20:22:57Z</dcterms:created>
  <dcterms:modified xsi:type="dcterms:W3CDTF">2015-02-22T18:17:05Z</dcterms:modified>
</cp:coreProperties>
</file>