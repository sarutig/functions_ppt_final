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4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8" r:id="rId3"/>
    <p:sldMasterId id="2147483696" r:id="rId4"/>
    <p:sldMasterId id="2147483714" r:id="rId5"/>
  </p:sldMasterIdLst>
  <p:notesMasterIdLst>
    <p:notesMasterId r:id="rId8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96" r:id="rId17"/>
    <p:sldId id="297" r:id="rId18"/>
    <p:sldId id="267" r:id="rId19"/>
    <p:sldId id="268" r:id="rId20"/>
    <p:sldId id="269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presProps" Target="presProps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slide" Target="slides/slide72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80" Type="http://schemas.openxmlformats.org/officeDocument/2006/relationships/slide" Target="slides/slide75.xml"/><Relationship Id="rId85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8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slide" Target="slides/slide76.xml"/><Relationship Id="rId86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tableStyles" Target="tableStyles.xml"/><Relationship Id="rId61" Type="http://schemas.openxmlformats.org/officeDocument/2006/relationships/slide" Target="slides/slide56.xml"/><Relationship Id="rId82" Type="http://schemas.openxmlformats.org/officeDocument/2006/relationships/slide" Target="slides/slide7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6B996C-3F0C-4978-9314-C296E6832B28}" type="datetimeFigureOut">
              <a:rPr lang="en-IN" smtClean="0"/>
              <a:t>22-02-2015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CC7DF6-7E4F-4710-8F5A-45677976EB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838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6EEF055E-BD45-4A80-AD2B-A2F9F635CEF5}" type="slidenum">
              <a:rPr lang="en-US" altLang="en-US" sz="1200"/>
              <a:pPr algn="r" eaLnBrk="1" hangingPunct="1"/>
              <a:t>48</a:t>
            </a:fld>
            <a:endParaRPr lang="en-US" altLang="en-US" sz="1200"/>
          </a:p>
        </p:txBody>
      </p:sp>
      <p:sp>
        <p:nvSpPr>
          <p:cNvPr id="10752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7524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107525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132D9583-52E3-42C7-87A1-40C272E7F4E9}" type="slidenum">
              <a:rPr lang="en-US" altLang="en-US" sz="1200">
                <a:latin typeface="Calibri" panose="020F0502020204030204" pitchFamily="34" charset="0"/>
              </a:rPr>
              <a:pPr algn="r" eaLnBrk="1" hangingPunct="1"/>
              <a:t>48</a:t>
            </a:fld>
            <a:endParaRPr lang="en-US" altLang="en-US" sz="120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8457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FF30203-5051-4321-8AF3-FF94669C7EDD}" type="slidenum">
              <a:rPr lang="en-US" altLang="en-US" sz="1200"/>
              <a:pPr eaLnBrk="1" hangingPunct="1"/>
              <a:t>56</a:t>
            </a:fld>
            <a:endParaRPr lang="en-US" altLang="en-US" sz="1200"/>
          </a:p>
        </p:txBody>
      </p:sp>
      <p:sp>
        <p:nvSpPr>
          <p:cNvPr id="108547" name="Rectangle 2"/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8548" name="Rectangle 3"/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 altLang="en-US" smtClean="0">
                <a:latin typeface="Times New Roman" panose="02020603050405020304" pitchFamily="18" charset="0"/>
              </a:rPr>
              <a:t>Available on the web in code/arrays/factorials.cpp</a:t>
            </a:r>
          </a:p>
        </p:txBody>
      </p:sp>
    </p:spTree>
    <p:extLst>
      <p:ext uri="{BB962C8B-B14F-4D97-AF65-F5344CB8AC3E}">
        <p14:creationId xmlns:p14="http://schemas.microsoft.com/office/powerpoint/2010/main" val="38108359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63F32D7-BE40-487A-B34E-1B43B09D7F5A}" type="slidenum">
              <a:rPr lang="en-US" altLang="en-US" sz="1200"/>
              <a:pPr eaLnBrk="1" hangingPunct="1"/>
              <a:t>57</a:t>
            </a:fld>
            <a:endParaRPr lang="en-US" altLang="en-US" sz="1200"/>
          </a:p>
        </p:txBody>
      </p:sp>
      <p:sp>
        <p:nvSpPr>
          <p:cNvPr id="109571" name="Rectangle 2"/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9572" name="Rectangle 3"/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 altLang="en-US" smtClean="0">
                <a:latin typeface="Times New Roman" panose="02020603050405020304" pitchFamily="18" charset="0"/>
              </a:rPr>
              <a:t>Example code available in code/arrays/arraydecls.cpp</a:t>
            </a:r>
          </a:p>
        </p:txBody>
      </p:sp>
    </p:spTree>
    <p:extLst>
      <p:ext uri="{BB962C8B-B14F-4D97-AF65-F5344CB8AC3E}">
        <p14:creationId xmlns:p14="http://schemas.microsoft.com/office/powerpoint/2010/main" val="4016744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5DE98A3-AC02-47F6-92CF-D0A266DE9C67}" type="slidenum">
              <a:rPr lang="en-US" altLang="en-US" sz="1200"/>
              <a:pPr eaLnBrk="1" hangingPunct="1"/>
              <a:t>59</a:t>
            </a:fld>
            <a:endParaRPr lang="en-US" altLang="en-US" sz="1200"/>
          </a:p>
        </p:txBody>
      </p:sp>
      <p:sp>
        <p:nvSpPr>
          <p:cNvPr id="110595" name="Rectangle 2"/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0596" name="Rectangle 3"/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 altLang="en-US" smtClean="0">
                <a:latin typeface="Times New Roman" panose="02020603050405020304" pitchFamily="18" charset="0"/>
              </a:rPr>
              <a:t>On the course home page in code/arrays/printarray.cpp</a:t>
            </a:r>
          </a:p>
        </p:txBody>
      </p:sp>
    </p:spTree>
    <p:extLst>
      <p:ext uri="{BB962C8B-B14F-4D97-AF65-F5344CB8AC3E}">
        <p14:creationId xmlns:p14="http://schemas.microsoft.com/office/powerpoint/2010/main" val="20632762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6FFDA08-B60C-494C-B3F6-984C46509472}" type="slidenum">
              <a:rPr lang="en-US" altLang="en-US" sz="1200"/>
              <a:pPr eaLnBrk="1" hangingPunct="1"/>
              <a:t>61</a:t>
            </a:fld>
            <a:endParaRPr lang="en-US" altLang="en-US" sz="1200"/>
          </a:p>
        </p:txBody>
      </p:sp>
      <p:sp>
        <p:nvSpPr>
          <p:cNvPr id="111619" name="Rectangle 2"/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1620" name="Rectangle 3"/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 altLang="en-US" smtClean="0">
                <a:latin typeface="Times New Roman" panose="02020603050405020304" pitchFamily="18" charset="0"/>
              </a:rPr>
              <a:t>On the course home page in code/arrays/printarray.cpp</a:t>
            </a:r>
          </a:p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9979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8B4BBF1-4C2F-49FC-A8BE-068465B481CB}" type="slidenum">
              <a:rPr lang="en-US" altLang="en-US" sz="1200"/>
              <a:pPr eaLnBrk="1" hangingPunct="1"/>
              <a:t>67</a:t>
            </a:fld>
            <a:endParaRPr lang="en-US" altLang="en-US" sz="1200"/>
          </a:p>
        </p:txBody>
      </p:sp>
      <p:sp>
        <p:nvSpPr>
          <p:cNvPr id="112643" name="Rectangle 2"/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2644" name="Rectangle 3"/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 altLang="en-US" smtClean="0">
                <a:latin typeface="Times New Roman" panose="02020603050405020304" pitchFamily="18" charset="0"/>
              </a:rPr>
              <a:t>Available via the course home page in code/arrays/2darray.cpp</a:t>
            </a:r>
          </a:p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2872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2C37615-A2D9-43F3-BF3D-876129D3C5C2}" type="slidenum">
              <a:rPr lang="en-US" altLang="en-US" sz="1200"/>
              <a:pPr eaLnBrk="1" hangingPunct="1"/>
              <a:t>68</a:t>
            </a:fld>
            <a:endParaRPr lang="en-US" altLang="en-US" sz="1200"/>
          </a:p>
        </p:txBody>
      </p:sp>
      <p:sp>
        <p:nvSpPr>
          <p:cNvPr id="113667" name="Rectangle 2"/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3668" name="Rectangle 3"/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 altLang="en-US" smtClean="0">
                <a:latin typeface="Times New Roman" panose="02020603050405020304" pitchFamily="18" charset="0"/>
              </a:rPr>
              <a:t>Available via the course home page in code/arrays/2darray.cpp</a:t>
            </a:r>
          </a:p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5965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3E85C30-174E-4563-8DED-FA45A4512A34}" type="slidenum">
              <a:rPr lang="en-US" altLang="en-US" sz="1200"/>
              <a:pPr eaLnBrk="1" hangingPunct="1"/>
              <a:t>69</a:t>
            </a:fld>
            <a:endParaRPr lang="en-US" altLang="en-US" sz="1200"/>
          </a:p>
        </p:txBody>
      </p:sp>
      <p:sp>
        <p:nvSpPr>
          <p:cNvPr id="114691" name="Rectangle 2"/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4692" name="Rectangle 3"/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 altLang="en-US" smtClean="0">
                <a:latin typeface="Times New Roman" panose="02020603050405020304" pitchFamily="18" charset="0"/>
              </a:rPr>
              <a:t>Available via the course home page in code/arrays/2darray.cpp</a:t>
            </a:r>
          </a:p>
        </p:txBody>
      </p:sp>
    </p:spTree>
    <p:extLst>
      <p:ext uri="{BB962C8B-B14F-4D97-AF65-F5344CB8AC3E}">
        <p14:creationId xmlns:p14="http://schemas.microsoft.com/office/powerpoint/2010/main" val="22168125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1BA69CF-2396-4AE6-846C-0B1C6B4E2D27}" type="slidenum">
              <a:rPr lang="en-US" altLang="en-US" sz="1200"/>
              <a:pPr eaLnBrk="1" hangingPunct="1"/>
              <a:t>71</a:t>
            </a:fld>
            <a:endParaRPr lang="en-US" altLang="en-US" sz="1200"/>
          </a:p>
        </p:txBody>
      </p:sp>
      <p:sp>
        <p:nvSpPr>
          <p:cNvPr id="115715" name="Rectangle 2"/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5716" name="Rectangle 3"/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 altLang="en-US" smtClean="0">
                <a:latin typeface="Times New Roman" panose="02020603050405020304" pitchFamily="18" charset="0"/>
              </a:rPr>
              <a:t>Available via the course home page in code/arrays/badidea.cpp</a:t>
            </a:r>
          </a:p>
        </p:txBody>
      </p:sp>
    </p:spTree>
    <p:extLst>
      <p:ext uri="{BB962C8B-B14F-4D97-AF65-F5344CB8AC3E}">
        <p14:creationId xmlns:p14="http://schemas.microsoft.com/office/powerpoint/2010/main" val="889105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2080E-5A0B-4EF5-B912-C9B71A928637}" type="datetimeFigureOut">
              <a:rPr lang="en-IN" smtClean="0"/>
              <a:t>22-02-2015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C0A85-CB79-497F-9D6D-3F7AE5FAFE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379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2080E-5A0B-4EF5-B912-C9B71A928637}" type="datetimeFigureOut">
              <a:rPr lang="en-IN" smtClean="0"/>
              <a:t>22-02-2015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C0A85-CB79-497F-9D6D-3F7AE5FAFE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336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2080E-5A0B-4EF5-B912-C9B71A928637}" type="datetimeFigureOut">
              <a:rPr lang="en-IN" smtClean="0"/>
              <a:t>22-02-2015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C0A85-CB79-497F-9D6D-3F7AE5FAFE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0971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2080E-5A0B-4EF5-B912-C9B71A928637}" type="datetimeFigureOut">
              <a:rPr lang="en-IN" smtClean="0"/>
              <a:t>22-02-2015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C0A85-CB79-497F-9D6D-3F7AE5FAFE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881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2080E-5A0B-4EF5-B912-C9B71A928637}" type="datetimeFigureOut">
              <a:rPr lang="en-IN" smtClean="0"/>
              <a:t>22-02-2015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C0A85-CB79-497F-9D6D-3F7AE5FAFE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4291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2080E-5A0B-4EF5-B912-C9B71A928637}" type="datetimeFigureOut">
              <a:rPr lang="en-IN" smtClean="0"/>
              <a:t>22-02-2015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C0A85-CB79-497F-9D6D-3F7AE5FAFE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768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2080E-5A0B-4EF5-B912-C9B71A928637}" type="datetimeFigureOut">
              <a:rPr lang="en-IN" smtClean="0"/>
              <a:t>22-02-2015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C0A85-CB79-497F-9D6D-3F7AE5FAFE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701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2080E-5A0B-4EF5-B912-C9B71A928637}" type="datetimeFigureOut">
              <a:rPr lang="en-IN" smtClean="0"/>
              <a:t>22-02-2015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C0A85-CB79-497F-9D6D-3F7AE5FAFE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2061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2080E-5A0B-4EF5-B912-C9B71A928637}" type="datetimeFigureOut">
              <a:rPr lang="en-IN" smtClean="0"/>
              <a:t>22-02-2015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C0A85-CB79-497F-9D6D-3F7AE5FAFE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592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2080E-5A0B-4EF5-B912-C9B71A928637}" type="datetimeFigureOut">
              <a:rPr lang="en-IN" smtClean="0"/>
              <a:t>22-02-2015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C0A85-CB79-497F-9D6D-3F7AE5FAFE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643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2080E-5A0B-4EF5-B912-C9B71A928637}" type="datetimeFigureOut">
              <a:rPr lang="en-IN" smtClean="0"/>
              <a:t>22-02-2015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C0A85-CB79-497F-9D6D-3F7AE5FAFE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001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7964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1042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67158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81287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91237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1527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6605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01982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2104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94071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94867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1E5155">
                    <a:lumMod val="40000"/>
                    <a:lumOff val="60000"/>
                  </a:srgbClr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1E5155">
                    <a:lumMod val="40000"/>
                    <a:lumOff val="60000"/>
                  </a:srgbClr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71074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35864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326150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18796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40378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6170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93480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86726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0856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1247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410124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651770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33009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95546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11924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08092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903026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1E5155">
                    <a:lumMod val="40000"/>
                    <a:lumOff val="60000"/>
                  </a:srgbClr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1E5155">
                    <a:lumMod val="40000"/>
                    <a:lumOff val="60000"/>
                  </a:srgbClr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9092665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218469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422810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46179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451111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055330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678300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774917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58558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73222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190327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648048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99427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33008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590276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82529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737110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1E5155">
                    <a:lumMod val="40000"/>
                    <a:lumOff val="60000"/>
                  </a:srgbClr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1E5155">
                    <a:lumMod val="40000"/>
                    <a:lumOff val="60000"/>
                  </a:srgbClr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3508537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89182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493857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746361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095507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430346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1429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770732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82386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652575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357960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71980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032446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68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099513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431379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680837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1E5155">
                    <a:lumMod val="40000"/>
                    <a:lumOff val="60000"/>
                  </a:srgbClr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1E5155">
                    <a:lumMod val="40000"/>
                    <a:lumOff val="60000"/>
                  </a:srgbClr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9506883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272764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670362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959642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41786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7981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1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44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38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Relationship Id="rId22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48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2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55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Relationship Id="rId22" Type="http://schemas.openxmlformats.org/officeDocument/2006/relationships/image" Target="../media/image5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75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65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17" Type="http://schemas.openxmlformats.org/officeDocument/2006/relationships/slideLayout" Target="../slideLayouts/slideLayout79.xml"/><Relationship Id="rId2" Type="http://schemas.openxmlformats.org/officeDocument/2006/relationships/slideLayout" Target="../slideLayouts/slideLayout64.xml"/><Relationship Id="rId16" Type="http://schemas.openxmlformats.org/officeDocument/2006/relationships/slideLayout" Target="../slideLayouts/slideLayout78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5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2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76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D2080E-5A0B-4EF5-B912-C9B71A928637}" type="datetimeFigureOut">
              <a:rPr lang="en-IN" smtClean="0"/>
              <a:t>22-02-2015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C0A85-CB79-497F-9D6D-3F7AE5FAFE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757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42995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300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40205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34B611A-5EB1-430F-9F46-F442CABD8C66}" type="datetimeFigureOut">
              <a:rPr lang="en-IN" smtClean="0">
                <a:solidFill>
                  <a:prstClr val="white">
                    <a:tint val="75000"/>
                    <a:alpha val="60000"/>
                  </a:prstClr>
                </a:solidFill>
              </a:rPr>
              <a:pPr/>
              <a:t>22-02-2015</a:t>
            </a:fld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69AECC-281F-4327-9897-1284099036CB}" type="slidenum">
              <a:rPr lang="en-IN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87831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6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9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Functions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smtClean="0"/>
              <a:t>Introduction</a:t>
            </a:r>
          </a:p>
          <a:p>
            <a:r>
              <a:rPr lang="en-IN" dirty="0" smtClean="0"/>
              <a:t>Function Declaration</a:t>
            </a:r>
          </a:p>
          <a:p>
            <a:r>
              <a:rPr lang="en-IN" dirty="0" smtClean="0"/>
              <a:t>Function Definition</a:t>
            </a:r>
          </a:p>
          <a:p>
            <a:r>
              <a:rPr lang="en-IN" dirty="0" smtClean="0"/>
              <a:t>Calling Functions</a:t>
            </a:r>
          </a:p>
          <a:p>
            <a:r>
              <a:rPr lang="en-IN" dirty="0" smtClean="0"/>
              <a:t>Call by Reference</a:t>
            </a:r>
          </a:p>
          <a:p>
            <a:r>
              <a:rPr lang="en-IN" dirty="0" smtClean="0"/>
              <a:t>Call by Value</a:t>
            </a:r>
          </a:p>
          <a:p>
            <a:r>
              <a:rPr lang="en-IN" dirty="0" smtClean="0"/>
              <a:t>Inline Functions</a:t>
            </a:r>
          </a:p>
          <a:p>
            <a:r>
              <a:rPr lang="en-IN" dirty="0" smtClean="0"/>
              <a:t>Function overloading</a:t>
            </a:r>
          </a:p>
          <a:p>
            <a:r>
              <a:rPr lang="en-IN" dirty="0" smtClean="0"/>
              <a:t>Default Arguments</a:t>
            </a:r>
          </a:p>
        </p:txBody>
      </p:sp>
    </p:spTree>
    <p:extLst>
      <p:ext uri="{BB962C8B-B14F-4D97-AF65-F5344CB8AC3E}">
        <p14:creationId xmlns:p14="http://schemas.microsoft.com/office/powerpoint/2010/main" val="1407742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Introduction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r>
              <a:rPr lang="en-IN" dirty="0" smtClean="0"/>
              <a:t>Increases code efficiency and as same lines would get repeated if functions were not there.</a:t>
            </a:r>
          </a:p>
          <a:p>
            <a:r>
              <a:rPr lang="en-IN" dirty="0" smtClean="0"/>
              <a:t>2 types of functions</a:t>
            </a:r>
          </a:p>
          <a:p>
            <a:pPr lvl="1"/>
            <a:r>
              <a:rPr lang="en-IN" dirty="0" smtClean="0"/>
              <a:t>Library Functions</a:t>
            </a:r>
          </a:p>
          <a:p>
            <a:pPr lvl="2"/>
            <a:r>
              <a:rPr lang="en-IN" dirty="0" smtClean="0"/>
              <a:t>Example:- </a:t>
            </a:r>
            <a:r>
              <a:rPr lang="en-IN" dirty="0" err="1" smtClean="0"/>
              <a:t>int</a:t>
            </a:r>
            <a:r>
              <a:rPr lang="en-IN" dirty="0" smtClean="0"/>
              <a:t> a;</a:t>
            </a:r>
          </a:p>
          <a:p>
            <a:pPr marL="2286000" lvl="5" indent="0">
              <a:buNone/>
            </a:pPr>
            <a:r>
              <a:rPr lang="en-IN" dirty="0" err="1" smtClean="0"/>
              <a:t>Int</a:t>
            </a:r>
            <a:r>
              <a:rPr lang="en-IN" dirty="0" smtClean="0"/>
              <a:t> a[], float a[];</a:t>
            </a:r>
          </a:p>
          <a:p>
            <a:pPr lvl="1"/>
            <a:r>
              <a:rPr lang="en-IN" dirty="0" smtClean="0"/>
              <a:t>User Defined Functions</a:t>
            </a:r>
          </a:p>
          <a:p>
            <a:pPr marL="457200" lvl="1" indent="0">
              <a:buNone/>
            </a:pP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3929932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Function Declaration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Let the compiler know about the function to declare</a:t>
            </a:r>
          </a:p>
          <a:p>
            <a:r>
              <a:rPr lang="en-IN" dirty="0" smtClean="0"/>
              <a:t>Example</a:t>
            </a:r>
          </a:p>
          <a:p>
            <a:pPr lvl="1"/>
            <a:r>
              <a:rPr lang="en-IN" dirty="0" smtClean="0"/>
              <a:t>Return type Function name();</a:t>
            </a:r>
          </a:p>
          <a:p>
            <a:pPr lvl="1"/>
            <a:endParaRPr lang="en-IN" dirty="0"/>
          </a:p>
          <a:p>
            <a:pPr lvl="1"/>
            <a:r>
              <a:rPr lang="en-IN" dirty="0" smtClean="0"/>
              <a:t>Return type will be void if a function does not return anything</a:t>
            </a:r>
          </a:p>
          <a:p>
            <a:pPr lvl="1"/>
            <a:endParaRPr lang="en-IN" dirty="0"/>
          </a:p>
          <a:p>
            <a:pPr lvl="1"/>
            <a:r>
              <a:rPr lang="en-IN" dirty="0" smtClean="0"/>
              <a:t>Return type can be of any nature like </a:t>
            </a:r>
            <a:r>
              <a:rPr lang="en-IN" dirty="0" err="1" smtClean="0"/>
              <a:t>int</a:t>
            </a:r>
            <a:r>
              <a:rPr lang="en-IN" dirty="0" smtClean="0"/>
              <a:t>, objects of classes </a:t>
            </a:r>
            <a:r>
              <a:rPr lang="en-IN" dirty="0" err="1" smtClean="0"/>
              <a:t>etc</a:t>
            </a: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2813156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Function Definition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sz="9600" dirty="0" smtClean="0"/>
              <a:t>Definition of the functions to let the compiler know what the function does</a:t>
            </a:r>
          </a:p>
          <a:p>
            <a:pPr marL="0" indent="0">
              <a:buNone/>
            </a:pPr>
            <a:r>
              <a:rPr lang="en-IN" sz="9600" dirty="0"/>
              <a:t> </a:t>
            </a:r>
            <a:r>
              <a:rPr lang="en-IN" sz="9600" dirty="0" smtClean="0"/>
              <a:t>     Syntax:-</a:t>
            </a:r>
          </a:p>
          <a:p>
            <a:pPr marL="0" indent="0">
              <a:buNone/>
            </a:pPr>
            <a:r>
              <a:rPr lang="en-IN" sz="9600" dirty="0"/>
              <a:t>	</a:t>
            </a:r>
            <a:r>
              <a:rPr lang="en-IN" sz="9600" dirty="0" smtClean="0"/>
              <a:t>Return type </a:t>
            </a:r>
            <a:r>
              <a:rPr lang="en-IN" sz="9600" dirty="0" err="1" smtClean="0"/>
              <a:t>Function_name</a:t>
            </a:r>
            <a:r>
              <a:rPr lang="en-IN" sz="9600" dirty="0" smtClean="0"/>
              <a:t> (arguments)</a:t>
            </a:r>
          </a:p>
          <a:p>
            <a:pPr marL="0" indent="0">
              <a:buNone/>
            </a:pPr>
            <a:r>
              <a:rPr lang="en-IN" sz="9600" dirty="0"/>
              <a:t>	</a:t>
            </a:r>
            <a:r>
              <a:rPr lang="en-IN" sz="9600" dirty="0" smtClean="0"/>
              <a:t>{</a:t>
            </a:r>
          </a:p>
          <a:p>
            <a:pPr marL="0" indent="0">
              <a:buNone/>
            </a:pPr>
            <a:r>
              <a:rPr lang="en-IN" sz="9600" dirty="0"/>
              <a:t>	</a:t>
            </a:r>
            <a:r>
              <a:rPr lang="en-IN" sz="9600" dirty="0" smtClean="0"/>
              <a:t>body of the function</a:t>
            </a:r>
          </a:p>
          <a:p>
            <a:pPr marL="0" indent="0">
              <a:buNone/>
            </a:pPr>
            <a:r>
              <a:rPr lang="en-IN" sz="9600" dirty="0"/>
              <a:t>	</a:t>
            </a:r>
            <a:r>
              <a:rPr lang="en-IN" sz="9600" dirty="0" smtClean="0"/>
              <a:t>return value;</a:t>
            </a:r>
          </a:p>
          <a:p>
            <a:pPr marL="0" indent="0">
              <a:buNone/>
            </a:pPr>
            <a:r>
              <a:rPr lang="en-IN" sz="9600" dirty="0"/>
              <a:t>	</a:t>
            </a:r>
            <a:r>
              <a:rPr lang="en-IN" sz="9600" dirty="0" smtClean="0"/>
              <a:t>}</a:t>
            </a:r>
          </a:p>
          <a:p>
            <a:pPr marL="0" indent="0">
              <a:buNone/>
            </a:pPr>
            <a:r>
              <a:rPr lang="en-IN" sz="9600" dirty="0"/>
              <a:t> </a:t>
            </a:r>
            <a:r>
              <a:rPr lang="en-IN" sz="9600" dirty="0" smtClean="0"/>
              <a:t>    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[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4644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Function Definition(Contd..)</a:t>
            </a:r>
            <a:endParaRPr lang="en-IN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38200" y="2662468"/>
            <a:ext cx="10692351" cy="2677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SquareArea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double Side;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&lt;&lt; "\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nEnter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the side of the square: ";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&gt;&gt; Side;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&lt;&lt; "\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nSquare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characteristics:";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&lt;&lt; "\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nSide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" &lt;&lt; Side;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&lt;&lt; "\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nArea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" &lt;&lt; Side * Side;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6815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Calling Functions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smtClean="0"/>
              <a:t>Function can be called from any function</a:t>
            </a:r>
          </a:p>
          <a:p>
            <a:r>
              <a:rPr lang="en-IN" dirty="0" smtClean="0"/>
              <a:t>Variable of function return type = function name(arguments function uses)</a:t>
            </a:r>
          </a:p>
          <a:p>
            <a:pPr lvl="1"/>
            <a:r>
              <a:rPr lang="en-IN" dirty="0" smtClean="0"/>
              <a:t>Example:-</a:t>
            </a:r>
          </a:p>
          <a:p>
            <a:pPr marL="457200" lvl="1" indent="0">
              <a:buNone/>
            </a:pPr>
            <a:r>
              <a:rPr lang="en-IN" dirty="0" err="1" smtClean="0"/>
              <a:t>Int</a:t>
            </a:r>
            <a:r>
              <a:rPr lang="en-IN" dirty="0" smtClean="0"/>
              <a:t> main()</a:t>
            </a:r>
          </a:p>
          <a:p>
            <a:pPr marL="457200" lvl="1" indent="0">
              <a:buNone/>
            </a:pPr>
            <a:r>
              <a:rPr lang="en-IN" dirty="0" smtClean="0"/>
              <a:t>{</a:t>
            </a:r>
          </a:p>
          <a:p>
            <a:pPr marL="457200" lvl="1" indent="0">
              <a:buNone/>
            </a:pPr>
            <a:r>
              <a:rPr lang="en-IN" dirty="0" err="1" smtClean="0"/>
              <a:t>Int</a:t>
            </a:r>
            <a:r>
              <a:rPr lang="en-IN" dirty="0" smtClean="0"/>
              <a:t> a;</a:t>
            </a:r>
          </a:p>
          <a:p>
            <a:pPr marL="457200" lvl="1" indent="0">
              <a:buNone/>
            </a:pPr>
            <a:r>
              <a:rPr lang="en-IN" dirty="0" smtClean="0"/>
              <a:t>a=Area(</a:t>
            </a:r>
            <a:r>
              <a:rPr lang="en-IN" dirty="0" err="1" smtClean="0"/>
              <a:t>Length,Breadth</a:t>
            </a:r>
            <a:r>
              <a:rPr lang="en-IN" dirty="0" smtClean="0"/>
              <a:t>); //will be used for Function Area</a:t>
            </a:r>
          </a:p>
          <a:p>
            <a:pPr marL="457200" lvl="1" indent="0">
              <a:buNone/>
            </a:pPr>
            <a:r>
              <a:rPr lang="en-IN" dirty="0" smtClean="0"/>
              <a:t>Return 0;</a:t>
            </a:r>
          </a:p>
          <a:p>
            <a:pPr marL="457200" lvl="1" indent="0">
              <a:buNone/>
            </a:pPr>
            <a:r>
              <a:rPr lang="en-IN" dirty="0" smtClean="0"/>
              <a:t>}</a:t>
            </a:r>
          </a:p>
          <a:p>
            <a:pPr marL="457200" lvl="1" indent="0">
              <a:buNone/>
            </a:pPr>
            <a:r>
              <a:rPr lang="en-IN" dirty="0" err="1" smtClean="0"/>
              <a:t>Int</a:t>
            </a:r>
            <a:r>
              <a:rPr lang="en-IN" dirty="0" smtClean="0"/>
              <a:t> Area(</a:t>
            </a: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 err="1" smtClean="0"/>
              <a:t>lenth,int</a:t>
            </a:r>
            <a:r>
              <a:rPr lang="en-IN" dirty="0" smtClean="0"/>
              <a:t> Breadth);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5158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Calling a Function before defining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293137"/>
            <a:ext cx="11216425" cy="341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main()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 Message();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&lt;&lt; "We will start with the student registration process.";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Message(); // Calling the Message() function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 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 Message()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&lt;&lt; "Welcome to the Red Oak High School.";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453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Calling a standard operating system function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231581"/>
            <a:ext cx="11354390" cy="35394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cstdio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//definition of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getchar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function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main()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&lt;&lt; "This is C++ in its truest form...\n\n";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getchar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 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587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Returning a Value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 smtClean="0"/>
              <a:t>Return Value types</a:t>
            </a:r>
          </a:p>
          <a:p>
            <a:pPr lvl="1"/>
            <a:r>
              <a:rPr lang="en-IN" dirty="0" smtClean="0"/>
              <a:t>Value is set in the Return keyword</a:t>
            </a:r>
          </a:p>
          <a:p>
            <a:pPr lvl="1"/>
            <a:r>
              <a:rPr lang="en-IN" dirty="0" smtClean="0"/>
              <a:t>Examples</a:t>
            </a:r>
          </a:p>
          <a:p>
            <a:pPr marL="457200" lvl="1" indent="0"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GetMemberName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  <a:p>
            <a:pPr marL="457200" lvl="1" indent="0"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 marL="457200" lvl="1" indent="0"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FName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LName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FullName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457200" lvl="1" indent="0">
              <a:buNone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&lt;&lt; "New Member Registration.\n"; </a:t>
            </a:r>
          </a:p>
          <a:p>
            <a:pPr marL="457200" lvl="1" indent="0">
              <a:buNone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&lt;&lt; "First Name: "; </a:t>
            </a:r>
          </a:p>
          <a:p>
            <a:pPr marL="457200" lvl="1" indent="0">
              <a:buNone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&gt;&gt;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FName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&lt;&lt; "Last Name: "; </a:t>
            </a:r>
          </a:p>
          <a:p>
            <a:pPr marL="457200" lvl="1" indent="0">
              <a:buNone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&gt;&gt;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LName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FullName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FName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+ " " +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LName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457200" lvl="1" indent="0"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FullName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457200" lvl="1" indent="0"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>
              <a:buNone/>
            </a:pPr>
            <a:endParaRPr lang="en-IN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return value can also be an expression.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3400" b="0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SquareArea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(double Side)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 (Side * Side);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>
              <a:buNone/>
            </a:pPr>
            <a:endParaRPr lang="en-IN" dirty="0" smtClean="0"/>
          </a:p>
          <a:p>
            <a:pPr marL="457200" lvl="1" indent="0">
              <a:buNone/>
            </a:pPr>
            <a:endParaRPr lang="en-IN" dirty="0" smtClean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0431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return value could also be a variable that represents the </a:t>
            </a:r>
            <a:r>
              <a:rPr lang="en-IN" dirty="0" smtClean="0"/>
              <a:t>result</a:t>
            </a:r>
          </a:p>
          <a:p>
            <a:pPr marL="0" indent="0">
              <a:buNone/>
            </a:pPr>
            <a:endParaRPr lang="en-IN" dirty="0" smtClean="0"/>
          </a:p>
          <a:p>
            <a:pPr marL="0" lvl="0" indent="0"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SquareArea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(double Side) </a:t>
            </a:r>
          </a:p>
          <a:p>
            <a:pPr marL="0" lvl="0" indent="0"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 marL="0" lvl="0" indent="0"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double Area; </a:t>
            </a:r>
          </a:p>
          <a:p>
            <a:pPr marL="0" lvl="0" indent="0"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Area = Side * Side; </a:t>
            </a:r>
          </a:p>
          <a:p>
            <a:pPr marL="0" lvl="0" indent="0"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 Area; </a:t>
            </a:r>
          </a:p>
          <a:p>
            <a:pPr marL="0" lvl="0" indent="0"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kumimoji="0" lang="en-US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6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257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6548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2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IN" dirty="0" smtClean="0"/>
              <a:t>#include &lt;</a:t>
            </a:r>
            <a:r>
              <a:rPr lang="en-IN" dirty="0" err="1" smtClean="0"/>
              <a:t>iostream</a:t>
            </a:r>
            <a:r>
              <a:rPr lang="en-IN" dirty="0" smtClean="0"/>
              <a:t>&gt;</a:t>
            </a:r>
          </a:p>
          <a:p>
            <a:pPr marL="0" indent="0">
              <a:buNone/>
            </a:pPr>
            <a:r>
              <a:rPr lang="en-IN" dirty="0" smtClean="0"/>
              <a:t>using namespace </a:t>
            </a:r>
            <a:r>
              <a:rPr lang="en-IN" dirty="0" err="1" smtClean="0"/>
              <a:t>std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 err="1" smtClean="0"/>
              <a:t>GetMajor</a:t>
            </a:r>
            <a:r>
              <a:rPr lang="en-IN" dirty="0" smtClean="0"/>
              <a:t>()</a:t>
            </a:r>
          </a:p>
          <a:p>
            <a:pPr marL="0" indent="0">
              <a:buNone/>
            </a:pPr>
            <a:r>
              <a:rPr lang="en-IN" dirty="0" smtClean="0"/>
              <a:t>{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int</a:t>
            </a:r>
            <a:r>
              <a:rPr lang="en-IN" dirty="0" smtClean="0"/>
              <a:t> Choice;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cout</a:t>
            </a:r>
            <a:r>
              <a:rPr lang="en-IN" dirty="0" smtClean="0"/>
              <a:t> &lt;&lt; "\n1 - Business Administration"; 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cout</a:t>
            </a:r>
            <a:r>
              <a:rPr lang="en-IN" dirty="0" smtClean="0"/>
              <a:t> &lt;&lt; "\n2 - History";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cout</a:t>
            </a:r>
            <a:r>
              <a:rPr lang="en-IN" dirty="0" smtClean="0"/>
              <a:t> &lt;&lt; "\n3 - Geography";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cout</a:t>
            </a:r>
            <a:r>
              <a:rPr lang="en-IN" dirty="0" smtClean="0"/>
              <a:t> &lt;&lt; "\n4 - Education";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cout</a:t>
            </a:r>
            <a:r>
              <a:rPr lang="en-IN" dirty="0" smtClean="0"/>
              <a:t> &lt;&lt; "\n5 - Computer Sciences";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cout</a:t>
            </a:r>
            <a:r>
              <a:rPr lang="en-IN" dirty="0" smtClean="0"/>
              <a:t> &lt;&lt; "\</a:t>
            </a:r>
            <a:r>
              <a:rPr lang="en-IN" dirty="0" err="1" smtClean="0"/>
              <a:t>nYour</a:t>
            </a:r>
            <a:r>
              <a:rPr lang="en-IN" dirty="0" smtClean="0"/>
              <a:t> Choice: ";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cin</a:t>
            </a:r>
            <a:r>
              <a:rPr lang="en-IN" dirty="0" smtClean="0"/>
              <a:t> &gt;&gt; Choice;</a:t>
            </a:r>
          </a:p>
          <a:p>
            <a:pPr marL="0" indent="0">
              <a:buNone/>
            </a:pPr>
            <a:r>
              <a:rPr lang="en-IN" dirty="0" smtClean="0"/>
              <a:t>	return Choice;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pPr marL="0" indent="0">
              <a:buNone/>
            </a:pPr>
            <a:r>
              <a:rPr lang="en-IN" dirty="0" err="1" smtClean="0"/>
              <a:t>int</a:t>
            </a:r>
            <a:r>
              <a:rPr lang="en-IN" dirty="0" smtClean="0"/>
              <a:t> main()</a:t>
            </a:r>
          </a:p>
          <a:p>
            <a:pPr marL="0" indent="0">
              <a:buNone/>
            </a:pPr>
            <a:r>
              <a:rPr lang="en-IN" dirty="0" smtClean="0"/>
              <a:t>{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int</a:t>
            </a:r>
            <a:r>
              <a:rPr lang="en-IN" dirty="0" smtClean="0"/>
              <a:t> Major;	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cout</a:t>
            </a:r>
            <a:r>
              <a:rPr lang="en-IN" dirty="0" smtClean="0"/>
              <a:t> &lt;&lt; "Welcome to the student orientation program.";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cout</a:t>
            </a:r>
            <a:r>
              <a:rPr lang="en-IN" dirty="0" smtClean="0"/>
              <a:t> &lt;&lt; "Select your desired major:";</a:t>
            </a:r>
          </a:p>
          <a:p>
            <a:pPr marL="0" indent="0">
              <a:buNone/>
            </a:pPr>
            <a:r>
              <a:rPr lang="en-IN" dirty="0" smtClean="0"/>
              <a:t>	Major = </a:t>
            </a:r>
            <a:r>
              <a:rPr lang="en-IN" dirty="0" err="1" smtClean="0"/>
              <a:t>GetMajor</a:t>
            </a:r>
            <a:r>
              <a:rPr lang="en-IN" dirty="0" smtClean="0"/>
              <a:t>();//Function return type same as variable return type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cout</a:t>
            </a:r>
            <a:r>
              <a:rPr lang="en-IN" dirty="0" smtClean="0"/>
              <a:t> &lt;&lt; "You select " &lt;&lt; Major; </a:t>
            </a:r>
            <a:r>
              <a:rPr lang="en-IN" dirty="0" err="1" smtClean="0"/>
              <a:t>cout</a:t>
            </a:r>
            <a:r>
              <a:rPr lang="en-IN" dirty="0" smtClean="0"/>
              <a:t> &lt;&lt; "\n";</a:t>
            </a:r>
          </a:p>
          <a:p>
            <a:pPr marL="0" indent="0">
              <a:buNone/>
            </a:pPr>
            <a:r>
              <a:rPr lang="en-IN" dirty="0" smtClean="0"/>
              <a:t>	return 0;</a:t>
            </a:r>
          </a:p>
          <a:p>
            <a:pPr marL="0" indent="0">
              <a:buNone/>
            </a:pPr>
            <a:r>
              <a:rPr lang="en-IN" dirty="0" smtClean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9172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Passing parameters to a C++ program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int</a:t>
            </a:r>
            <a:r>
              <a:rPr lang="en-IN" dirty="0"/>
              <a:t> main(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argc</a:t>
            </a:r>
            <a:r>
              <a:rPr lang="en-IN" dirty="0"/>
              <a:t>, char *</a:t>
            </a:r>
            <a:r>
              <a:rPr lang="en-IN" dirty="0" err="1"/>
              <a:t>argv</a:t>
            </a:r>
            <a:r>
              <a:rPr lang="en-IN" dirty="0" smtClean="0"/>
              <a:t>[]) or </a:t>
            </a:r>
            <a:r>
              <a:rPr lang="en-IN" dirty="0" err="1"/>
              <a:t>int</a:t>
            </a:r>
            <a:r>
              <a:rPr lang="en-IN" dirty="0"/>
              <a:t> main(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num_args</a:t>
            </a:r>
            <a:r>
              <a:rPr lang="en-IN" dirty="0"/>
              <a:t>, char** </a:t>
            </a:r>
            <a:r>
              <a:rPr lang="en-IN" dirty="0" err="1"/>
              <a:t>arg_strings</a:t>
            </a:r>
            <a:r>
              <a:rPr lang="en-IN" dirty="0"/>
              <a:t>)</a:t>
            </a:r>
            <a:endParaRPr lang="en-IN" dirty="0" smtClean="0"/>
          </a:p>
          <a:p>
            <a:r>
              <a:rPr lang="en-IN" dirty="0" err="1" smtClean="0"/>
              <a:t>argv</a:t>
            </a:r>
            <a:r>
              <a:rPr lang="en-IN" dirty="0" smtClean="0"/>
              <a:t> and </a:t>
            </a:r>
            <a:r>
              <a:rPr lang="en-IN" dirty="0" err="1" smtClean="0"/>
              <a:t>argc</a:t>
            </a:r>
            <a:r>
              <a:rPr lang="en-IN" dirty="0" smtClean="0"/>
              <a:t> are how command line arguments are passed to main()</a:t>
            </a:r>
          </a:p>
          <a:p>
            <a:r>
              <a:rPr lang="en-IN" dirty="0" err="1" smtClean="0"/>
              <a:t>argc</a:t>
            </a:r>
            <a:r>
              <a:rPr lang="en-IN" dirty="0" smtClean="0"/>
              <a:t> will be the number of strings pointed to by </a:t>
            </a:r>
            <a:r>
              <a:rPr lang="en-IN" dirty="0" err="1" smtClean="0"/>
              <a:t>argv</a:t>
            </a:r>
            <a:endParaRPr lang="en-IN" dirty="0" smtClean="0"/>
          </a:p>
          <a:p>
            <a:r>
              <a:rPr lang="en-IN" dirty="0" smtClean="0"/>
              <a:t>They can also be omitted entirely, yielding </a:t>
            </a:r>
            <a:r>
              <a:rPr lang="en-IN" dirty="0" err="1" smtClean="0"/>
              <a:t>int</a:t>
            </a:r>
            <a:r>
              <a:rPr lang="en-IN" dirty="0" smtClean="0"/>
              <a:t> main(), if you do not intend to process command line arguments.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4768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457200" lvl="1" indent="0">
              <a:buNone/>
            </a:pPr>
            <a:r>
              <a:rPr lang="en-IN" dirty="0" smtClean="0"/>
              <a:t>#include &lt;</a:t>
            </a:r>
            <a:r>
              <a:rPr lang="en-IN" dirty="0" err="1" smtClean="0"/>
              <a:t>iostream</a:t>
            </a:r>
            <a:r>
              <a:rPr lang="en-IN" dirty="0" smtClean="0"/>
              <a:t>&gt;</a:t>
            </a:r>
          </a:p>
          <a:p>
            <a:pPr marL="457200" lvl="1" indent="0">
              <a:buNone/>
            </a:pPr>
            <a:r>
              <a:rPr lang="en-IN" dirty="0" err="1" smtClean="0"/>
              <a:t>int</a:t>
            </a:r>
            <a:r>
              <a:rPr lang="en-IN" dirty="0" smtClean="0"/>
              <a:t> main(</a:t>
            </a: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 err="1" smtClean="0"/>
              <a:t>argc</a:t>
            </a:r>
            <a:r>
              <a:rPr lang="en-IN" dirty="0" smtClean="0"/>
              <a:t>, char** </a:t>
            </a:r>
            <a:r>
              <a:rPr lang="en-IN" dirty="0" err="1" smtClean="0"/>
              <a:t>argv</a:t>
            </a:r>
            <a:r>
              <a:rPr lang="en-IN" dirty="0" smtClean="0"/>
              <a:t>) </a:t>
            </a:r>
          </a:p>
          <a:p>
            <a:pPr marL="457200" lvl="1" indent="0">
              <a:buNone/>
            </a:pPr>
            <a:r>
              <a:rPr lang="en-IN" dirty="0" smtClean="0"/>
              <a:t>{</a:t>
            </a:r>
          </a:p>
          <a:p>
            <a:pPr marL="457200" lvl="1" indent="0">
              <a:buNone/>
            </a:pPr>
            <a:r>
              <a:rPr lang="en-IN" dirty="0" smtClean="0"/>
              <a:t>    </a:t>
            </a:r>
            <a:r>
              <a:rPr lang="en-IN" dirty="0" err="1" smtClean="0"/>
              <a:t>std</a:t>
            </a:r>
            <a:r>
              <a:rPr lang="en-IN" dirty="0" smtClean="0"/>
              <a:t>::</a:t>
            </a:r>
            <a:r>
              <a:rPr lang="en-IN" dirty="0" err="1" smtClean="0"/>
              <a:t>cout</a:t>
            </a:r>
            <a:r>
              <a:rPr lang="en-IN" dirty="0" smtClean="0"/>
              <a:t> &lt;&lt; "Have " &lt;&lt; </a:t>
            </a:r>
            <a:r>
              <a:rPr lang="en-IN" dirty="0" err="1" smtClean="0"/>
              <a:t>argc</a:t>
            </a:r>
            <a:r>
              <a:rPr lang="en-IN" dirty="0" smtClean="0"/>
              <a:t> &lt;&lt; " arguments:" &lt;&lt; </a:t>
            </a:r>
            <a:r>
              <a:rPr lang="en-IN" dirty="0" err="1" smtClean="0"/>
              <a:t>std</a:t>
            </a:r>
            <a:r>
              <a:rPr lang="en-IN" dirty="0" smtClean="0"/>
              <a:t>::</a:t>
            </a:r>
            <a:r>
              <a:rPr lang="en-IN" dirty="0" err="1" smtClean="0"/>
              <a:t>endl</a:t>
            </a:r>
            <a:r>
              <a:rPr lang="en-IN" dirty="0" smtClean="0"/>
              <a:t>;</a:t>
            </a:r>
          </a:p>
          <a:p>
            <a:pPr marL="457200" lvl="1" indent="0">
              <a:buNone/>
            </a:pPr>
            <a:r>
              <a:rPr lang="en-IN" dirty="0" smtClean="0"/>
              <a:t>    for (</a:t>
            </a: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 err="1" smtClean="0"/>
              <a:t>i</a:t>
            </a:r>
            <a:r>
              <a:rPr lang="en-IN" dirty="0" smtClean="0"/>
              <a:t> = 0; </a:t>
            </a:r>
            <a:r>
              <a:rPr lang="en-IN" dirty="0" err="1" smtClean="0"/>
              <a:t>i</a:t>
            </a:r>
            <a:r>
              <a:rPr lang="en-IN" dirty="0" smtClean="0"/>
              <a:t> &lt; </a:t>
            </a:r>
            <a:r>
              <a:rPr lang="en-IN" dirty="0" err="1" smtClean="0"/>
              <a:t>argc</a:t>
            </a:r>
            <a:r>
              <a:rPr lang="en-IN" dirty="0" smtClean="0"/>
              <a:t>; ++</a:t>
            </a:r>
            <a:r>
              <a:rPr lang="en-IN" dirty="0" err="1" smtClean="0"/>
              <a:t>i</a:t>
            </a:r>
            <a:r>
              <a:rPr lang="en-IN" dirty="0" smtClean="0"/>
              <a:t>) {</a:t>
            </a:r>
          </a:p>
          <a:p>
            <a:pPr marL="457200" lvl="1" indent="0">
              <a:buNone/>
            </a:pPr>
            <a:r>
              <a:rPr lang="en-IN" dirty="0" smtClean="0"/>
              <a:t>        </a:t>
            </a:r>
            <a:r>
              <a:rPr lang="en-IN" dirty="0" err="1" smtClean="0"/>
              <a:t>std</a:t>
            </a:r>
            <a:r>
              <a:rPr lang="en-IN" dirty="0" smtClean="0"/>
              <a:t>::</a:t>
            </a:r>
            <a:r>
              <a:rPr lang="en-IN" dirty="0" err="1" smtClean="0"/>
              <a:t>cout</a:t>
            </a:r>
            <a:r>
              <a:rPr lang="en-IN" dirty="0" smtClean="0"/>
              <a:t> &lt;&lt; </a:t>
            </a:r>
            <a:r>
              <a:rPr lang="en-IN" dirty="0" err="1" smtClean="0"/>
              <a:t>argv</a:t>
            </a:r>
            <a:r>
              <a:rPr lang="en-IN" dirty="0" smtClean="0"/>
              <a:t>[</a:t>
            </a:r>
            <a:r>
              <a:rPr lang="en-IN" dirty="0" err="1" smtClean="0"/>
              <a:t>i</a:t>
            </a:r>
            <a:r>
              <a:rPr lang="en-IN" dirty="0" smtClean="0"/>
              <a:t>] &lt;&lt; </a:t>
            </a:r>
            <a:r>
              <a:rPr lang="en-IN" dirty="0" err="1" smtClean="0"/>
              <a:t>std</a:t>
            </a:r>
            <a:r>
              <a:rPr lang="en-IN" dirty="0" smtClean="0"/>
              <a:t>::</a:t>
            </a:r>
            <a:r>
              <a:rPr lang="en-IN" dirty="0" err="1" smtClean="0"/>
              <a:t>endl</a:t>
            </a:r>
            <a:r>
              <a:rPr lang="en-IN" dirty="0" smtClean="0"/>
              <a:t>;</a:t>
            </a:r>
          </a:p>
          <a:p>
            <a:pPr marL="457200" lvl="1" indent="0">
              <a:buNone/>
            </a:pPr>
            <a:r>
              <a:rPr lang="en-IN" dirty="0" smtClean="0"/>
              <a:t>    }</a:t>
            </a:r>
          </a:p>
          <a:p>
            <a:pPr marL="457200" lvl="1" indent="0">
              <a:buNone/>
            </a:pPr>
            <a:r>
              <a:rPr lang="en-IN" dirty="0" smtClean="0"/>
              <a:t>}</a:t>
            </a:r>
          </a:p>
          <a:p>
            <a:pPr marL="457200" lvl="1" indent="0">
              <a:buNone/>
            </a:pPr>
            <a:r>
              <a:rPr lang="en-IN" dirty="0" smtClean="0"/>
              <a:t>Running it with ./test a1 b2 c3 will output</a:t>
            </a:r>
          </a:p>
          <a:p>
            <a:pPr marL="457200" lvl="1" indent="0">
              <a:buNone/>
            </a:pPr>
            <a:endParaRPr lang="en-IN" dirty="0" smtClean="0"/>
          </a:p>
          <a:p>
            <a:pPr marL="457200" lvl="1" indent="0">
              <a:buNone/>
            </a:pPr>
            <a:r>
              <a:rPr lang="en-IN" dirty="0" smtClean="0"/>
              <a:t>Have 4 arguments:</a:t>
            </a:r>
          </a:p>
          <a:p>
            <a:pPr marL="457200" lvl="1" indent="0">
              <a:buNone/>
            </a:pPr>
            <a:r>
              <a:rPr lang="en-IN" dirty="0" smtClean="0"/>
              <a:t>./test</a:t>
            </a:r>
          </a:p>
          <a:p>
            <a:pPr marL="457200" lvl="1" indent="0">
              <a:buNone/>
            </a:pPr>
            <a:r>
              <a:rPr lang="en-IN" dirty="0" smtClean="0"/>
              <a:t>a1</a:t>
            </a:r>
          </a:p>
          <a:p>
            <a:pPr marL="457200" lvl="1" indent="0">
              <a:buNone/>
            </a:pPr>
            <a:r>
              <a:rPr lang="en-IN" dirty="0" smtClean="0"/>
              <a:t>b2</a:t>
            </a:r>
          </a:p>
          <a:p>
            <a:pPr marL="457200" lvl="1" indent="0">
              <a:buNone/>
            </a:pPr>
            <a:r>
              <a:rPr lang="en-IN" dirty="0" smtClean="0"/>
              <a:t>c3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3014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76200"/>
            <a:ext cx="7772400" cy="6096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dirty="0" smtClean="0"/>
              <a:t>  Argument Passing</a:t>
            </a:r>
          </a:p>
        </p:txBody>
      </p:sp>
      <p:sp>
        <p:nvSpPr>
          <p:cNvPr id="136195" name="Rectangle 3"/>
          <p:cNvSpPr>
            <a:spLocks noChangeArrowheads="1"/>
          </p:cNvSpPr>
          <p:nvPr/>
        </p:nvSpPr>
        <p:spPr bwMode="auto">
          <a:xfrm>
            <a:off x="1676400" y="871538"/>
            <a:ext cx="8839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marL="609600" indent="-609600">
              <a:lnSpc>
                <a:spcPct val="95000"/>
              </a:lnSpc>
              <a:spcBef>
                <a:spcPct val="20000"/>
              </a:spcBef>
              <a:buClr>
                <a:prstClr val="white"/>
              </a:buClr>
              <a:defRPr/>
            </a:pPr>
            <a:r>
              <a:rPr lang="en-US" altLang="zh-CN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The Semantics of Argument Passing</a:t>
            </a:r>
          </a:p>
        </p:txBody>
      </p:sp>
      <p:sp>
        <p:nvSpPr>
          <p:cNvPr id="136196" name="Rectangle 4"/>
          <p:cNvSpPr>
            <a:spLocks noChangeArrowheads="1"/>
          </p:cNvSpPr>
          <p:nvPr/>
        </p:nvSpPr>
        <p:spPr bwMode="auto">
          <a:xfrm>
            <a:off x="1600200" y="2228850"/>
            <a:ext cx="9067800" cy="417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prstClr val="white"/>
              </a:buClr>
              <a:buFontTx/>
              <a:buChar char="•"/>
              <a:defRPr/>
            </a:pP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When a function is called, store is set aside for its formal arguments.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prstClr val="white"/>
              </a:buClr>
              <a:buFontTx/>
              <a:buChar char="•"/>
              <a:defRPr/>
            </a:pP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Each formal argument is </a:t>
            </a:r>
            <a:r>
              <a:rPr lang="en-US" altLang="zh-CN" i="1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initialized</a:t>
            </a: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by its corresponding actual argument. ( The semantics of argument passing are </a:t>
            </a:r>
            <a:r>
              <a:rPr lang="en-US" altLang="zh-CN" i="1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identical to</a:t>
            </a: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the semantics of </a:t>
            </a:r>
            <a:r>
              <a:rPr lang="en-US" altLang="zh-CN" i="1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initialization</a:t>
            </a: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and </a:t>
            </a:r>
            <a:r>
              <a:rPr lang="en-US" altLang="zh-CN" i="1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different</a:t>
            </a: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from the semantics of </a:t>
            </a:r>
            <a:r>
              <a:rPr lang="en-US" altLang="zh-CN" i="1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assignment</a:t>
            </a: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prstClr val="white"/>
              </a:buClr>
              <a:buFontTx/>
              <a:buChar char="•"/>
              <a:defRPr/>
            </a:pP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The type of an </a:t>
            </a:r>
            <a:r>
              <a:rPr lang="en-US" altLang="zh-CN" i="1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actual argument</a:t>
            </a: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is checked against the </a:t>
            </a:r>
            <a:r>
              <a:rPr lang="en-US" altLang="zh-CN" i="1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type</a:t>
            </a: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of the corresponding </a:t>
            </a:r>
            <a:r>
              <a:rPr lang="en-US" altLang="zh-CN" i="1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formal argument</a:t>
            </a: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</a:t>
            </a:r>
          </a:p>
        </p:txBody>
      </p:sp>
      <p:sp>
        <p:nvSpPr>
          <p:cNvPr id="136197" name="Rectangle 5"/>
          <p:cNvSpPr>
            <a:spLocks noChangeArrowheads="1"/>
          </p:cNvSpPr>
          <p:nvPr/>
        </p:nvSpPr>
        <p:spPr bwMode="auto">
          <a:xfrm>
            <a:off x="1752600" y="1503363"/>
            <a:ext cx="8763000" cy="533400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algn="ctr">
              <a:buClr>
                <a:srgbClr val="EBEBEB"/>
              </a:buClr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&lt;function name&gt;(&lt;actual arguments&gt;);</a:t>
            </a:r>
            <a:endParaRPr lang="en-US" altLang="zh-CN" i="1">
              <a:solidFill>
                <a:prstClr val="black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50467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36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36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6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6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6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6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6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6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5" grpId="0" autoUpdateAnimBg="0"/>
      <p:bldP spid="136196" grpId="0" build="p" autoUpdateAnimBg="0"/>
      <p:bldP spid="136197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057400" y="76200"/>
            <a:ext cx="8077200" cy="6096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dirty="0" smtClean="0"/>
              <a:t>  Argument Passing(continued)</a:t>
            </a:r>
          </a:p>
        </p:txBody>
      </p:sp>
      <p:sp>
        <p:nvSpPr>
          <p:cNvPr id="137221" name="Rectangle 5"/>
          <p:cNvSpPr>
            <a:spLocks noChangeArrowheads="1"/>
          </p:cNvSpPr>
          <p:nvPr/>
        </p:nvSpPr>
        <p:spPr bwMode="auto">
          <a:xfrm>
            <a:off x="1676400" y="871538"/>
            <a:ext cx="8839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marL="609600" indent="-609600">
              <a:lnSpc>
                <a:spcPct val="95000"/>
              </a:lnSpc>
              <a:spcBef>
                <a:spcPct val="20000"/>
              </a:spcBef>
              <a:buClr>
                <a:prstClr val="white"/>
              </a:buClr>
              <a:defRPr/>
            </a:pPr>
            <a:r>
              <a:rPr lang="en-US" altLang="zh-CN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Two Modes </a:t>
            </a:r>
            <a:r>
              <a:rPr lang="en-US" altLang="zh-CN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of Argument Passing</a:t>
            </a:r>
          </a:p>
        </p:txBody>
      </p:sp>
      <p:sp>
        <p:nvSpPr>
          <p:cNvPr id="137231" name="Line 15"/>
          <p:cNvSpPr>
            <a:spLocks noChangeShapeType="1"/>
          </p:cNvSpPr>
          <p:nvPr/>
        </p:nvSpPr>
        <p:spPr bwMode="auto">
          <a:xfrm>
            <a:off x="9144000" y="1066800"/>
            <a:ext cx="2730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lnSpc>
                <a:spcPct val="130000"/>
              </a:lnSpc>
              <a:spcBef>
                <a:spcPct val="20000"/>
              </a:spcBef>
              <a:buClr>
                <a:srgbClr val="EBEBEB"/>
              </a:buClr>
              <a:buSzPct val="75000"/>
              <a:buFont typeface="Wingdings" panose="05000000000000000000" pitchFamily="2" charset="2"/>
              <a:buNone/>
              <a:defRPr/>
            </a:pPr>
            <a:endParaRPr lang="en-US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2133600" y="1836738"/>
            <a:ext cx="7620000" cy="2963862"/>
            <a:chOff x="384" y="1248"/>
            <a:chExt cx="4800" cy="1867"/>
          </a:xfrm>
        </p:grpSpPr>
        <p:sp>
          <p:nvSpPr>
            <p:cNvPr id="104454" name="Text Box 7"/>
            <p:cNvSpPr txBox="1">
              <a:spLocks noChangeArrowheads="1"/>
            </p:cNvSpPr>
            <p:nvPr/>
          </p:nvSpPr>
          <p:spPr bwMode="auto">
            <a:xfrm>
              <a:off x="384" y="2064"/>
              <a:ext cx="1344" cy="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algn="ctr">
                <a:lnSpc>
                  <a:spcPct val="7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>
                  <a:solidFill>
                    <a:prstClr val="white"/>
                  </a:solidFill>
                </a:rPr>
                <a:t>the modes of argument passing </a:t>
              </a:r>
            </a:p>
          </p:txBody>
        </p:sp>
        <p:sp>
          <p:nvSpPr>
            <p:cNvPr id="104455" name="Text Box 8"/>
            <p:cNvSpPr txBox="1">
              <a:spLocks noChangeArrowheads="1"/>
            </p:cNvSpPr>
            <p:nvPr/>
          </p:nvSpPr>
          <p:spPr bwMode="auto">
            <a:xfrm>
              <a:off x="2016" y="1710"/>
              <a:ext cx="1152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>
                  <a:solidFill>
                    <a:prstClr val="white"/>
                  </a:solidFill>
                </a:rPr>
                <a:t>passing by value</a:t>
              </a:r>
            </a:p>
          </p:txBody>
        </p:sp>
        <p:sp>
          <p:nvSpPr>
            <p:cNvPr id="104456" name="Text Box 9"/>
            <p:cNvSpPr txBox="1">
              <a:spLocks noChangeArrowheads="1"/>
            </p:cNvSpPr>
            <p:nvPr/>
          </p:nvSpPr>
          <p:spPr bwMode="auto">
            <a:xfrm>
              <a:off x="2016" y="2688"/>
              <a:ext cx="1104" cy="4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>
                  <a:solidFill>
                    <a:prstClr val="white"/>
                  </a:solidFill>
                </a:rPr>
                <a:t>passing by reference</a:t>
              </a:r>
            </a:p>
          </p:txBody>
        </p:sp>
        <p:sp>
          <p:nvSpPr>
            <p:cNvPr id="137235" name="AutoShape 19"/>
            <p:cNvSpPr>
              <a:spLocks/>
            </p:cNvSpPr>
            <p:nvPr/>
          </p:nvSpPr>
          <p:spPr bwMode="auto">
            <a:xfrm>
              <a:off x="1728" y="1968"/>
              <a:ext cx="240" cy="974"/>
            </a:xfrm>
            <a:prstGeom prst="leftBrace">
              <a:avLst>
                <a:gd name="adj1" fmla="val 33819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20000"/>
                </a:spcBef>
                <a:buClr>
                  <a:srgbClr val="EBEBEB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lang="en-US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4459" name="Text Box 20"/>
            <p:cNvSpPr txBox="1">
              <a:spLocks noChangeArrowheads="1"/>
            </p:cNvSpPr>
            <p:nvPr/>
          </p:nvSpPr>
          <p:spPr bwMode="auto">
            <a:xfrm>
              <a:off x="3456" y="1248"/>
              <a:ext cx="1728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zh-CN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7168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37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21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2" name="Rectangle 4"/>
          <p:cNvSpPr>
            <a:spLocks noGrp="1" noChangeArrowheads="1"/>
          </p:cNvSpPr>
          <p:nvPr>
            <p:ph type="title"/>
          </p:nvPr>
        </p:nvSpPr>
        <p:spPr>
          <a:xfrm>
            <a:off x="2057400" y="76200"/>
            <a:ext cx="8077200" cy="6096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dirty="0" smtClean="0"/>
              <a:t>  Argument Passing(continued)</a:t>
            </a:r>
          </a:p>
        </p:txBody>
      </p:sp>
      <p:sp>
        <p:nvSpPr>
          <p:cNvPr id="140293" name="Text Box 5"/>
          <p:cNvSpPr txBox="1">
            <a:spLocks noChangeArrowheads="1"/>
          </p:cNvSpPr>
          <p:nvPr/>
        </p:nvSpPr>
        <p:spPr bwMode="auto">
          <a:xfrm>
            <a:off x="1676400" y="889035"/>
            <a:ext cx="8839200" cy="5949880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000" rIns="0" bIns="72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srgbClr val="A50021"/>
                </a:solidFill>
                <a:ea typeface="楷体_GB2312" pitchFamily="49" charset="-122"/>
              </a:rPr>
              <a:t>//</a:t>
            </a:r>
            <a:r>
              <a:rPr lang="en-US" altLang="zh-CN" i="1" dirty="0" smtClean="0">
                <a:solidFill>
                  <a:srgbClr val="A50021"/>
                </a:solidFill>
                <a:ea typeface="楷体_GB2312" pitchFamily="49" charset="-122"/>
              </a:rPr>
              <a:t>example: </a:t>
            </a:r>
            <a:r>
              <a:rPr lang="en-US" altLang="zh-CN" i="1" dirty="0">
                <a:solidFill>
                  <a:srgbClr val="A50021"/>
                </a:solidFill>
                <a:ea typeface="楷体_GB2312" pitchFamily="49" charset="-122"/>
              </a:rPr>
              <a:t>passing by value</a:t>
            </a:r>
          </a:p>
          <a:p>
            <a:pPr>
              <a:lnSpc>
                <a:spcPct val="2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#include &lt;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iostream.h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&gt;</a:t>
            </a:r>
          </a:p>
          <a:p>
            <a:pPr>
              <a:lnSpc>
                <a:spcPct val="2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void swap1(</a:t>
            </a:r>
            <a:r>
              <a:rPr lang="en-US" altLang="zh-CN" i="1" dirty="0" err="1">
                <a:solidFill>
                  <a:srgbClr val="FF0000"/>
                </a:solidFill>
                <a:ea typeface="楷体_GB2312" pitchFamily="49" charset="-122"/>
              </a:rPr>
              <a:t>int</a:t>
            </a:r>
            <a:r>
              <a:rPr lang="en-US" altLang="zh-CN" i="1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en-US" altLang="zh-CN" i="1" dirty="0" err="1">
                <a:solidFill>
                  <a:srgbClr val="FF0000"/>
                </a:solidFill>
                <a:ea typeface="楷体_GB2312" pitchFamily="49" charset="-122"/>
              </a:rPr>
              <a:t>x,int</a:t>
            </a:r>
            <a:r>
              <a:rPr lang="en-US" altLang="zh-CN" i="1" dirty="0">
                <a:solidFill>
                  <a:srgbClr val="FF0000"/>
                </a:solidFill>
                <a:ea typeface="楷体_GB2312" pitchFamily="49" charset="-122"/>
              </a:rPr>
              <a:t> y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)</a:t>
            </a:r>
          </a:p>
          <a:p>
            <a:pPr>
              <a:lnSpc>
                <a:spcPct val="2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{</a:t>
            </a:r>
          </a:p>
          <a:p>
            <a:pPr>
              <a:lnSpc>
                <a:spcPct val="2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   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int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temp;</a:t>
            </a:r>
          </a:p>
          <a:p>
            <a:pPr>
              <a:lnSpc>
                <a:spcPct val="2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   temp=x;</a:t>
            </a:r>
          </a:p>
          <a:p>
            <a:pPr>
              <a:lnSpc>
                <a:spcPct val="2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   x=y;</a:t>
            </a:r>
          </a:p>
          <a:p>
            <a:pPr>
              <a:lnSpc>
                <a:spcPct val="2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   y=temp;</a:t>
            </a:r>
          </a:p>
          <a:p>
            <a:pPr>
              <a:lnSpc>
                <a:spcPct val="2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   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cout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&lt;&lt;"x="&lt;&lt;x&lt;&lt;", "&lt;&lt;"y="&lt;&lt;y&lt;&lt;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endl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;</a:t>
            </a:r>
          </a:p>
          <a:p>
            <a:pPr>
              <a:lnSpc>
                <a:spcPct val="2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}</a:t>
            </a:r>
          </a:p>
          <a:p>
            <a:pPr>
              <a:lnSpc>
                <a:spcPct val="2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void main()</a:t>
            </a:r>
          </a:p>
          <a:p>
            <a:pPr>
              <a:lnSpc>
                <a:spcPct val="2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{</a:t>
            </a:r>
          </a:p>
          <a:p>
            <a:pPr>
              <a:lnSpc>
                <a:spcPct val="2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   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int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a(5),b(9);</a:t>
            </a:r>
          </a:p>
          <a:p>
            <a:pPr>
              <a:lnSpc>
                <a:spcPct val="2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   swap1(</a:t>
            </a:r>
            <a:r>
              <a:rPr lang="en-US" altLang="zh-CN" i="1" dirty="0" err="1">
                <a:solidFill>
                  <a:srgbClr val="FF0000"/>
                </a:solidFill>
                <a:ea typeface="楷体_GB2312" pitchFamily="49" charset="-122"/>
              </a:rPr>
              <a:t>a,b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);</a:t>
            </a:r>
          </a:p>
          <a:p>
            <a:pPr>
              <a:lnSpc>
                <a:spcPct val="2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   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cout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&lt;&lt;"a="&lt;&lt;a&lt;&lt;", "&lt;&lt;"b="&lt;&lt;b&lt;&lt;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endl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;</a:t>
            </a:r>
          </a:p>
          <a:p>
            <a:pPr>
              <a:lnSpc>
                <a:spcPct val="2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}</a:t>
            </a:r>
          </a:p>
        </p:txBody>
      </p:sp>
      <p:sp>
        <p:nvSpPr>
          <p:cNvPr id="140294" name="Text Box 6"/>
          <p:cNvSpPr txBox="1">
            <a:spLocks noChangeArrowheads="1"/>
          </p:cNvSpPr>
          <p:nvPr/>
        </p:nvSpPr>
        <p:spPr bwMode="auto">
          <a:xfrm>
            <a:off x="6934200" y="1436689"/>
            <a:ext cx="3352800" cy="1412875"/>
          </a:xfrm>
          <a:prstGeom prst="rect">
            <a:avLst/>
          </a:prstGeom>
          <a:gradFill rotWithShape="0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000" rIns="0" bIns="72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srgbClr val="003399"/>
                </a:solidFill>
                <a:ea typeface="楷体_GB2312" pitchFamily="49" charset="-122"/>
              </a:rPr>
              <a:t>Output</a:t>
            </a:r>
            <a:r>
              <a:rPr lang="zh-CN" altLang="en-US" i="1">
                <a:solidFill>
                  <a:srgbClr val="003399"/>
                </a:solidFill>
                <a:ea typeface="楷体_GB2312" pitchFamily="49" charset="-122"/>
              </a:rPr>
              <a:t>：</a:t>
            </a:r>
          </a:p>
          <a:p>
            <a:pPr>
              <a:lnSpc>
                <a:spcPct val="4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zh-CN" altLang="en-US">
                <a:solidFill>
                  <a:srgbClr val="003399"/>
                </a:solidFill>
                <a:ea typeface="楷体_GB2312" pitchFamily="49" charset="-122"/>
              </a:rPr>
              <a:t>　　</a:t>
            </a:r>
            <a:r>
              <a:rPr lang="en-US" altLang="zh-CN">
                <a:solidFill>
                  <a:srgbClr val="003399"/>
                </a:solidFill>
                <a:ea typeface="楷体_GB2312" pitchFamily="49" charset="-122"/>
              </a:rPr>
              <a:t>x=9,y=5</a:t>
            </a:r>
          </a:p>
          <a:p>
            <a:pPr>
              <a:lnSpc>
                <a:spcPct val="4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zh-CN" altLang="en-US">
                <a:solidFill>
                  <a:srgbClr val="003399"/>
                </a:solidFill>
                <a:ea typeface="楷体_GB2312" pitchFamily="49" charset="-122"/>
              </a:rPr>
              <a:t>　　</a:t>
            </a:r>
            <a:r>
              <a:rPr lang="en-US" altLang="zh-CN">
                <a:solidFill>
                  <a:srgbClr val="003399"/>
                </a:solidFill>
                <a:ea typeface="楷体_GB2312" pitchFamily="49" charset="-122"/>
              </a:rPr>
              <a:t>a=5,b=9</a:t>
            </a:r>
          </a:p>
        </p:txBody>
      </p:sp>
    </p:spTree>
    <p:extLst>
      <p:ext uri="{BB962C8B-B14F-4D97-AF65-F5344CB8AC3E}">
        <p14:creationId xmlns:p14="http://schemas.microsoft.com/office/powerpoint/2010/main" val="3041978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40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0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3" grpId="0" animBg="1" autoUpdateAnimBg="0"/>
      <p:bldP spid="140294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40" name="Rectangle 4"/>
          <p:cNvSpPr>
            <a:spLocks noGrp="1" noChangeArrowheads="1"/>
          </p:cNvSpPr>
          <p:nvPr>
            <p:ph type="title"/>
          </p:nvPr>
        </p:nvSpPr>
        <p:spPr>
          <a:xfrm>
            <a:off x="2057400" y="76200"/>
            <a:ext cx="8077200" cy="6096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dirty="0" smtClean="0"/>
              <a:t> Argument Passing(continued)</a:t>
            </a:r>
          </a:p>
        </p:txBody>
      </p:sp>
      <p:sp>
        <p:nvSpPr>
          <p:cNvPr id="142341" name="Text Box 5"/>
          <p:cNvSpPr txBox="1">
            <a:spLocks noChangeArrowheads="1"/>
          </p:cNvSpPr>
          <p:nvPr/>
        </p:nvSpPr>
        <p:spPr bwMode="auto">
          <a:xfrm>
            <a:off x="1676400" y="885860"/>
            <a:ext cx="8839200" cy="5949880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000" rIns="0" bIns="72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srgbClr val="A50021"/>
                </a:solidFill>
                <a:ea typeface="楷体_GB2312" pitchFamily="49" charset="-122"/>
              </a:rPr>
              <a:t>//</a:t>
            </a:r>
            <a:r>
              <a:rPr lang="en-US" altLang="zh-CN" i="1" dirty="0" smtClean="0">
                <a:solidFill>
                  <a:srgbClr val="A50021"/>
                </a:solidFill>
                <a:ea typeface="楷体_GB2312" pitchFamily="49" charset="-122"/>
              </a:rPr>
              <a:t>example: </a:t>
            </a:r>
            <a:r>
              <a:rPr lang="en-US" altLang="zh-CN" i="1" dirty="0">
                <a:solidFill>
                  <a:srgbClr val="A50021"/>
                </a:solidFill>
                <a:ea typeface="楷体_GB2312" pitchFamily="49" charset="-122"/>
              </a:rPr>
              <a:t>passing by reference</a:t>
            </a:r>
          </a:p>
          <a:p>
            <a:pPr>
              <a:lnSpc>
                <a:spcPct val="2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#include &lt;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iostream.h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&gt;</a:t>
            </a:r>
          </a:p>
          <a:p>
            <a:pPr>
              <a:lnSpc>
                <a:spcPct val="2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void swap3(</a:t>
            </a:r>
            <a:r>
              <a:rPr lang="en-US" altLang="zh-CN" i="1" dirty="0" err="1">
                <a:solidFill>
                  <a:srgbClr val="FF0000"/>
                </a:solidFill>
                <a:ea typeface="楷体_GB2312" pitchFamily="49" charset="-122"/>
              </a:rPr>
              <a:t>int</a:t>
            </a:r>
            <a:r>
              <a:rPr lang="en-US" altLang="zh-CN" i="1" dirty="0">
                <a:solidFill>
                  <a:srgbClr val="FF0000"/>
                </a:solidFill>
                <a:ea typeface="楷体_GB2312" pitchFamily="49" charset="-122"/>
              </a:rPr>
              <a:t> &amp;</a:t>
            </a:r>
            <a:r>
              <a:rPr lang="en-US" altLang="zh-CN" i="1" dirty="0" err="1">
                <a:solidFill>
                  <a:srgbClr val="FF0000"/>
                </a:solidFill>
                <a:ea typeface="楷体_GB2312" pitchFamily="49" charset="-122"/>
              </a:rPr>
              <a:t>x,int</a:t>
            </a:r>
            <a:r>
              <a:rPr lang="en-US" altLang="zh-CN" i="1" dirty="0">
                <a:solidFill>
                  <a:srgbClr val="FF0000"/>
                </a:solidFill>
                <a:ea typeface="楷体_GB2312" pitchFamily="49" charset="-122"/>
              </a:rPr>
              <a:t> &amp;y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)</a:t>
            </a:r>
          </a:p>
          <a:p>
            <a:pPr>
              <a:lnSpc>
                <a:spcPct val="2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{</a:t>
            </a:r>
          </a:p>
          <a:p>
            <a:pPr>
              <a:lnSpc>
                <a:spcPct val="2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   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int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temp;</a:t>
            </a:r>
          </a:p>
          <a:p>
            <a:pPr>
              <a:lnSpc>
                <a:spcPct val="2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   temp=</a:t>
            </a:r>
            <a:r>
              <a:rPr lang="en-US" altLang="zh-CN" i="1" dirty="0">
                <a:solidFill>
                  <a:srgbClr val="A50021"/>
                </a:solidFill>
                <a:ea typeface="楷体_GB2312" pitchFamily="49" charset="-122"/>
              </a:rPr>
              <a:t>x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;</a:t>
            </a:r>
          </a:p>
          <a:p>
            <a:pPr>
              <a:lnSpc>
                <a:spcPct val="2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   </a:t>
            </a:r>
            <a:r>
              <a:rPr lang="en-US" altLang="zh-CN" i="1" dirty="0">
                <a:solidFill>
                  <a:srgbClr val="A50021"/>
                </a:solidFill>
                <a:ea typeface="楷体_GB2312" pitchFamily="49" charset="-122"/>
              </a:rPr>
              <a:t>x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=</a:t>
            </a:r>
            <a:r>
              <a:rPr lang="en-US" altLang="zh-CN" i="1" dirty="0">
                <a:solidFill>
                  <a:srgbClr val="A50021"/>
                </a:solidFill>
                <a:ea typeface="楷体_GB2312" pitchFamily="49" charset="-122"/>
              </a:rPr>
              <a:t>y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;</a:t>
            </a:r>
          </a:p>
          <a:p>
            <a:pPr>
              <a:lnSpc>
                <a:spcPct val="2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   </a:t>
            </a:r>
            <a:r>
              <a:rPr lang="en-US" altLang="zh-CN" i="1" dirty="0">
                <a:solidFill>
                  <a:srgbClr val="A50021"/>
                </a:solidFill>
                <a:ea typeface="楷体_GB2312" pitchFamily="49" charset="-122"/>
              </a:rPr>
              <a:t>y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=temp;</a:t>
            </a:r>
          </a:p>
          <a:p>
            <a:pPr>
              <a:lnSpc>
                <a:spcPct val="2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   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cout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&lt;&lt;"x="&lt;&lt;</a:t>
            </a:r>
            <a:r>
              <a:rPr lang="en-US" altLang="zh-CN" i="1" dirty="0">
                <a:solidFill>
                  <a:srgbClr val="A50021"/>
                </a:solidFill>
                <a:ea typeface="楷体_GB2312" pitchFamily="49" charset="-122"/>
              </a:rPr>
              <a:t>x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&lt;&lt;", "&lt;&lt;"y="&lt;&lt;</a:t>
            </a:r>
            <a:r>
              <a:rPr lang="en-US" altLang="zh-CN" i="1" dirty="0">
                <a:solidFill>
                  <a:srgbClr val="A50021"/>
                </a:solidFill>
                <a:ea typeface="楷体_GB2312" pitchFamily="49" charset="-122"/>
              </a:rPr>
              <a:t>y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&lt;&lt;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endl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;</a:t>
            </a:r>
          </a:p>
          <a:p>
            <a:pPr>
              <a:lnSpc>
                <a:spcPct val="2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}</a:t>
            </a:r>
          </a:p>
          <a:p>
            <a:pPr>
              <a:lnSpc>
                <a:spcPct val="2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void main()</a:t>
            </a:r>
          </a:p>
          <a:p>
            <a:pPr>
              <a:lnSpc>
                <a:spcPct val="2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{</a:t>
            </a:r>
          </a:p>
          <a:p>
            <a:pPr>
              <a:lnSpc>
                <a:spcPct val="2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   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int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a(5),b(9);</a:t>
            </a:r>
          </a:p>
          <a:p>
            <a:pPr>
              <a:lnSpc>
                <a:spcPct val="2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   swap3(</a:t>
            </a:r>
            <a:r>
              <a:rPr lang="en-US" altLang="zh-CN" i="1" dirty="0" err="1">
                <a:solidFill>
                  <a:srgbClr val="FF0000"/>
                </a:solidFill>
                <a:ea typeface="楷体_GB2312" pitchFamily="49" charset="-122"/>
              </a:rPr>
              <a:t>a,b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);</a:t>
            </a:r>
          </a:p>
          <a:p>
            <a:pPr>
              <a:lnSpc>
                <a:spcPct val="2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   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cout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&lt;&lt;"a="&lt;&lt;a&lt;&lt;", "&lt;&lt;"b="&lt;&lt;b&lt;&lt;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endl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;</a:t>
            </a:r>
          </a:p>
          <a:p>
            <a:pPr>
              <a:lnSpc>
                <a:spcPct val="2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}</a:t>
            </a:r>
          </a:p>
        </p:txBody>
      </p:sp>
      <p:sp>
        <p:nvSpPr>
          <p:cNvPr id="142342" name="Text Box 6"/>
          <p:cNvSpPr txBox="1">
            <a:spLocks noChangeArrowheads="1"/>
          </p:cNvSpPr>
          <p:nvPr/>
        </p:nvSpPr>
        <p:spPr bwMode="auto">
          <a:xfrm>
            <a:off x="6934200" y="1428750"/>
            <a:ext cx="3352800" cy="1422400"/>
          </a:xfrm>
          <a:prstGeom prst="rect">
            <a:avLst/>
          </a:prstGeom>
          <a:gradFill rotWithShape="0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rgbClr val="CCFFFF"/>
            </a:solidFill>
            <a:miter lim="800000"/>
            <a:headEnd/>
            <a:tailEnd/>
          </a:ln>
        </p:spPr>
        <p:txBody>
          <a:bodyPr lIns="0" tIns="72000" rIns="0" bIns="72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srgbClr val="003399"/>
                </a:solidFill>
                <a:ea typeface="楷体_GB2312" pitchFamily="49" charset="-122"/>
              </a:rPr>
              <a:t>Output</a:t>
            </a:r>
            <a:r>
              <a:rPr lang="zh-CN" altLang="en-US">
                <a:solidFill>
                  <a:srgbClr val="003399"/>
                </a:solidFill>
                <a:ea typeface="楷体_GB2312" pitchFamily="49" charset="-122"/>
              </a:rPr>
              <a:t>：</a:t>
            </a:r>
          </a:p>
          <a:p>
            <a:pPr>
              <a:lnSpc>
                <a:spcPct val="4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zh-CN" altLang="en-US">
                <a:solidFill>
                  <a:srgbClr val="003399"/>
                </a:solidFill>
                <a:ea typeface="楷体_GB2312" pitchFamily="49" charset="-122"/>
              </a:rPr>
              <a:t>　　</a:t>
            </a:r>
            <a:r>
              <a:rPr lang="en-US" altLang="zh-CN">
                <a:solidFill>
                  <a:srgbClr val="003399"/>
                </a:solidFill>
                <a:ea typeface="楷体_GB2312" pitchFamily="49" charset="-122"/>
              </a:rPr>
              <a:t>x=9,y=5</a:t>
            </a:r>
          </a:p>
          <a:p>
            <a:pPr>
              <a:lnSpc>
                <a:spcPct val="4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zh-CN" altLang="en-US">
                <a:solidFill>
                  <a:srgbClr val="003399"/>
                </a:solidFill>
                <a:ea typeface="楷体_GB2312" pitchFamily="49" charset="-122"/>
              </a:rPr>
              <a:t>　　</a:t>
            </a:r>
            <a:r>
              <a:rPr lang="en-US" altLang="zh-CN">
                <a:solidFill>
                  <a:srgbClr val="003399"/>
                </a:solidFill>
                <a:ea typeface="楷体_GB2312" pitchFamily="49" charset="-122"/>
              </a:rPr>
              <a:t>a=9,b=5</a:t>
            </a:r>
          </a:p>
        </p:txBody>
      </p:sp>
    </p:spTree>
    <p:extLst>
      <p:ext uri="{BB962C8B-B14F-4D97-AF65-F5344CB8AC3E}">
        <p14:creationId xmlns:p14="http://schemas.microsoft.com/office/powerpoint/2010/main" val="2604377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2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41" grpId="0" animBg="1" autoUpdateAnimBg="0"/>
      <p:bldP spid="142342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4" name="Rectangle 4"/>
          <p:cNvSpPr>
            <a:spLocks noGrp="1" noChangeArrowheads="1"/>
          </p:cNvSpPr>
          <p:nvPr>
            <p:ph type="title"/>
          </p:nvPr>
        </p:nvSpPr>
        <p:spPr>
          <a:xfrm>
            <a:off x="2057400" y="76200"/>
            <a:ext cx="8077200" cy="6096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dirty="0" smtClean="0"/>
              <a:t>   Argument Passing(continued)</a:t>
            </a:r>
          </a:p>
        </p:txBody>
      </p:sp>
      <p:graphicFrame>
        <p:nvGraphicFramePr>
          <p:cNvPr id="143453" name="Group 93"/>
          <p:cNvGraphicFramePr>
            <a:graphicFrameLocks noGrp="1"/>
          </p:cNvGraphicFramePr>
          <p:nvPr/>
        </p:nvGraphicFramePr>
        <p:xfrm>
          <a:off x="1614488" y="969963"/>
          <a:ext cx="8991600" cy="5742150"/>
        </p:xfrm>
        <a:graphic>
          <a:graphicData uri="http://schemas.openxmlformats.org/drawingml/2006/table">
            <a:tbl>
              <a:tblPr/>
              <a:tblGrid>
                <a:gridCol w="1738312"/>
                <a:gridCol w="2743200"/>
                <a:gridCol w="2262188"/>
                <a:gridCol w="2247900"/>
              </a:tblGrid>
              <a:tr h="6888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SimSun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SimSun" pitchFamily="2" charset="-122"/>
                        </a:rPr>
                        <a:t>Passing by value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SimSun" pitchFamily="2" charset="-122"/>
                        </a:rPr>
                        <a:t>Passing by address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SimSun" pitchFamily="2" charset="-122"/>
                        </a:rPr>
                        <a:t>Passing by reference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88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SimSun" pitchFamily="2" charset="-122"/>
                        </a:rPr>
                        <a:t>Formal arguments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66FF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SimSun" pitchFamily="2" charset="-122"/>
                        </a:rPr>
                        <a:t>Variables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66FF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SimSun" pitchFamily="2" charset="-122"/>
                        </a:rPr>
                        <a:t>Pointers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66FF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SimSun" pitchFamily="2" charset="-122"/>
                        </a:rPr>
                        <a:t>References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159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SimSun" pitchFamily="2" charset="-122"/>
                        </a:rPr>
                        <a:t>Actual arguments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SimSun" pitchFamily="2" charset="-122"/>
                        </a:rPr>
                        <a:t>(constants, variables,statements) Data value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SimSun" pitchFamily="2" charset="-122"/>
                        </a:rPr>
                        <a:t>Address value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SimSun" pitchFamily="2" charset="-122"/>
                        </a:rPr>
                        <a:t>Variable names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848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SimSun" pitchFamily="2" charset="-122"/>
                        </a:rPr>
                        <a:t>Characteristic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SimSun" pitchFamily="2" charset="-122"/>
                        </a:rPr>
                        <a:t>The copy of the actual argument’s data value is passed to formal arguments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SimSun" pitchFamily="2" charset="-122"/>
                        </a:rPr>
                        <a:t>Formal arguments is pointed to the actual arguments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SimSun" pitchFamily="2" charset="-122"/>
                        </a:rPr>
                        <a:t>Formal arguments refer to actual arguments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635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SimSun" pitchFamily="2" charset="-122"/>
                        </a:rPr>
                        <a:t>Effects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SimSun" pitchFamily="2" charset="-122"/>
                        </a:rPr>
                        <a:t>Formal and actual arguments are individual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SimSun" pitchFamily="2" charset="-122"/>
                        </a:rPr>
                        <a:t>Formal and actual arguments are changed </a:t>
                      </a:r>
                      <a:r>
                        <a:rPr kumimoji="1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SimSun" pitchFamily="2" charset="-122"/>
                        </a:rPr>
                        <a:t>simultaneously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SimSun" pitchFamily="2" charset="-122"/>
                        </a:rPr>
                        <a:t>Formal and actual arguments are changed </a:t>
                      </a:r>
                      <a:r>
                        <a:rPr kumimoji="1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SimSun" pitchFamily="2" charset="-122"/>
                        </a:rPr>
                        <a:t>simultaneously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1712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43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4" name="Rectangle 4"/>
          <p:cNvSpPr>
            <a:spLocks noGrp="1" noChangeArrowheads="1"/>
          </p:cNvSpPr>
          <p:nvPr>
            <p:ph type="title"/>
          </p:nvPr>
        </p:nvSpPr>
        <p:spPr>
          <a:xfrm>
            <a:off x="2057400" y="76200"/>
            <a:ext cx="8077200" cy="6096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dirty="0" smtClean="0"/>
              <a:t>  Argument Passing(continued)</a:t>
            </a:r>
          </a:p>
        </p:txBody>
      </p:sp>
      <p:sp>
        <p:nvSpPr>
          <p:cNvPr id="138245" name="Rectangle 5"/>
          <p:cNvSpPr>
            <a:spLocks noChangeArrowheads="1"/>
          </p:cNvSpPr>
          <p:nvPr/>
        </p:nvSpPr>
        <p:spPr bwMode="auto">
          <a:xfrm>
            <a:off x="1676400" y="871538"/>
            <a:ext cx="8839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marL="609600" indent="-609600">
              <a:lnSpc>
                <a:spcPct val="95000"/>
              </a:lnSpc>
              <a:spcBef>
                <a:spcPct val="20000"/>
              </a:spcBef>
              <a:buClr>
                <a:prstClr val="white"/>
              </a:buClr>
              <a:defRPr/>
            </a:pPr>
            <a:r>
              <a:rPr lang="en-US" altLang="zh-CN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const</a:t>
            </a:r>
            <a:r>
              <a:rPr lang="en-US" altLang="zh-CN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arguments</a:t>
            </a:r>
          </a:p>
        </p:txBody>
      </p:sp>
      <p:sp>
        <p:nvSpPr>
          <p:cNvPr id="138247" name="Rectangle 7"/>
          <p:cNvSpPr>
            <a:spLocks noChangeArrowheads="1"/>
          </p:cNvSpPr>
          <p:nvPr/>
        </p:nvSpPr>
        <p:spPr bwMode="auto">
          <a:xfrm>
            <a:off x="1600200" y="1524000"/>
            <a:ext cx="90678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prstClr val="white"/>
              </a:buClr>
              <a:buFontTx/>
              <a:buChar char="•"/>
              <a:defRPr/>
            </a:pP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The aim: improving efficiency.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prstClr val="white"/>
              </a:buClr>
              <a:buFontTx/>
              <a:buChar char="•"/>
              <a:defRPr/>
            </a:pP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The features: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prstClr val="white"/>
              </a:buClr>
              <a:defRPr/>
            </a:pP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- </a:t>
            </a:r>
            <a:r>
              <a:rPr lang="en-US" altLang="zh-CN" i="1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Can’t</a:t>
            </a: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to enable the called function to </a:t>
            </a:r>
            <a:r>
              <a:rPr lang="en-US" altLang="zh-CN" i="1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change</a:t>
            </a: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the value of the </a:t>
            </a:r>
            <a:r>
              <a:rPr lang="en-US" altLang="zh-CN" i="1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const argument</a:t>
            </a: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</a:t>
            </a:r>
          </a:p>
        </p:txBody>
      </p:sp>
      <p:sp>
        <p:nvSpPr>
          <p:cNvPr id="138250" name="Text Box 10"/>
          <p:cNvSpPr txBox="1">
            <a:spLocks noChangeArrowheads="1"/>
          </p:cNvSpPr>
          <p:nvPr/>
        </p:nvSpPr>
        <p:spPr bwMode="auto">
          <a:xfrm>
            <a:off x="1600200" y="3429000"/>
            <a:ext cx="8991600" cy="2243138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000" rIns="0" bIns="72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void f(</a:t>
            </a:r>
            <a:r>
              <a:rPr lang="en-US" altLang="zh-CN" i="1">
                <a:solidFill>
                  <a:srgbClr val="FF0000"/>
                </a:solidFill>
                <a:ea typeface="楷体_GB2312" pitchFamily="49" charset="-122"/>
              </a:rPr>
              <a:t>const Large&amp; arg</a:t>
            </a: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)</a:t>
            </a:r>
            <a:endParaRPr lang="en-US" altLang="zh-CN" i="1">
              <a:solidFill>
                <a:srgbClr val="FF0000"/>
              </a:solidFill>
              <a:ea typeface="楷体_GB2312" pitchFamily="49" charset="-122"/>
            </a:endParaRPr>
          </a:p>
          <a:p>
            <a:pPr>
              <a:lnSpc>
                <a:spcPct val="4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{</a:t>
            </a:r>
          </a:p>
          <a:p>
            <a:pPr>
              <a:lnSpc>
                <a:spcPct val="4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    //the value of  "arg" cannot be changed without </a:t>
            </a:r>
          </a:p>
          <a:p>
            <a:pPr>
              <a:lnSpc>
                <a:spcPct val="4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    //explicit use of type conversion</a:t>
            </a:r>
          </a:p>
          <a:p>
            <a:pPr>
              <a:lnSpc>
                <a:spcPct val="4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}</a:t>
            </a:r>
          </a:p>
        </p:txBody>
      </p:sp>
      <p:sp>
        <p:nvSpPr>
          <p:cNvPr id="138251" name="Text Box 11"/>
          <p:cNvSpPr txBox="1">
            <a:spLocks noChangeArrowheads="1"/>
          </p:cNvSpPr>
          <p:nvPr/>
        </p:nvSpPr>
        <p:spPr bwMode="auto">
          <a:xfrm>
            <a:off x="1600200" y="5710306"/>
            <a:ext cx="8991600" cy="933314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000" rIns="0" bIns="72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//assume that g() modifies arg</a:t>
            </a:r>
            <a:endParaRPr lang="en-US" altLang="zh-CN" i="1">
              <a:solidFill>
                <a:srgbClr val="FF0000"/>
              </a:solidFill>
              <a:ea typeface="楷体_GB2312" pitchFamily="49" charset="-122"/>
            </a:endParaRPr>
          </a:p>
          <a:p>
            <a:pPr>
              <a:lnSpc>
                <a:spcPct val="4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void g(</a:t>
            </a:r>
            <a:r>
              <a:rPr lang="en-US" altLang="zh-CN" i="1">
                <a:solidFill>
                  <a:srgbClr val="FF0000"/>
                </a:solidFill>
                <a:ea typeface="楷体_GB2312" pitchFamily="49" charset="-122"/>
              </a:rPr>
              <a:t>Large&amp; arg</a:t>
            </a: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909485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38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8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8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82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82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82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82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138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138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5" grpId="0" autoUpdateAnimBg="0"/>
      <p:bldP spid="138247" grpId="0" build="p" autoUpdateAnimBg="0"/>
      <p:bldP spid="138250" grpId="0" animBg="1" autoUpdateAnimBg="0"/>
      <p:bldP spid="138251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2" name="Rectangle 4"/>
          <p:cNvSpPr>
            <a:spLocks noGrp="1" noChangeArrowheads="1"/>
          </p:cNvSpPr>
          <p:nvPr>
            <p:ph type="title"/>
          </p:nvPr>
        </p:nvSpPr>
        <p:spPr>
          <a:xfrm>
            <a:off x="2057400" y="76200"/>
            <a:ext cx="8077200" cy="6096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dirty="0" smtClean="0"/>
              <a:t> Argument Passing(continued)</a:t>
            </a:r>
          </a:p>
        </p:txBody>
      </p:sp>
      <p:sp>
        <p:nvSpPr>
          <p:cNvPr id="145413" name="Text Box 5"/>
          <p:cNvSpPr txBox="1">
            <a:spLocks noChangeArrowheads="1"/>
          </p:cNvSpPr>
          <p:nvPr/>
        </p:nvSpPr>
        <p:spPr bwMode="auto">
          <a:xfrm>
            <a:off x="1600200" y="846138"/>
            <a:ext cx="8991600" cy="1363662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000" rIns="0" bIns="72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int strlen(const char*);</a:t>
            </a:r>
            <a:endParaRPr lang="en-US" altLang="zh-CN" i="1">
              <a:solidFill>
                <a:srgbClr val="FF0000"/>
              </a:solidFill>
              <a:ea typeface="楷体_GB2312" pitchFamily="49" charset="-122"/>
            </a:endParaRPr>
          </a:p>
          <a:p>
            <a:pPr>
              <a:lnSpc>
                <a:spcPct val="4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char* strcpy(</a:t>
            </a:r>
            <a:r>
              <a:rPr lang="en-US" altLang="zh-CN" i="1">
                <a:solidFill>
                  <a:srgbClr val="A50021"/>
                </a:solidFill>
                <a:ea typeface="楷体_GB2312" pitchFamily="49" charset="-122"/>
              </a:rPr>
              <a:t>char* to, const char* from</a:t>
            </a: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);</a:t>
            </a:r>
          </a:p>
          <a:p>
            <a:pPr>
              <a:lnSpc>
                <a:spcPct val="4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int strcmp(const char*, const char*);</a:t>
            </a:r>
          </a:p>
        </p:txBody>
      </p:sp>
      <p:sp>
        <p:nvSpPr>
          <p:cNvPr id="145414" name="Rectangle 6"/>
          <p:cNvSpPr>
            <a:spLocks noChangeArrowheads="1"/>
          </p:cNvSpPr>
          <p:nvPr/>
        </p:nvSpPr>
        <p:spPr bwMode="auto">
          <a:xfrm>
            <a:off x="1600200" y="2286000"/>
            <a:ext cx="906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prstClr val="white"/>
              </a:buClr>
              <a:defRPr/>
            </a:pP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- </a:t>
            </a:r>
            <a:r>
              <a:rPr lang="en-US" altLang="zh-CN" i="1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More adaptive;</a:t>
            </a:r>
            <a:endParaRPr lang="en-US" altLang="zh-CN">
              <a:solidFill>
                <a:prstClr val="white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aphicFrame>
        <p:nvGraphicFramePr>
          <p:cNvPr id="145470" name="Group 62"/>
          <p:cNvGraphicFramePr>
            <a:graphicFrameLocks noGrp="1"/>
          </p:cNvGraphicFramePr>
          <p:nvPr/>
        </p:nvGraphicFramePr>
        <p:xfrm>
          <a:off x="2286000" y="2819400"/>
          <a:ext cx="7543800" cy="2765425"/>
        </p:xfrm>
        <a:graphic>
          <a:graphicData uri="http://schemas.openxmlformats.org/drawingml/2006/table">
            <a:tbl>
              <a:tblPr/>
              <a:tblGrid>
                <a:gridCol w="3048000"/>
                <a:gridCol w="2286000"/>
                <a:gridCol w="2209800"/>
              </a:tblGrid>
              <a:tr h="16035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SimSun" pitchFamily="2" charset="-122"/>
                        </a:rPr>
                        <a:t>              formal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SimSun" pitchFamily="2" charset="-122"/>
                        </a:rPr>
                        <a:t>           arguments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SimSun" pitchFamily="2" charset="-122"/>
                        </a:rPr>
                        <a:t>actual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SimSun" pitchFamily="2" charset="-122"/>
                        </a:rPr>
                        <a:t>arguments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SimSun" pitchFamily="2" charset="-122"/>
                        </a:rPr>
                        <a:t>const</a:t>
                      </a:r>
                    </a:p>
                  </a:txBody>
                  <a:tcPr marT="45727" marB="4572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SimSun" pitchFamily="2" charset="-122"/>
                        </a:rPr>
                        <a:t>non-const</a:t>
                      </a:r>
                    </a:p>
                  </a:txBody>
                  <a:tcPr marT="45727" marB="4572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27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SimSun" pitchFamily="2" charset="-122"/>
                        </a:rPr>
                        <a:t>const</a:t>
                      </a:r>
                    </a:p>
                  </a:txBody>
                  <a:tcPr marT="45727" marB="4572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SimSun" pitchFamily="2" charset="-122"/>
                          <a:ea typeface="SimSun" pitchFamily="2" charset="-122"/>
                        </a:rPr>
                        <a:t>√</a:t>
                      </a:r>
                      <a:r>
                        <a:rPr kumimoji="1" lang="en-US" altLang="zh-CN" sz="3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SimSun" pitchFamily="2" charset="-122"/>
                        </a:rPr>
                        <a:t> </a:t>
                      </a:r>
                    </a:p>
                  </a:txBody>
                  <a:tcPr marT="45727" marB="4572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SimSun" pitchFamily="2" charset="-122"/>
                          <a:sym typeface="Symbol" pitchFamily="18" charset="2"/>
                        </a:rPr>
                        <a:t></a:t>
                      </a:r>
                      <a:r>
                        <a:rPr kumimoji="1" lang="en-US" altLang="zh-CN" sz="3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SimSun" pitchFamily="2" charset="-122"/>
                        </a:rPr>
                        <a:t> </a:t>
                      </a:r>
                    </a:p>
                  </a:txBody>
                  <a:tcPr marT="45727" marB="4572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SimSun" pitchFamily="2" charset="-122"/>
                        </a:rPr>
                        <a:t>non-const</a:t>
                      </a:r>
                    </a:p>
                  </a:txBody>
                  <a:tcPr marT="45727" marB="4572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SimSun" pitchFamily="2" charset="-122"/>
                          <a:ea typeface="SimSun" pitchFamily="2" charset="-122"/>
                        </a:rPr>
                        <a:t>√</a:t>
                      </a:r>
                    </a:p>
                  </a:txBody>
                  <a:tcPr marT="45727" marB="4572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SimSun" pitchFamily="2" charset="-122"/>
                          <a:ea typeface="SimSun" pitchFamily="2" charset="-122"/>
                        </a:rPr>
                        <a:t>√</a:t>
                      </a:r>
                    </a:p>
                  </a:txBody>
                  <a:tcPr marT="45727" marB="4572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45471" name="Rectangle 63"/>
          <p:cNvSpPr>
            <a:spLocks noChangeArrowheads="1"/>
          </p:cNvSpPr>
          <p:nvPr/>
        </p:nvSpPr>
        <p:spPr bwMode="auto">
          <a:xfrm>
            <a:off x="1600200" y="5715000"/>
            <a:ext cx="9067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prstClr val="white"/>
              </a:buClr>
              <a:defRPr/>
            </a:pPr>
            <a:r>
              <a:rPr lang="en-US" altLang="zh-CN" i="1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- A literal, a constant and an argument that requires conversion can be passed as a </a:t>
            </a:r>
            <a:r>
              <a:rPr lang="en-US" altLang="zh-CN" i="1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const&amp;</a:t>
            </a:r>
            <a:r>
              <a:rPr lang="en-US" altLang="zh-CN" i="1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argument, but not as a </a:t>
            </a:r>
            <a:r>
              <a:rPr lang="en-US" altLang="zh-CN" i="1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non-const&amp;</a:t>
            </a:r>
            <a:r>
              <a:rPr lang="en-US" altLang="zh-CN" i="1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argument.</a:t>
            </a:r>
          </a:p>
        </p:txBody>
      </p:sp>
    </p:spTree>
    <p:extLst>
      <p:ext uri="{BB962C8B-B14F-4D97-AF65-F5344CB8AC3E}">
        <p14:creationId xmlns:p14="http://schemas.microsoft.com/office/powerpoint/2010/main" val="4069940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45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5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5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45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5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5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3" grpId="0" animBg="1" autoUpdateAnimBg="0"/>
      <p:bldP spid="145414" grpId="0" build="p" autoUpdateAnimBg="0"/>
      <p:bldP spid="145471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6" name="Rectangle 4"/>
          <p:cNvSpPr>
            <a:spLocks noGrp="1" noChangeArrowheads="1"/>
          </p:cNvSpPr>
          <p:nvPr>
            <p:ph type="title"/>
          </p:nvPr>
        </p:nvSpPr>
        <p:spPr>
          <a:xfrm>
            <a:off x="2057400" y="76200"/>
            <a:ext cx="8077200" cy="6096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dirty="0" smtClean="0"/>
              <a:t>Argument Passing(continued)</a:t>
            </a:r>
          </a:p>
        </p:txBody>
      </p:sp>
      <p:sp>
        <p:nvSpPr>
          <p:cNvPr id="146437" name="Text Box 5"/>
          <p:cNvSpPr txBox="1">
            <a:spLocks noChangeArrowheads="1"/>
          </p:cNvSpPr>
          <p:nvPr/>
        </p:nvSpPr>
        <p:spPr bwMode="auto">
          <a:xfrm>
            <a:off x="1600200" y="822521"/>
            <a:ext cx="8991600" cy="3001573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000" rIns="0" bIns="72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float fsqrt(</a:t>
            </a:r>
            <a:r>
              <a:rPr lang="en-US" altLang="zh-CN" i="1">
                <a:solidFill>
                  <a:srgbClr val="FF3300"/>
                </a:solidFill>
                <a:ea typeface="楷体_GB2312" pitchFamily="49" charset="-122"/>
              </a:rPr>
              <a:t>const float&amp;)</a:t>
            </a: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;</a:t>
            </a:r>
            <a:endParaRPr lang="en-US" altLang="zh-CN" i="1">
              <a:solidFill>
                <a:srgbClr val="FF0000"/>
              </a:solidFill>
              <a:ea typeface="楷体_GB2312" pitchFamily="49" charset="-122"/>
            </a:endParaRPr>
          </a:p>
          <a:p>
            <a:pPr>
              <a:lnSpc>
                <a:spcPct val="3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void g(double d)</a:t>
            </a:r>
          </a:p>
          <a:p>
            <a:pPr>
              <a:lnSpc>
                <a:spcPct val="3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{</a:t>
            </a:r>
          </a:p>
          <a:p>
            <a:pPr>
              <a:lnSpc>
                <a:spcPct val="3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    float r=fsqrt(2.0f); //pass ref to temp holding 2.0f</a:t>
            </a:r>
          </a:p>
          <a:p>
            <a:pPr>
              <a:lnSpc>
                <a:spcPct val="3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    r=fsqrt(r);		   //pass ref to r</a:t>
            </a:r>
          </a:p>
          <a:p>
            <a:pPr>
              <a:lnSpc>
                <a:spcPct val="3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    r=fsqrt(d);	       //pass ref to temp holding float(d)</a:t>
            </a:r>
          </a:p>
          <a:p>
            <a:pPr>
              <a:lnSpc>
                <a:spcPct val="3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}</a:t>
            </a:r>
          </a:p>
        </p:txBody>
      </p:sp>
      <p:sp>
        <p:nvSpPr>
          <p:cNvPr id="146438" name="Text Box 6"/>
          <p:cNvSpPr txBox="1">
            <a:spLocks noChangeArrowheads="1"/>
          </p:cNvSpPr>
          <p:nvPr/>
        </p:nvSpPr>
        <p:spPr bwMode="auto">
          <a:xfrm>
            <a:off x="1600200" y="3872109"/>
            <a:ext cx="8991600" cy="3001573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000" rIns="0" bIns="72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float update(</a:t>
            </a:r>
            <a:r>
              <a:rPr lang="en-US" altLang="zh-CN" i="1">
                <a:solidFill>
                  <a:srgbClr val="FF3300"/>
                </a:solidFill>
                <a:ea typeface="楷体_GB2312" pitchFamily="49" charset="-122"/>
              </a:rPr>
              <a:t>float&amp; i)</a:t>
            </a: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;</a:t>
            </a:r>
            <a:endParaRPr lang="en-US" altLang="zh-CN" i="1">
              <a:solidFill>
                <a:srgbClr val="FF0000"/>
              </a:solidFill>
              <a:ea typeface="楷体_GB2312" pitchFamily="49" charset="-122"/>
            </a:endParaRPr>
          </a:p>
          <a:p>
            <a:pPr>
              <a:lnSpc>
                <a:spcPct val="3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void g(double d,float r)</a:t>
            </a:r>
          </a:p>
          <a:p>
            <a:pPr>
              <a:lnSpc>
                <a:spcPct val="3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{</a:t>
            </a:r>
          </a:p>
          <a:p>
            <a:pPr>
              <a:lnSpc>
                <a:spcPct val="3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    </a:t>
            </a:r>
            <a:r>
              <a:rPr lang="en-US" altLang="zh-CN" i="1">
                <a:solidFill>
                  <a:srgbClr val="FF3300"/>
                </a:solidFill>
                <a:ea typeface="楷体_GB2312" pitchFamily="49" charset="-122"/>
              </a:rPr>
              <a:t>update(2.0f); 	//error:const argument</a:t>
            </a:r>
          </a:p>
          <a:p>
            <a:pPr>
              <a:lnSpc>
                <a:spcPct val="3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    update(r);		//pass ref to r</a:t>
            </a:r>
          </a:p>
          <a:p>
            <a:pPr>
              <a:lnSpc>
                <a:spcPct val="3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    </a:t>
            </a:r>
            <a:r>
              <a:rPr lang="en-US" altLang="zh-CN" i="1">
                <a:solidFill>
                  <a:srgbClr val="FF3300"/>
                </a:solidFill>
                <a:ea typeface="楷体_GB2312" pitchFamily="49" charset="-122"/>
              </a:rPr>
              <a:t>update(d);		//error:type conversion required</a:t>
            </a:r>
          </a:p>
          <a:p>
            <a:pPr>
              <a:lnSpc>
                <a:spcPct val="3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1139706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46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46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37" grpId="0" animBg="1" autoUpdateAnimBg="0"/>
      <p:bldP spid="146438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60" name="Rectangle 4"/>
          <p:cNvSpPr>
            <a:spLocks noGrp="1" noChangeArrowheads="1"/>
          </p:cNvSpPr>
          <p:nvPr>
            <p:ph type="title"/>
          </p:nvPr>
        </p:nvSpPr>
        <p:spPr>
          <a:xfrm>
            <a:off x="2057400" y="76200"/>
            <a:ext cx="8077200" cy="6096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dirty="0" smtClean="0"/>
              <a:t>Argument Passing(continued)</a:t>
            </a:r>
          </a:p>
        </p:txBody>
      </p:sp>
      <p:sp>
        <p:nvSpPr>
          <p:cNvPr id="147463" name="Text Box 7"/>
          <p:cNvSpPr txBox="1">
            <a:spLocks noChangeArrowheads="1"/>
          </p:cNvSpPr>
          <p:nvPr/>
        </p:nvSpPr>
        <p:spPr bwMode="auto">
          <a:xfrm>
            <a:off x="1676400" y="926369"/>
            <a:ext cx="8839200" cy="5779962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000" rIns="0" bIns="72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srgbClr val="A50021"/>
                </a:solidFill>
                <a:ea typeface="楷体_GB2312" pitchFamily="49" charset="-122"/>
              </a:rPr>
              <a:t>//</a:t>
            </a:r>
            <a:r>
              <a:rPr lang="en-US" altLang="zh-CN" i="1" dirty="0" smtClean="0">
                <a:solidFill>
                  <a:srgbClr val="A50021"/>
                </a:solidFill>
                <a:ea typeface="楷体_GB2312" pitchFamily="49" charset="-122"/>
              </a:rPr>
              <a:t>example</a:t>
            </a:r>
            <a:endParaRPr lang="en-US" altLang="zh-CN" i="1" dirty="0">
              <a:solidFill>
                <a:srgbClr val="A50021"/>
              </a:solidFill>
              <a:ea typeface="楷体_GB2312" pitchFamily="49" charset="-122"/>
            </a:endParaRPr>
          </a:p>
          <a:p>
            <a:pPr>
              <a:lnSpc>
                <a:spcPct val="2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#include &lt;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iostream.h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&gt;</a:t>
            </a:r>
          </a:p>
          <a:p>
            <a:pPr>
              <a:lnSpc>
                <a:spcPct val="2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void print(</a:t>
            </a:r>
            <a:r>
              <a:rPr lang="en-US" altLang="zh-CN" i="1" dirty="0" err="1">
                <a:solidFill>
                  <a:srgbClr val="FF0000"/>
                </a:solidFill>
                <a:ea typeface="楷体_GB2312" pitchFamily="49" charset="-122"/>
              </a:rPr>
              <a:t>const</a:t>
            </a:r>
            <a:r>
              <a:rPr lang="en-US" altLang="zh-CN" i="1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en-US" altLang="zh-CN" i="1" dirty="0" err="1">
                <a:solidFill>
                  <a:srgbClr val="FF0000"/>
                </a:solidFill>
                <a:ea typeface="楷体_GB2312" pitchFamily="49" charset="-122"/>
              </a:rPr>
              <a:t>int</a:t>
            </a:r>
            <a:r>
              <a:rPr lang="en-US" altLang="zh-CN" i="1" dirty="0">
                <a:solidFill>
                  <a:srgbClr val="FF0000"/>
                </a:solidFill>
                <a:ea typeface="楷体_GB2312" pitchFamily="49" charset="-122"/>
              </a:rPr>
              <a:t> *</a:t>
            </a:r>
            <a:r>
              <a:rPr lang="en-US" altLang="zh-CN" i="1" dirty="0" err="1">
                <a:solidFill>
                  <a:srgbClr val="FF0000"/>
                </a:solidFill>
                <a:ea typeface="楷体_GB2312" pitchFamily="49" charset="-122"/>
              </a:rPr>
              <a:t>p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,int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n);</a:t>
            </a:r>
          </a:p>
          <a:p>
            <a:pPr>
              <a:lnSpc>
                <a:spcPct val="1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void main()</a:t>
            </a:r>
          </a:p>
          <a:p>
            <a:pPr>
              <a:lnSpc>
                <a:spcPct val="2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{</a:t>
            </a:r>
          </a:p>
          <a:p>
            <a:pPr>
              <a:lnSpc>
                <a:spcPct val="2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   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int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array[5];</a:t>
            </a:r>
          </a:p>
          <a:p>
            <a:pPr>
              <a:lnSpc>
                <a:spcPct val="2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   for(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int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i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=0;i&lt;5;i++)</a:t>
            </a:r>
          </a:p>
          <a:p>
            <a:pPr>
              <a:lnSpc>
                <a:spcPct val="1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       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cin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&gt;&gt;array[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i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];</a:t>
            </a:r>
          </a:p>
          <a:p>
            <a:pPr>
              <a:lnSpc>
                <a:spcPct val="1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   </a:t>
            </a:r>
            <a:r>
              <a:rPr lang="en-US" altLang="zh-CN" i="1" dirty="0">
                <a:solidFill>
                  <a:srgbClr val="FF0000"/>
                </a:solidFill>
                <a:ea typeface="楷体_GB2312" pitchFamily="49" charset="-122"/>
              </a:rPr>
              <a:t>print(array,5);</a:t>
            </a:r>
          </a:p>
          <a:p>
            <a:pPr>
              <a:lnSpc>
                <a:spcPct val="1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}</a:t>
            </a:r>
          </a:p>
          <a:p>
            <a:pPr>
              <a:lnSpc>
                <a:spcPct val="1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void print(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const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int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*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p,int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n)</a:t>
            </a:r>
          </a:p>
          <a:p>
            <a:pPr>
              <a:lnSpc>
                <a:spcPct val="1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{</a:t>
            </a:r>
          </a:p>
          <a:p>
            <a:pPr>
              <a:lnSpc>
                <a:spcPct val="1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   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cout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&lt;&lt;"{"&lt;&lt;*p;</a:t>
            </a:r>
          </a:p>
          <a:p>
            <a:pPr>
              <a:lnSpc>
                <a:spcPct val="1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   for(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int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i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=1;i&lt;5;i++)</a:t>
            </a:r>
          </a:p>
          <a:p>
            <a:pPr>
              <a:lnSpc>
                <a:spcPct val="1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       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cout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&lt;&lt;","&lt;&lt;*(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p+i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);</a:t>
            </a:r>
          </a:p>
          <a:p>
            <a:pPr>
              <a:lnSpc>
                <a:spcPct val="1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   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cout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&lt;&lt;"}"&lt;&lt;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endl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;</a:t>
            </a:r>
          </a:p>
          <a:p>
            <a:pPr>
              <a:lnSpc>
                <a:spcPct val="1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}</a:t>
            </a:r>
          </a:p>
        </p:txBody>
      </p:sp>
      <p:sp>
        <p:nvSpPr>
          <p:cNvPr id="147465" name="Text Box 9"/>
          <p:cNvSpPr txBox="1">
            <a:spLocks noChangeArrowheads="1"/>
          </p:cNvSpPr>
          <p:nvPr/>
        </p:nvSpPr>
        <p:spPr bwMode="auto">
          <a:xfrm>
            <a:off x="6553200" y="1697038"/>
            <a:ext cx="2971800" cy="51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sz="2800">
                <a:solidFill>
                  <a:srgbClr val="FF0000"/>
                </a:solidFill>
                <a:ea typeface="楷体_GB2312" pitchFamily="49" charset="-122"/>
              </a:rPr>
              <a:t>Const pointer</a:t>
            </a:r>
            <a:endParaRPr lang="en-US" altLang="zh-CN">
              <a:solidFill>
                <a:srgbClr val="003399"/>
              </a:solidFill>
              <a:ea typeface="楷体_GB2312" pitchFamily="49" charset="-122"/>
            </a:endParaRPr>
          </a:p>
        </p:txBody>
      </p:sp>
      <p:sp>
        <p:nvSpPr>
          <p:cNvPr id="147466" name="Text Box 10"/>
          <p:cNvSpPr txBox="1">
            <a:spLocks noChangeArrowheads="1"/>
          </p:cNvSpPr>
          <p:nvPr/>
        </p:nvSpPr>
        <p:spPr bwMode="auto">
          <a:xfrm>
            <a:off x="6705600" y="5294314"/>
            <a:ext cx="3657600" cy="973137"/>
          </a:xfrm>
          <a:prstGeom prst="rect">
            <a:avLst/>
          </a:prstGeom>
          <a:gradFill rotWithShape="0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000" rIns="0" bIns="72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srgbClr val="003399"/>
                </a:solidFill>
                <a:ea typeface="楷体_GB2312" pitchFamily="49" charset="-122"/>
              </a:rPr>
              <a:t>Input</a:t>
            </a:r>
            <a:r>
              <a:rPr lang="zh-CN" altLang="en-US">
                <a:solidFill>
                  <a:srgbClr val="003399"/>
                </a:solidFill>
                <a:ea typeface="楷体_GB2312" pitchFamily="49" charset="-122"/>
              </a:rPr>
              <a:t>：</a:t>
            </a:r>
            <a:r>
              <a:rPr lang="en-US" altLang="zh-CN">
                <a:solidFill>
                  <a:srgbClr val="003399"/>
                </a:solidFill>
                <a:ea typeface="楷体_GB2312" pitchFamily="49" charset="-122"/>
              </a:rPr>
              <a:t>1 2 3 4 5 </a:t>
            </a:r>
          </a:p>
          <a:p>
            <a:pPr>
              <a:lnSpc>
                <a:spcPct val="4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srgbClr val="003399"/>
                </a:solidFill>
                <a:ea typeface="楷体_GB2312" pitchFamily="49" charset="-122"/>
              </a:rPr>
              <a:t>Output</a:t>
            </a:r>
            <a:r>
              <a:rPr lang="zh-CN" altLang="en-US">
                <a:solidFill>
                  <a:srgbClr val="003399"/>
                </a:solidFill>
                <a:ea typeface="楷体_GB2312" pitchFamily="49" charset="-122"/>
              </a:rPr>
              <a:t>：</a:t>
            </a:r>
            <a:r>
              <a:rPr lang="en-US" altLang="zh-CN">
                <a:solidFill>
                  <a:srgbClr val="003399"/>
                </a:solidFill>
                <a:ea typeface="楷体_GB2312" pitchFamily="49" charset="-122"/>
              </a:rPr>
              <a:t>{1,2,3,4,5}</a:t>
            </a:r>
          </a:p>
        </p:txBody>
      </p:sp>
    </p:spTree>
    <p:extLst>
      <p:ext uri="{BB962C8B-B14F-4D97-AF65-F5344CB8AC3E}">
        <p14:creationId xmlns:p14="http://schemas.microsoft.com/office/powerpoint/2010/main" val="2170066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47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47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7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63" grpId="0" animBg="1" autoUpdateAnimBg="0"/>
      <p:bldP spid="147465" grpId="0" autoUpdateAnimBg="0"/>
      <p:bldP spid="147466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8" name="Rectangle 4"/>
          <p:cNvSpPr>
            <a:spLocks noGrp="1" noChangeArrowheads="1"/>
          </p:cNvSpPr>
          <p:nvPr>
            <p:ph type="title"/>
          </p:nvPr>
        </p:nvSpPr>
        <p:spPr>
          <a:xfrm>
            <a:off x="2057400" y="76200"/>
            <a:ext cx="8077200" cy="6096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dirty="0" smtClean="0"/>
              <a:t>Argument Passing(continued)</a:t>
            </a:r>
          </a:p>
        </p:txBody>
      </p:sp>
      <p:sp>
        <p:nvSpPr>
          <p:cNvPr id="139269" name="Rectangle 5"/>
          <p:cNvSpPr>
            <a:spLocks noChangeArrowheads="1"/>
          </p:cNvSpPr>
          <p:nvPr/>
        </p:nvSpPr>
        <p:spPr bwMode="auto">
          <a:xfrm>
            <a:off x="1676400" y="871538"/>
            <a:ext cx="8839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marL="609600" indent="-609600">
              <a:lnSpc>
                <a:spcPct val="95000"/>
              </a:lnSpc>
              <a:spcBef>
                <a:spcPct val="20000"/>
              </a:spcBef>
              <a:buClr>
                <a:prstClr val="white"/>
              </a:buClr>
              <a:defRPr/>
            </a:pPr>
            <a:r>
              <a:rPr lang="en-US" altLang="zh-CN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Array Arguments</a:t>
            </a:r>
          </a:p>
        </p:txBody>
      </p:sp>
      <p:sp>
        <p:nvSpPr>
          <p:cNvPr id="139270" name="Rectangle 6"/>
          <p:cNvSpPr>
            <a:spLocks noChangeArrowheads="1"/>
          </p:cNvSpPr>
          <p:nvPr/>
        </p:nvSpPr>
        <p:spPr bwMode="auto">
          <a:xfrm>
            <a:off x="1600200" y="1466850"/>
            <a:ext cx="9067800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prstClr val="white"/>
              </a:buClr>
              <a:buFontTx/>
              <a:buChar char="•"/>
              <a:defRPr/>
            </a:pP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If an array is used as a function argument, </a:t>
            </a:r>
            <a:r>
              <a:rPr lang="en-US" altLang="zh-CN" i="1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 pointer to its initial element</a:t>
            </a: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is passed.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prstClr val="white"/>
              </a:buClr>
              <a:buFontTx/>
              <a:buChar char="•"/>
              <a:defRPr/>
            </a:pP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An array is </a:t>
            </a:r>
            <a:r>
              <a:rPr lang="en-US" altLang="zh-CN" i="1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not (and cannot be)</a:t>
            </a: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passed </a:t>
            </a:r>
            <a:r>
              <a:rPr lang="en-US" altLang="zh-CN" i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by value</a:t>
            </a: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</a:t>
            </a:r>
          </a:p>
        </p:txBody>
      </p:sp>
      <p:sp>
        <p:nvSpPr>
          <p:cNvPr id="139272" name="Text Box 8"/>
          <p:cNvSpPr txBox="1">
            <a:spLocks noChangeArrowheads="1"/>
          </p:cNvSpPr>
          <p:nvPr/>
        </p:nvSpPr>
        <p:spPr bwMode="auto">
          <a:xfrm>
            <a:off x="1600200" y="2958645"/>
            <a:ext cx="8991600" cy="2558375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000" rIns="0" bIns="72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int strlen(const char*);</a:t>
            </a:r>
            <a:endParaRPr lang="en-US" altLang="zh-CN" i="1">
              <a:solidFill>
                <a:srgbClr val="FF0000"/>
              </a:solidFill>
              <a:ea typeface="楷体_GB2312" pitchFamily="49" charset="-122"/>
            </a:endParaRPr>
          </a:p>
          <a:p>
            <a:pPr>
              <a:lnSpc>
                <a:spcPct val="2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void f()</a:t>
            </a:r>
            <a:endParaRPr lang="en-US" altLang="zh-CN" i="1">
              <a:solidFill>
                <a:srgbClr val="A50021"/>
              </a:solidFill>
              <a:ea typeface="楷体_GB2312" pitchFamily="49" charset="-122"/>
            </a:endParaRPr>
          </a:p>
          <a:p>
            <a:pPr>
              <a:lnSpc>
                <a:spcPct val="2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{</a:t>
            </a:r>
          </a:p>
          <a:p>
            <a:pPr>
              <a:lnSpc>
                <a:spcPct val="2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    char *v=</a:t>
            </a:r>
            <a:r>
              <a:rPr lang="en-US" altLang="zh-CN" i="1">
                <a:solidFill>
                  <a:prstClr val="black"/>
                </a:solidFill>
              </a:rPr>
              <a:t>"</a:t>
            </a: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an array</a:t>
            </a:r>
            <a:r>
              <a:rPr lang="en-US" altLang="zh-CN" i="1">
                <a:solidFill>
                  <a:prstClr val="black"/>
                </a:solidFill>
              </a:rPr>
              <a:t>";</a:t>
            </a:r>
            <a:endParaRPr lang="en-US" altLang="zh-CN" i="1">
              <a:solidFill>
                <a:prstClr val="black"/>
              </a:solidFill>
              <a:ea typeface="楷体_GB2312" pitchFamily="49" charset="-122"/>
            </a:endParaRPr>
          </a:p>
          <a:p>
            <a:pPr>
              <a:lnSpc>
                <a:spcPct val="2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    int i=strlen(v);</a:t>
            </a:r>
          </a:p>
          <a:p>
            <a:pPr>
              <a:lnSpc>
                <a:spcPct val="2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    int j=strlen(</a:t>
            </a:r>
            <a:r>
              <a:rPr lang="en-US" altLang="zh-CN" i="1">
                <a:solidFill>
                  <a:prstClr val="black"/>
                </a:solidFill>
              </a:rPr>
              <a:t>"</a:t>
            </a: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Nicholas</a:t>
            </a:r>
            <a:r>
              <a:rPr lang="en-US" altLang="zh-CN" i="1">
                <a:solidFill>
                  <a:prstClr val="black"/>
                </a:solidFill>
              </a:rPr>
              <a:t>");</a:t>
            </a:r>
            <a:endParaRPr lang="en-US" altLang="zh-CN" i="1">
              <a:solidFill>
                <a:prstClr val="black"/>
              </a:solidFill>
              <a:ea typeface="楷体_GB2312" pitchFamily="49" charset="-122"/>
            </a:endParaRPr>
          </a:p>
          <a:p>
            <a:pPr>
              <a:lnSpc>
                <a:spcPct val="2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}</a:t>
            </a:r>
          </a:p>
        </p:txBody>
      </p:sp>
      <p:sp>
        <p:nvSpPr>
          <p:cNvPr id="139273" name="AutoShape 9"/>
          <p:cNvSpPr>
            <a:spLocks noChangeArrowheads="1"/>
          </p:cNvSpPr>
          <p:nvPr/>
        </p:nvSpPr>
        <p:spPr bwMode="auto">
          <a:xfrm>
            <a:off x="6172200" y="3048000"/>
            <a:ext cx="4343400" cy="1600200"/>
          </a:xfrm>
          <a:prstGeom prst="wedgeRoundRectCallout">
            <a:avLst>
              <a:gd name="adj1" fmla="val -59685"/>
              <a:gd name="adj2" fmla="val 47620"/>
              <a:gd name="adj3" fmla="val 16667"/>
            </a:avLst>
          </a:prstGeom>
          <a:gradFill rotWithShape="0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i="1">
                <a:solidFill>
                  <a:prstClr val="black"/>
                </a:solidFill>
              </a:rPr>
              <a:t>An argument of type </a:t>
            </a:r>
            <a:r>
              <a:rPr lang="en-US" altLang="zh-CN" i="1">
                <a:solidFill>
                  <a:srgbClr val="FF3300"/>
                </a:solidFill>
              </a:rPr>
              <a:t>T[]</a:t>
            </a:r>
            <a:r>
              <a:rPr lang="en-US" altLang="zh-CN" i="1">
                <a:solidFill>
                  <a:prstClr val="black"/>
                </a:solidFill>
              </a:rPr>
              <a:t> </a:t>
            </a: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</a:pPr>
            <a:r>
              <a:rPr lang="en-US" altLang="zh-CN" i="1">
                <a:solidFill>
                  <a:prstClr val="black"/>
                </a:solidFill>
              </a:rPr>
              <a:t>will be converted to a </a:t>
            </a:r>
            <a:r>
              <a:rPr lang="en-US" altLang="zh-CN" i="1">
                <a:solidFill>
                  <a:srgbClr val="FF3300"/>
                </a:solidFill>
              </a:rPr>
              <a:t>T*</a:t>
            </a:r>
          </a:p>
          <a:p>
            <a:pPr>
              <a:lnSpc>
                <a:spcPct val="80000"/>
              </a:lnSpc>
              <a:spcBef>
                <a:spcPct val="0"/>
              </a:spcBef>
              <a:buClr>
                <a:prstClr val="black"/>
              </a:buClr>
              <a:buSzTx/>
              <a:buFontTx/>
              <a:buChar char="•"/>
            </a:pPr>
            <a:r>
              <a:rPr lang="en-US" altLang="zh-CN" i="1">
                <a:solidFill>
                  <a:prstClr val="black"/>
                </a:solidFill>
              </a:rPr>
              <a:t>An array is passed </a:t>
            </a:r>
            <a:r>
              <a:rPr lang="en-US" altLang="zh-CN" i="1">
                <a:solidFill>
                  <a:srgbClr val="FF3300"/>
                </a:solidFill>
              </a:rPr>
              <a:t>by</a:t>
            </a:r>
          </a:p>
          <a:p>
            <a:pPr>
              <a:lnSpc>
                <a:spcPct val="80000"/>
              </a:lnSpc>
              <a:spcBef>
                <a:spcPct val="0"/>
              </a:spcBef>
              <a:buClr>
                <a:prstClr val="black"/>
              </a:buClr>
              <a:buSzTx/>
              <a:buFontTx/>
              <a:buNone/>
            </a:pPr>
            <a:r>
              <a:rPr lang="en-US" altLang="zh-CN" i="1">
                <a:solidFill>
                  <a:srgbClr val="FF3300"/>
                </a:solidFill>
              </a:rPr>
              <a:t> address(pointer)</a:t>
            </a:r>
            <a:r>
              <a:rPr lang="en-US" altLang="zh-CN" i="1">
                <a:solidFill>
                  <a:prstClr val="black"/>
                </a:solidFill>
              </a:rPr>
              <a:t>.</a:t>
            </a:r>
          </a:p>
        </p:txBody>
      </p:sp>
      <p:sp>
        <p:nvSpPr>
          <p:cNvPr id="139274" name="Rectangle 10"/>
          <p:cNvSpPr>
            <a:spLocks noChangeArrowheads="1"/>
          </p:cNvSpPr>
          <p:nvPr/>
        </p:nvSpPr>
        <p:spPr bwMode="auto">
          <a:xfrm>
            <a:off x="1600200" y="5581650"/>
            <a:ext cx="9067800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prstClr val="white"/>
              </a:buClr>
              <a:buFontTx/>
              <a:buChar char="•"/>
              <a:defRPr/>
            </a:pP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The size of an array is not available to the called function.</a:t>
            </a:r>
          </a:p>
        </p:txBody>
      </p:sp>
    </p:spTree>
    <p:extLst>
      <p:ext uri="{BB962C8B-B14F-4D97-AF65-F5344CB8AC3E}">
        <p14:creationId xmlns:p14="http://schemas.microsoft.com/office/powerpoint/2010/main" val="1891593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39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9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9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92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92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500"/>
                                        <p:tgtEl>
                                          <p:spTgt spid="139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9" dur="500"/>
                                        <p:tgtEl>
                                          <p:spTgt spid="139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9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9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9" grpId="0" autoUpdateAnimBg="0"/>
      <p:bldP spid="139270" grpId="0" build="p" autoUpdateAnimBg="0"/>
      <p:bldP spid="139272" grpId="0" animBg="1" autoUpdateAnimBg="0"/>
      <p:bldP spid="139273" grpId="0" animBg="1" autoUpdateAnimBg="0"/>
      <p:bldP spid="139274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2" name="Rectangle 4"/>
          <p:cNvSpPr>
            <a:spLocks noGrp="1" noChangeArrowheads="1"/>
          </p:cNvSpPr>
          <p:nvPr>
            <p:ph type="title"/>
          </p:nvPr>
        </p:nvSpPr>
        <p:spPr>
          <a:xfrm>
            <a:off x="2209800" y="76200"/>
            <a:ext cx="7772400" cy="6096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dirty="0" smtClean="0"/>
              <a:t>  Inline Functions</a:t>
            </a:r>
          </a:p>
        </p:txBody>
      </p:sp>
      <p:sp>
        <p:nvSpPr>
          <p:cNvPr id="114693" name="Rectangle 5"/>
          <p:cNvSpPr>
            <a:spLocks noChangeArrowheads="1"/>
          </p:cNvSpPr>
          <p:nvPr/>
        </p:nvSpPr>
        <p:spPr bwMode="auto">
          <a:xfrm>
            <a:off x="1676400" y="871538"/>
            <a:ext cx="8839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marL="609600" indent="-609600">
              <a:lnSpc>
                <a:spcPct val="95000"/>
              </a:lnSpc>
              <a:spcBef>
                <a:spcPct val="20000"/>
              </a:spcBef>
              <a:buClr>
                <a:prstClr val="white"/>
              </a:buClr>
              <a:defRPr/>
            </a:pPr>
            <a:r>
              <a:rPr lang="en-US" altLang="zh-CN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The Purpose and Solved</a:t>
            </a:r>
          </a:p>
        </p:txBody>
      </p:sp>
      <p:sp>
        <p:nvSpPr>
          <p:cNvPr id="114695" name="Rectangle 7"/>
          <p:cNvSpPr>
            <a:spLocks noChangeArrowheads="1"/>
          </p:cNvSpPr>
          <p:nvPr/>
        </p:nvSpPr>
        <p:spPr bwMode="auto">
          <a:xfrm>
            <a:off x="1600200" y="1524000"/>
            <a:ext cx="90678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prstClr val="white"/>
              </a:buClr>
              <a:buFontTx/>
              <a:buChar char="•"/>
              <a:defRPr/>
            </a:pPr>
            <a:r>
              <a:rPr lang="en-US" altLang="zh-CN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The aim: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prstClr val="white"/>
              </a:buClr>
              <a:defRPr/>
            </a:pPr>
            <a:r>
              <a:rPr lang="en-US" altLang="zh-CN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- When a function is called, it can improve its efficiency, especially those functions which has several lines code but can be called frequently.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prstClr val="white"/>
              </a:buClr>
              <a:buFontTx/>
              <a:buChar char="•"/>
              <a:defRPr/>
            </a:pPr>
            <a:r>
              <a:rPr lang="en-US" altLang="zh-CN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Solved Methods: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prstClr val="white"/>
              </a:buClr>
              <a:defRPr/>
            </a:pPr>
            <a:r>
              <a:rPr lang="en-US" altLang="zh-CN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- </a:t>
            </a:r>
            <a:r>
              <a:rPr lang="en-US" altLang="zh-CN" i="1" dirty="0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Replacement</a:t>
            </a:r>
            <a:r>
              <a:rPr lang="en-US" altLang="zh-CN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that is, Increasing the number of code, saving time and improving efficiency</a:t>
            </a:r>
          </a:p>
        </p:txBody>
      </p:sp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1752600" y="4749801"/>
            <a:ext cx="8763000" cy="2036763"/>
            <a:chOff x="144" y="2992"/>
            <a:chExt cx="5520" cy="1283"/>
          </a:xfrm>
        </p:grpSpPr>
        <p:sp>
          <p:nvSpPr>
            <p:cNvPr id="114703" name="Rectangle 15"/>
            <p:cNvSpPr>
              <a:spLocks noChangeArrowheads="1"/>
            </p:cNvSpPr>
            <p:nvPr/>
          </p:nvSpPr>
          <p:spPr bwMode="auto">
            <a:xfrm>
              <a:off x="144" y="3024"/>
              <a:ext cx="5520" cy="1251"/>
            </a:xfrm>
            <a:prstGeom prst="rect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30000"/>
                </a:lnSpc>
                <a:spcBef>
                  <a:spcPct val="20000"/>
                </a:spcBef>
                <a:buClr>
                  <a:srgbClr val="EBEBEB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lang="en-US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704" name="Rectangle 16"/>
            <p:cNvSpPr>
              <a:spLocks noChangeArrowheads="1"/>
            </p:cNvSpPr>
            <p:nvPr/>
          </p:nvSpPr>
          <p:spPr bwMode="auto">
            <a:xfrm>
              <a:off x="2352" y="3120"/>
              <a:ext cx="96" cy="192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30000"/>
                </a:lnSpc>
                <a:spcBef>
                  <a:spcPct val="20000"/>
                </a:spcBef>
                <a:buClr>
                  <a:srgbClr val="EBEBEB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lang="en-US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705" name="Rectangle 17"/>
            <p:cNvSpPr>
              <a:spLocks noChangeArrowheads="1"/>
            </p:cNvSpPr>
            <p:nvPr/>
          </p:nvSpPr>
          <p:spPr bwMode="auto">
            <a:xfrm>
              <a:off x="2352" y="3504"/>
              <a:ext cx="96" cy="192"/>
            </a:xfrm>
            <a:prstGeom prst="rect">
              <a:avLst/>
            </a:prstGeom>
            <a:solidFill>
              <a:srgbClr val="66FF66">
                <a:alpha val="50000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30000"/>
                </a:lnSpc>
                <a:spcBef>
                  <a:spcPct val="20000"/>
                </a:spcBef>
                <a:buClr>
                  <a:srgbClr val="EBEBEB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lang="en-US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0075" name="Text Box 18"/>
            <p:cNvSpPr txBox="1">
              <a:spLocks noChangeArrowheads="1"/>
            </p:cNvSpPr>
            <p:nvPr/>
          </p:nvSpPr>
          <p:spPr bwMode="auto">
            <a:xfrm>
              <a:off x="2544" y="2992"/>
              <a:ext cx="1104" cy="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50000"/>
                </a:spcBef>
                <a:buClr>
                  <a:srgbClr val="1E5155"/>
                </a:buClr>
                <a:buSzTx/>
                <a:buFont typeface="Monotype Sorts" pitchFamily="2" charset="2"/>
                <a:buNone/>
              </a:pPr>
              <a:r>
                <a:rPr lang="en-US" altLang="zh-CN" sz="2800" i="1">
                  <a:solidFill>
                    <a:prstClr val="black"/>
                  </a:solidFill>
                  <a:ea typeface="楷体_GB2312" pitchFamily="49" charset="-122"/>
                </a:rPr>
                <a:t>Normal</a:t>
              </a:r>
              <a:endParaRPr lang="en-US" altLang="zh-CN" i="1">
                <a:solidFill>
                  <a:prstClr val="black"/>
                </a:solidFill>
                <a:ea typeface="楷体_GB2312" pitchFamily="49" charset="-122"/>
              </a:endParaRPr>
            </a:p>
          </p:txBody>
        </p:sp>
        <p:sp>
          <p:nvSpPr>
            <p:cNvPr id="130076" name="Text Box 19"/>
            <p:cNvSpPr txBox="1">
              <a:spLocks noChangeArrowheads="1"/>
            </p:cNvSpPr>
            <p:nvPr/>
          </p:nvSpPr>
          <p:spPr bwMode="auto">
            <a:xfrm>
              <a:off x="2544" y="3363"/>
              <a:ext cx="1104" cy="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50000"/>
                </a:spcBef>
                <a:buClr>
                  <a:srgbClr val="1E5155"/>
                </a:buClr>
                <a:buSzTx/>
                <a:buFont typeface="Monotype Sorts" pitchFamily="2" charset="2"/>
                <a:buNone/>
              </a:pPr>
              <a:r>
                <a:rPr lang="en-US" altLang="zh-CN" sz="2800" b="1" i="1">
                  <a:solidFill>
                    <a:srgbClr val="66FF66"/>
                  </a:solidFill>
                  <a:ea typeface="楷体_GB2312" pitchFamily="49" charset="-122"/>
                </a:rPr>
                <a:t>inline</a:t>
              </a:r>
              <a:endParaRPr lang="en-US" altLang="zh-CN" b="1" i="1">
                <a:solidFill>
                  <a:srgbClr val="66FF66"/>
                </a:solidFill>
                <a:ea typeface="楷体_GB2312" pitchFamily="49" charset="-122"/>
              </a:endParaRPr>
            </a:p>
          </p:txBody>
        </p:sp>
      </p:grpSp>
      <p:grpSp>
        <p:nvGrpSpPr>
          <p:cNvPr id="3" name="Group 20"/>
          <p:cNvGrpSpPr>
            <a:grpSpLocks/>
          </p:cNvGrpSpPr>
          <p:nvPr/>
        </p:nvGrpSpPr>
        <p:grpSpPr bwMode="auto">
          <a:xfrm>
            <a:off x="2438400" y="4953000"/>
            <a:ext cx="152400" cy="1524000"/>
            <a:chOff x="576" y="3120"/>
            <a:chExt cx="96" cy="960"/>
          </a:xfrm>
        </p:grpSpPr>
        <p:sp>
          <p:nvSpPr>
            <p:cNvPr id="114709" name="Rectangle 21"/>
            <p:cNvSpPr>
              <a:spLocks noChangeArrowheads="1"/>
            </p:cNvSpPr>
            <p:nvPr/>
          </p:nvSpPr>
          <p:spPr bwMode="auto">
            <a:xfrm>
              <a:off x="576" y="3120"/>
              <a:ext cx="96" cy="384"/>
            </a:xfrm>
            <a:prstGeom prst="rect">
              <a:avLst/>
            </a:prstGeom>
            <a:solidFill>
              <a:srgbClr val="B6042A">
                <a:alpha val="50000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30000"/>
                </a:lnSpc>
                <a:spcBef>
                  <a:spcPct val="20000"/>
                </a:spcBef>
                <a:buClr>
                  <a:srgbClr val="EBEBEB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lang="en-US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710" name="Rectangle 22"/>
            <p:cNvSpPr>
              <a:spLocks noChangeArrowheads="1"/>
            </p:cNvSpPr>
            <p:nvPr/>
          </p:nvSpPr>
          <p:spPr bwMode="auto">
            <a:xfrm>
              <a:off x="576" y="3696"/>
              <a:ext cx="96" cy="384"/>
            </a:xfrm>
            <a:prstGeom prst="rect">
              <a:avLst/>
            </a:prstGeom>
            <a:solidFill>
              <a:srgbClr val="B6042A">
                <a:alpha val="50000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30000"/>
                </a:lnSpc>
                <a:spcBef>
                  <a:spcPct val="20000"/>
                </a:spcBef>
                <a:buClr>
                  <a:srgbClr val="EBEBEB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lang="en-US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711" name="Rectangle 23"/>
            <p:cNvSpPr>
              <a:spLocks noChangeArrowheads="1"/>
            </p:cNvSpPr>
            <p:nvPr/>
          </p:nvSpPr>
          <p:spPr bwMode="auto">
            <a:xfrm>
              <a:off x="576" y="3504"/>
              <a:ext cx="96" cy="192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30000"/>
                </a:lnSpc>
                <a:spcBef>
                  <a:spcPct val="20000"/>
                </a:spcBef>
                <a:buClr>
                  <a:srgbClr val="EBEBEB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lang="en-US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14712" name="Line 24"/>
          <p:cNvSpPr>
            <a:spLocks noChangeShapeType="1"/>
          </p:cNvSpPr>
          <p:nvPr/>
        </p:nvSpPr>
        <p:spPr bwMode="auto">
          <a:xfrm flipV="1">
            <a:off x="2667000" y="5334000"/>
            <a:ext cx="762000" cy="228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>
              <a:lnSpc>
                <a:spcPct val="130000"/>
              </a:lnSpc>
              <a:spcBef>
                <a:spcPct val="20000"/>
              </a:spcBef>
              <a:buClr>
                <a:srgbClr val="EBEBEB"/>
              </a:buClr>
              <a:buSzPct val="75000"/>
              <a:buFont typeface="Wingdings" panose="05000000000000000000" pitchFamily="2" charset="2"/>
              <a:buNone/>
              <a:defRPr/>
            </a:pPr>
            <a:endParaRPr lang="en-US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4713" name="Line 25"/>
          <p:cNvSpPr>
            <a:spLocks noChangeShapeType="1"/>
          </p:cNvSpPr>
          <p:nvPr/>
        </p:nvSpPr>
        <p:spPr bwMode="auto">
          <a:xfrm>
            <a:off x="2667000" y="5867400"/>
            <a:ext cx="762000" cy="228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pPr>
              <a:lnSpc>
                <a:spcPct val="130000"/>
              </a:lnSpc>
              <a:spcBef>
                <a:spcPct val="20000"/>
              </a:spcBef>
              <a:buClr>
                <a:srgbClr val="EBEBEB"/>
              </a:buClr>
              <a:buSzPct val="75000"/>
              <a:buFont typeface="Wingdings" panose="05000000000000000000" pitchFamily="2" charset="2"/>
              <a:buNone/>
              <a:defRPr/>
            </a:pPr>
            <a:endParaRPr lang="en-US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4714" name="Rectangle 26"/>
          <p:cNvSpPr>
            <a:spLocks noChangeArrowheads="1"/>
          </p:cNvSpPr>
          <p:nvPr/>
        </p:nvSpPr>
        <p:spPr bwMode="auto">
          <a:xfrm>
            <a:off x="3429000" y="5334000"/>
            <a:ext cx="609600" cy="838200"/>
          </a:xfrm>
          <a:prstGeom prst="rect">
            <a:avLst/>
          </a:prstGeom>
          <a:solidFill>
            <a:schemeClr val="bg2">
              <a:alpha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30000"/>
              </a:lnSpc>
              <a:spcBef>
                <a:spcPct val="20000"/>
              </a:spcBef>
              <a:buClr>
                <a:srgbClr val="EBEBEB"/>
              </a:buClr>
              <a:buSzPct val="75000"/>
              <a:buFont typeface="Wingdings" panose="05000000000000000000" pitchFamily="2" charset="2"/>
              <a:buNone/>
              <a:defRPr/>
            </a:pPr>
            <a:endParaRPr lang="en-US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4715" name="Line 27"/>
          <p:cNvSpPr>
            <a:spLocks noChangeShapeType="1"/>
          </p:cNvSpPr>
          <p:nvPr/>
        </p:nvSpPr>
        <p:spPr bwMode="auto">
          <a:xfrm>
            <a:off x="2667000" y="4953000"/>
            <a:ext cx="0" cy="609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>
              <a:lnSpc>
                <a:spcPct val="130000"/>
              </a:lnSpc>
              <a:spcBef>
                <a:spcPct val="20000"/>
              </a:spcBef>
              <a:buClr>
                <a:srgbClr val="EBEBEB"/>
              </a:buClr>
              <a:buSzPct val="75000"/>
              <a:buFont typeface="Wingdings" panose="05000000000000000000" pitchFamily="2" charset="2"/>
              <a:buNone/>
              <a:defRPr/>
            </a:pPr>
            <a:endParaRPr lang="en-US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4716" name="Line 28"/>
          <p:cNvSpPr>
            <a:spLocks noChangeShapeType="1"/>
          </p:cNvSpPr>
          <p:nvPr/>
        </p:nvSpPr>
        <p:spPr bwMode="auto">
          <a:xfrm>
            <a:off x="2667000" y="5867400"/>
            <a:ext cx="0" cy="609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>
              <a:lnSpc>
                <a:spcPct val="130000"/>
              </a:lnSpc>
              <a:spcBef>
                <a:spcPct val="20000"/>
              </a:spcBef>
              <a:buClr>
                <a:srgbClr val="EBEBEB"/>
              </a:buClr>
              <a:buSzPct val="75000"/>
              <a:buFont typeface="Wingdings" panose="05000000000000000000" pitchFamily="2" charset="2"/>
              <a:buNone/>
              <a:defRPr/>
            </a:pPr>
            <a:endParaRPr lang="en-US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4717" name="Line 29"/>
          <p:cNvSpPr>
            <a:spLocks noChangeShapeType="1"/>
          </p:cNvSpPr>
          <p:nvPr/>
        </p:nvSpPr>
        <p:spPr bwMode="auto">
          <a:xfrm>
            <a:off x="3733800" y="5334000"/>
            <a:ext cx="0" cy="838200"/>
          </a:xfrm>
          <a:prstGeom prst="line">
            <a:avLst/>
          </a:prstGeom>
          <a:noFill/>
          <a:ln w="38100">
            <a:solidFill>
              <a:srgbClr val="66FF66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>
              <a:lnSpc>
                <a:spcPct val="130000"/>
              </a:lnSpc>
              <a:spcBef>
                <a:spcPct val="20000"/>
              </a:spcBef>
              <a:buClr>
                <a:srgbClr val="EBEBEB"/>
              </a:buClr>
              <a:buSzPct val="75000"/>
              <a:buFont typeface="Wingdings" panose="05000000000000000000" pitchFamily="2" charset="2"/>
              <a:buNone/>
              <a:defRPr/>
            </a:pPr>
            <a:endParaRPr lang="en-US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4" name="Group 38"/>
          <p:cNvGrpSpPr>
            <a:grpSpLocks/>
          </p:cNvGrpSpPr>
          <p:nvPr/>
        </p:nvGrpSpPr>
        <p:grpSpPr bwMode="auto">
          <a:xfrm>
            <a:off x="7848600" y="4953000"/>
            <a:ext cx="152400" cy="1524000"/>
            <a:chOff x="3984" y="3120"/>
            <a:chExt cx="96" cy="960"/>
          </a:xfrm>
        </p:grpSpPr>
        <p:sp>
          <p:nvSpPr>
            <p:cNvPr id="114719" name="Rectangle 31"/>
            <p:cNvSpPr>
              <a:spLocks noChangeArrowheads="1"/>
            </p:cNvSpPr>
            <p:nvPr/>
          </p:nvSpPr>
          <p:spPr bwMode="auto">
            <a:xfrm>
              <a:off x="3984" y="3120"/>
              <a:ext cx="96" cy="384"/>
            </a:xfrm>
            <a:prstGeom prst="rect">
              <a:avLst/>
            </a:prstGeom>
            <a:solidFill>
              <a:srgbClr val="B6042A">
                <a:alpha val="50000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30000"/>
                </a:lnSpc>
                <a:spcBef>
                  <a:spcPct val="20000"/>
                </a:spcBef>
                <a:buClr>
                  <a:srgbClr val="EBEBEB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lang="en-US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720" name="Rectangle 32"/>
            <p:cNvSpPr>
              <a:spLocks noChangeArrowheads="1"/>
            </p:cNvSpPr>
            <p:nvPr/>
          </p:nvSpPr>
          <p:spPr bwMode="auto">
            <a:xfrm>
              <a:off x="3984" y="3696"/>
              <a:ext cx="96" cy="384"/>
            </a:xfrm>
            <a:prstGeom prst="rect">
              <a:avLst/>
            </a:prstGeom>
            <a:solidFill>
              <a:srgbClr val="B6042A">
                <a:alpha val="50000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30000"/>
                </a:lnSpc>
                <a:spcBef>
                  <a:spcPct val="20000"/>
                </a:spcBef>
                <a:buClr>
                  <a:srgbClr val="EBEBEB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lang="en-US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721" name="Rectangle 33"/>
            <p:cNvSpPr>
              <a:spLocks noChangeArrowheads="1"/>
            </p:cNvSpPr>
            <p:nvPr/>
          </p:nvSpPr>
          <p:spPr bwMode="auto">
            <a:xfrm>
              <a:off x="3984" y="3504"/>
              <a:ext cx="96" cy="192"/>
            </a:xfrm>
            <a:prstGeom prst="rect">
              <a:avLst/>
            </a:prstGeom>
            <a:solidFill>
              <a:srgbClr val="66FF66">
                <a:alpha val="50000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30000"/>
                </a:lnSpc>
                <a:spcBef>
                  <a:spcPct val="20000"/>
                </a:spcBef>
                <a:buClr>
                  <a:srgbClr val="EBEBEB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lang="en-US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14722" name="Rectangle 34"/>
          <p:cNvSpPr>
            <a:spLocks noChangeArrowheads="1"/>
          </p:cNvSpPr>
          <p:nvPr/>
        </p:nvSpPr>
        <p:spPr bwMode="auto">
          <a:xfrm>
            <a:off x="9067800" y="4800600"/>
            <a:ext cx="152400" cy="609600"/>
          </a:xfrm>
          <a:prstGeom prst="rect">
            <a:avLst/>
          </a:prstGeom>
          <a:solidFill>
            <a:srgbClr val="B6042A">
              <a:alpha val="5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30000"/>
              </a:lnSpc>
              <a:spcBef>
                <a:spcPct val="20000"/>
              </a:spcBef>
              <a:buClr>
                <a:srgbClr val="EBEBEB"/>
              </a:buClr>
              <a:buSzPct val="75000"/>
              <a:buFont typeface="Wingdings" panose="05000000000000000000" pitchFamily="2" charset="2"/>
              <a:buNone/>
              <a:defRPr/>
            </a:pPr>
            <a:endParaRPr lang="en-US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4723" name="Rectangle 35"/>
          <p:cNvSpPr>
            <a:spLocks noChangeArrowheads="1"/>
          </p:cNvSpPr>
          <p:nvPr/>
        </p:nvSpPr>
        <p:spPr bwMode="auto">
          <a:xfrm>
            <a:off x="9067800" y="6172200"/>
            <a:ext cx="152400" cy="609600"/>
          </a:xfrm>
          <a:prstGeom prst="rect">
            <a:avLst/>
          </a:prstGeom>
          <a:solidFill>
            <a:srgbClr val="B6042A">
              <a:alpha val="5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30000"/>
              </a:lnSpc>
              <a:spcBef>
                <a:spcPct val="20000"/>
              </a:spcBef>
              <a:buClr>
                <a:srgbClr val="EBEBEB"/>
              </a:buClr>
              <a:buSzPct val="75000"/>
              <a:buFont typeface="Wingdings" panose="05000000000000000000" pitchFamily="2" charset="2"/>
              <a:buNone/>
              <a:defRPr/>
            </a:pPr>
            <a:endParaRPr lang="en-US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4724" name="Rectangle 36"/>
          <p:cNvSpPr>
            <a:spLocks noChangeArrowheads="1"/>
          </p:cNvSpPr>
          <p:nvPr/>
        </p:nvSpPr>
        <p:spPr bwMode="auto">
          <a:xfrm>
            <a:off x="8915400" y="5410200"/>
            <a:ext cx="457200" cy="762000"/>
          </a:xfrm>
          <a:prstGeom prst="rect">
            <a:avLst/>
          </a:prstGeom>
          <a:solidFill>
            <a:srgbClr val="66FF66">
              <a:alpha val="5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30000"/>
              </a:lnSpc>
              <a:spcBef>
                <a:spcPct val="20000"/>
              </a:spcBef>
              <a:buClr>
                <a:srgbClr val="EBEBEB"/>
              </a:buClr>
              <a:buSzPct val="75000"/>
              <a:buFont typeface="Wingdings" panose="05000000000000000000" pitchFamily="2" charset="2"/>
              <a:buNone/>
              <a:defRPr/>
            </a:pPr>
            <a:endParaRPr lang="en-US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4725" name="AutoShape 37"/>
          <p:cNvSpPr>
            <a:spLocks noChangeArrowheads="1"/>
          </p:cNvSpPr>
          <p:nvPr/>
        </p:nvSpPr>
        <p:spPr bwMode="auto">
          <a:xfrm>
            <a:off x="8077200" y="5638800"/>
            <a:ext cx="762000" cy="152400"/>
          </a:xfrm>
          <a:prstGeom prst="rightArrow">
            <a:avLst>
              <a:gd name="adj1" fmla="val 50000"/>
              <a:gd name="adj2" fmla="val 125000"/>
            </a:avLst>
          </a:prstGeom>
          <a:gradFill rotWithShape="0">
            <a:gsLst>
              <a:gs pos="0">
                <a:srgbClr val="FFFFFF"/>
              </a:gs>
              <a:gs pos="100000">
                <a:srgbClr val="FF0000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30000"/>
              </a:lnSpc>
              <a:spcBef>
                <a:spcPct val="20000"/>
              </a:spcBef>
              <a:buClr>
                <a:srgbClr val="EBEBEB"/>
              </a:buClr>
              <a:buSzPct val="75000"/>
              <a:buFont typeface="Wingdings" panose="05000000000000000000" pitchFamily="2" charset="2"/>
              <a:buNone/>
              <a:defRPr/>
            </a:pPr>
            <a:endParaRPr lang="en-US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93883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4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47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47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47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47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4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4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47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47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47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4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47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47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4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4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47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47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1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147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147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147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147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8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147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4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47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47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146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146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146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146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146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146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146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146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14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14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147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147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14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14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147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147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2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14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14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147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147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14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14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147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1147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3" grpId="0" autoUpdateAnimBg="0"/>
      <p:bldP spid="114695" grpId="0" build="p" autoUpdateAnimBg="0"/>
      <p:bldP spid="114714" grpId="0" animBg="1"/>
      <p:bldP spid="114722" grpId="0" animBg="1"/>
      <p:bldP spid="114723" grpId="0" animBg="1"/>
      <p:bldP spid="114724" grpId="0" animBg="1"/>
      <p:bldP spid="1147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6" name="Rectangle 4"/>
          <p:cNvSpPr>
            <a:spLocks noGrp="1" noChangeArrowheads="1"/>
          </p:cNvSpPr>
          <p:nvPr>
            <p:ph type="title"/>
          </p:nvPr>
        </p:nvSpPr>
        <p:spPr>
          <a:xfrm>
            <a:off x="2209800" y="76200"/>
            <a:ext cx="7772400" cy="6096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dirty="0" smtClean="0"/>
              <a:t>Inline Functions(continued)</a:t>
            </a:r>
          </a:p>
        </p:txBody>
      </p:sp>
      <p:sp>
        <p:nvSpPr>
          <p:cNvPr id="161797" name="Rectangle 5"/>
          <p:cNvSpPr>
            <a:spLocks noChangeArrowheads="1"/>
          </p:cNvSpPr>
          <p:nvPr/>
        </p:nvSpPr>
        <p:spPr bwMode="auto">
          <a:xfrm>
            <a:off x="1676400" y="871538"/>
            <a:ext cx="8839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marL="609600" indent="-609600">
              <a:lnSpc>
                <a:spcPct val="95000"/>
              </a:lnSpc>
              <a:spcBef>
                <a:spcPct val="20000"/>
              </a:spcBef>
              <a:buClr>
                <a:prstClr val="white"/>
              </a:buClr>
              <a:defRPr/>
            </a:pPr>
            <a:r>
              <a:rPr lang="en-US" altLang="zh-CN" i="1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inline</a:t>
            </a:r>
            <a:r>
              <a:rPr lang="en-US" altLang="zh-CN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Function Definition and Notice</a:t>
            </a:r>
          </a:p>
        </p:txBody>
      </p:sp>
      <p:sp>
        <p:nvSpPr>
          <p:cNvPr id="161798" name="Text Box 6"/>
          <p:cNvSpPr txBox="1">
            <a:spLocks noChangeArrowheads="1"/>
          </p:cNvSpPr>
          <p:nvPr/>
        </p:nvSpPr>
        <p:spPr bwMode="auto">
          <a:xfrm>
            <a:off x="1600200" y="1363493"/>
            <a:ext cx="8991600" cy="1671978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000" rIns="0" bIns="72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srgbClr val="FF0000"/>
                </a:solidFill>
                <a:ea typeface="楷体_GB2312" pitchFamily="49" charset="-122"/>
              </a:rPr>
              <a:t>inline </a:t>
            </a: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&lt;type&gt; &lt;function name&gt;(&lt;formal arguments&gt;)</a:t>
            </a:r>
          </a:p>
          <a:p>
            <a:pPr>
              <a:lnSpc>
                <a:spcPct val="3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{</a:t>
            </a:r>
          </a:p>
          <a:p>
            <a:pPr>
              <a:lnSpc>
                <a:spcPct val="3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//…</a:t>
            </a:r>
          </a:p>
          <a:p>
            <a:pPr>
              <a:lnSpc>
                <a:spcPct val="3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}</a:t>
            </a:r>
          </a:p>
        </p:txBody>
      </p:sp>
      <p:sp>
        <p:nvSpPr>
          <p:cNvPr id="161799" name="Text Box 7"/>
          <p:cNvSpPr txBox="1">
            <a:spLocks noChangeArrowheads="1"/>
          </p:cNvSpPr>
          <p:nvPr/>
        </p:nvSpPr>
        <p:spPr bwMode="auto">
          <a:xfrm>
            <a:off x="1600200" y="3124200"/>
            <a:ext cx="8991600" cy="3608388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000" rIns="0" bIns="72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</a:rPr>
              <a:t>inline int add(int x,int y,int z)</a:t>
            </a: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</a:t>
            </a:r>
          </a:p>
          <a:p>
            <a:pPr algn="just">
              <a:lnSpc>
                <a:spcPct val="3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</a:rPr>
              <a:t>{</a:t>
            </a:r>
          </a:p>
          <a:p>
            <a:pPr algn="just">
              <a:lnSpc>
                <a:spcPct val="3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</a:rPr>
              <a:t>	return x+y+z;</a:t>
            </a:r>
          </a:p>
          <a:p>
            <a:pPr algn="just">
              <a:lnSpc>
                <a:spcPct val="3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</a:rPr>
              <a:t>}</a:t>
            </a:r>
          </a:p>
          <a:p>
            <a:pPr algn="just">
              <a:lnSpc>
                <a:spcPct val="3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</a:rPr>
              <a:t>void main()</a:t>
            </a:r>
          </a:p>
          <a:p>
            <a:pPr algn="just">
              <a:lnSpc>
                <a:spcPct val="3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</a:rPr>
              <a:t>{</a:t>
            </a:r>
          </a:p>
          <a:p>
            <a:pPr algn="just">
              <a:lnSpc>
                <a:spcPct val="3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</a:rPr>
              <a:t>	int a(1),b(2),c(3),sum(0);</a:t>
            </a:r>
          </a:p>
          <a:p>
            <a:pPr algn="just">
              <a:lnSpc>
                <a:spcPct val="3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</a:rPr>
              <a:t>	sum=add(a,b,c);		//replaced by </a:t>
            </a:r>
            <a:r>
              <a:rPr lang="en-US" altLang="zh-CN" i="1">
                <a:solidFill>
                  <a:srgbClr val="FF3300"/>
                </a:solidFill>
              </a:rPr>
              <a:t>sum=a+b+c;</a:t>
            </a:r>
          </a:p>
          <a:p>
            <a:pPr>
              <a:lnSpc>
                <a:spcPct val="3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</a:rPr>
              <a:t>}</a:t>
            </a: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2233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61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61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61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7" grpId="0" autoUpdateAnimBg="0"/>
      <p:bldP spid="161798" grpId="0" animBg="1" autoUpdateAnimBg="0"/>
      <p:bldP spid="161799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4" name="Rectangle 4"/>
          <p:cNvSpPr>
            <a:spLocks noGrp="1" noChangeArrowheads="1"/>
          </p:cNvSpPr>
          <p:nvPr>
            <p:ph type="title"/>
          </p:nvPr>
        </p:nvSpPr>
        <p:spPr>
          <a:xfrm>
            <a:off x="2209800" y="76200"/>
            <a:ext cx="7772400" cy="6096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dirty="0" smtClean="0"/>
              <a:t> Inline Functions(continued)</a:t>
            </a:r>
          </a:p>
        </p:txBody>
      </p:sp>
      <p:sp>
        <p:nvSpPr>
          <p:cNvPr id="163845" name="Rectangle 5"/>
          <p:cNvSpPr>
            <a:spLocks noChangeArrowheads="1"/>
          </p:cNvSpPr>
          <p:nvPr/>
        </p:nvSpPr>
        <p:spPr bwMode="auto">
          <a:xfrm>
            <a:off x="1600200" y="990600"/>
            <a:ext cx="90678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prstClr val="white"/>
              </a:buClr>
              <a:buFontTx/>
              <a:buChar char="•"/>
              <a:defRPr/>
            </a:pP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Notice</a:t>
            </a: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: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prstClr val="white"/>
              </a:buClr>
              <a:defRPr/>
            </a:pP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- Inline function definition must be appeared before its called.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prstClr val="white"/>
              </a:buClr>
              <a:defRPr/>
            </a:pP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- The body of inline function don’t include iteration statement and switch statement.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prstClr val="white"/>
              </a:buClr>
              <a:defRPr/>
            </a:pP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- The body of inline function don’t include exception handling.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prstClr val="white"/>
              </a:buClr>
              <a:defRPr/>
            </a:pP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- The body of inline function don’t be recursive.</a:t>
            </a:r>
          </a:p>
        </p:txBody>
      </p:sp>
    </p:spTree>
    <p:extLst>
      <p:ext uri="{BB962C8B-B14F-4D97-AF65-F5344CB8AC3E}">
        <p14:creationId xmlns:p14="http://schemas.microsoft.com/office/powerpoint/2010/main" val="2894857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8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38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38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38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38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38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38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5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09800" y="76200"/>
            <a:ext cx="7772400" cy="6096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dirty="0" smtClean="0"/>
              <a:t>  Inline Functions(continued)</a:t>
            </a:r>
          </a:p>
        </p:txBody>
      </p:sp>
      <p:sp>
        <p:nvSpPr>
          <p:cNvPr id="162821" name="Rectangle 5"/>
          <p:cNvSpPr>
            <a:spLocks noChangeArrowheads="1"/>
          </p:cNvSpPr>
          <p:nvPr/>
        </p:nvSpPr>
        <p:spPr bwMode="auto">
          <a:xfrm>
            <a:off x="1676400" y="871538"/>
            <a:ext cx="8839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marL="609600" indent="-609600">
              <a:lnSpc>
                <a:spcPct val="95000"/>
              </a:lnSpc>
              <a:spcBef>
                <a:spcPct val="20000"/>
              </a:spcBef>
              <a:buClr>
                <a:prstClr val="white"/>
              </a:buClr>
              <a:defRPr/>
            </a:pPr>
            <a:r>
              <a:rPr lang="en-US" altLang="zh-CN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Difference Between </a:t>
            </a:r>
            <a:r>
              <a:rPr lang="en-US" altLang="zh-CN" i="1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inline</a:t>
            </a:r>
            <a:r>
              <a:rPr lang="en-US" altLang="zh-CN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Function and </a:t>
            </a:r>
            <a:r>
              <a:rPr lang="en-US" altLang="zh-CN" i="1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#define</a:t>
            </a:r>
          </a:p>
        </p:txBody>
      </p:sp>
      <p:sp>
        <p:nvSpPr>
          <p:cNvPr id="162822" name="Text Box 6"/>
          <p:cNvSpPr txBox="1">
            <a:spLocks noChangeArrowheads="1"/>
          </p:cNvSpPr>
          <p:nvPr/>
        </p:nvSpPr>
        <p:spPr bwMode="auto">
          <a:xfrm>
            <a:off x="1690689" y="1416051"/>
            <a:ext cx="4391025" cy="4151313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000" rIns="0" bIns="72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#include &lt;iostream.h&gt;</a:t>
            </a:r>
          </a:p>
          <a:p>
            <a:pPr>
              <a:lnSpc>
                <a:spcPct val="2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</a:rPr>
              <a:t>#define f(x) x*x</a:t>
            </a:r>
          </a:p>
          <a:p>
            <a:pPr algn="just">
              <a:lnSpc>
                <a:spcPct val="2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</a:rPr>
              <a:t> </a:t>
            </a:r>
          </a:p>
          <a:p>
            <a:pPr algn="just">
              <a:lnSpc>
                <a:spcPct val="2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</a:rPr>
              <a:t> </a:t>
            </a:r>
          </a:p>
          <a:p>
            <a:pPr algn="just">
              <a:lnSpc>
                <a:spcPct val="2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</a:rPr>
              <a:t> </a:t>
            </a:r>
          </a:p>
          <a:p>
            <a:pPr algn="just">
              <a:lnSpc>
                <a:spcPct val="2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</a:rPr>
              <a:t>void main()</a:t>
            </a:r>
          </a:p>
          <a:p>
            <a:pPr algn="just">
              <a:lnSpc>
                <a:spcPct val="2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</a:rPr>
              <a:t>{</a:t>
            </a:r>
          </a:p>
          <a:p>
            <a:pPr algn="just">
              <a:lnSpc>
                <a:spcPct val="2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</a:rPr>
              <a:t>    int x(2);</a:t>
            </a:r>
          </a:p>
          <a:p>
            <a:pPr algn="just">
              <a:lnSpc>
                <a:spcPct val="2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</a:rPr>
              <a:t>    cout&lt;&lt;f(x)&lt;&lt;endl;</a:t>
            </a:r>
          </a:p>
          <a:p>
            <a:pPr algn="just">
              <a:lnSpc>
                <a:spcPct val="2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</a:rPr>
              <a:t>    cout&lt;&lt;f(x+1)&lt;&lt;endl;</a:t>
            </a:r>
          </a:p>
          <a:p>
            <a:pPr algn="just">
              <a:lnSpc>
                <a:spcPct val="2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</a:rPr>
              <a:t>}</a:t>
            </a:r>
          </a:p>
        </p:txBody>
      </p:sp>
      <p:sp>
        <p:nvSpPr>
          <p:cNvPr id="162824" name="Text Box 8"/>
          <p:cNvSpPr txBox="1">
            <a:spLocks noChangeArrowheads="1"/>
          </p:cNvSpPr>
          <p:nvPr/>
        </p:nvSpPr>
        <p:spPr bwMode="auto">
          <a:xfrm>
            <a:off x="1690689" y="5605463"/>
            <a:ext cx="4391025" cy="1217612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000" rIns="0" bIns="72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Output:</a:t>
            </a:r>
          </a:p>
          <a:p>
            <a:pPr>
              <a:lnSpc>
                <a:spcPct val="2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</a:rPr>
              <a:t>4</a:t>
            </a:r>
          </a:p>
          <a:p>
            <a:pPr algn="just">
              <a:lnSpc>
                <a:spcPct val="2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</a:rPr>
              <a:t>5 </a:t>
            </a:r>
          </a:p>
        </p:txBody>
      </p:sp>
      <p:sp>
        <p:nvSpPr>
          <p:cNvPr id="162825" name="Text Box 9"/>
          <p:cNvSpPr txBox="1">
            <a:spLocks noChangeArrowheads="1"/>
          </p:cNvSpPr>
          <p:nvPr/>
        </p:nvSpPr>
        <p:spPr bwMode="auto">
          <a:xfrm>
            <a:off x="6172201" y="1417638"/>
            <a:ext cx="4391025" cy="4151312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000" rIns="0" bIns="72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#include &lt;iostream.h&gt;</a:t>
            </a:r>
          </a:p>
          <a:p>
            <a:pPr algn="just">
              <a:lnSpc>
                <a:spcPct val="2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</a:rPr>
              <a:t>inline int f(int x)</a:t>
            </a:r>
          </a:p>
          <a:p>
            <a:pPr algn="just">
              <a:lnSpc>
                <a:spcPct val="2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</a:rPr>
              <a:t>{</a:t>
            </a:r>
          </a:p>
          <a:p>
            <a:pPr algn="just">
              <a:lnSpc>
                <a:spcPct val="2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</a:rPr>
              <a:t>	return x*x;</a:t>
            </a:r>
          </a:p>
          <a:p>
            <a:pPr>
              <a:lnSpc>
                <a:spcPct val="2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</a:rPr>
              <a:t>} </a:t>
            </a:r>
          </a:p>
          <a:p>
            <a:pPr>
              <a:lnSpc>
                <a:spcPct val="2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</a:rPr>
              <a:t>void main()</a:t>
            </a:r>
          </a:p>
          <a:p>
            <a:pPr algn="just">
              <a:lnSpc>
                <a:spcPct val="2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</a:rPr>
              <a:t>{</a:t>
            </a:r>
          </a:p>
          <a:p>
            <a:pPr algn="just">
              <a:lnSpc>
                <a:spcPct val="2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</a:rPr>
              <a:t>    int x(2);</a:t>
            </a:r>
          </a:p>
          <a:p>
            <a:pPr algn="just">
              <a:lnSpc>
                <a:spcPct val="2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</a:rPr>
              <a:t>    cout&lt;&lt;f(x)&lt;&lt;endl;</a:t>
            </a:r>
          </a:p>
          <a:p>
            <a:pPr algn="just">
              <a:lnSpc>
                <a:spcPct val="2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</a:rPr>
              <a:t>    cout&lt;&lt;f(x+1)&lt;&lt;endl;</a:t>
            </a:r>
          </a:p>
          <a:p>
            <a:pPr algn="just">
              <a:lnSpc>
                <a:spcPct val="2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</a:rPr>
              <a:t>}</a:t>
            </a:r>
          </a:p>
        </p:txBody>
      </p:sp>
      <p:sp>
        <p:nvSpPr>
          <p:cNvPr id="162826" name="Text Box 10"/>
          <p:cNvSpPr txBox="1">
            <a:spLocks noChangeArrowheads="1"/>
          </p:cNvSpPr>
          <p:nvPr/>
        </p:nvSpPr>
        <p:spPr bwMode="auto">
          <a:xfrm>
            <a:off x="6172201" y="5607051"/>
            <a:ext cx="4391025" cy="1217613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000" rIns="0" bIns="72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Output:</a:t>
            </a:r>
          </a:p>
          <a:p>
            <a:pPr>
              <a:lnSpc>
                <a:spcPct val="2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</a:rPr>
              <a:t>4</a:t>
            </a:r>
          </a:p>
          <a:p>
            <a:pPr algn="just">
              <a:lnSpc>
                <a:spcPct val="2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</a:rPr>
              <a:t>9 </a:t>
            </a:r>
          </a:p>
        </p:txBody>
      </p:sp>
      <p:sp>
        <p:nvSpPr>
          <p:cNvPr id="162827" name="Text Box 11"/>
          <p:cNvSpPr txBox="1">
            <a:spLocks noChangeArrowheads="1"/>
          </p:cNvSpPr>
          <p:nvPr/>
        </p:nvSpPr>
        <p:spPr bwMode="auto">
          <a:xfrm>
            <a:off x="2057400" y="6081713"/>
            <a:ext cx="4114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sz="2800" i="1">
                <a:solidFill>
                  <a:srgbClr val="FF0000"/>
                </a:solidFill>
                <a:ea typeface="楷体_GB2312" pitchFamily="49" charset="-122"/>
              </a:rPr>
              <a:t>f(x) is replaced 2*2</a:t>
            </a:r>
          </a:p>
          <a:p>
            <a:pPr>
              <a:lnSpc>
                <a:spcPct val="3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sz="2800" i="1">
                <a:solidFill>
                  <a:srgbClr val="FF0000"/>
                </a:solidFill>
                <a:ea typeface="楷体_GB2312" pitchFamily="49" charset="-122"/>
              </a:rPr>
              <a:t>f(x+1) is repalced 2+1*2+1</a:t>
            </a:r>
          </a:p>
        </p:txBody>
      </p:sp>
      <p:sp>
        <p:nvSpPr>
          <p:cNvPr id="162828" name="Text Box 12"/>
          <p:cNvSpPr txBox="1">
            <a:spLocks noChangeArrowheads="1"/>
          </p:cNvSpPr>
          <p:nvPr/>
        </p:nvSpPr>
        <p:spPr bwMode="auto">
          <a:xfrm>
            <a:off x="7162800" y="6064250"/>
            <a:ext cx="3276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sz="2800" i="1">
                <a:solidFill>
                  <a:srgbClr val="FF0000"/>
                </a:solidFill>
                <a:ea typeface="楷体_GB2312" pitchFamily="49" charset="-122"/>
              </a:rPr>
              <a:t>f(x) is replaced 2*2</a:t>
            </a:r>
          </a:p>
          <a:p>
            <a:pPr>
              <a:lnSpc>
                <a:spcPct val="3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sz="2800" i="1">
                <a:solidFill>
                  <a:srgbClr val="FF0000"/>
                </a:solidFill>
                <a:ea typeface="楷体_GB2312" pitchFamily="49" charset="-122"/>
              </a:rPr>
              <a:t>f(x+1) is repalced 3*3</a:t>
            </a:r>
          </a:p>
        </p:txBody>
      </p:sp>
    </p:spTree>
    <p:extLst>
      <p:ext uri="{BB962C8B-B14F-4D97-AF65-F5344CB8AC3E}">
        <p14:creationId xmlns:p14="http://schemas.microsoft.com/office/powerpoint/2010/main" val="1421577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62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62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62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62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62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28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28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28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28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62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62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628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28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21" grpId="0" autoUpdateAnimBg="0"/>
      <p:bldP spid="162822" grpId="0" animBg="1" autoUpdateAnimBg="0"/>
      <p:bldP spid="162824" grpId="0" animBg="1" autoUpdateAnimBg="0"/>
      <p:bldP spid="162825" grpId="0" animBg="1" autoUpdateAnimBg="0"/>
      <p:bldP spid="162826" grpId="0" animBg="1" autoUpdateAnimBg="0"/>
      <p:bldP spid="162827" grpId="0" autoUpdateAnimBg="0"/>
      <p:bldP spid="162828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4" name="Rectangle 4"/>
          <p:cNvSpPr>
            <a:spLocks noGrp="1" noChangeArrowheads="1"/>
          </p:cNvSpPr>
          <p:nvPr>
            <p:ph type="title"/>
          </p:nvPr>
        </p:nvSpPr>
        <p:spPr>
          <a:xfrm>
            <a:off x="2209800" y="76200"/>
            <a:ext cx="7772400" cy="6096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dirty="0" smtClean="0"/>
              <a:t>  Overloaded Function Names</a:t>
            </a:r>
          </a:p>
        </p:txBody>
      </p:sp>
      <p:sp>
        <p:nvSpPr>
          <p:cNvPr id="112645" name="Rectangle 5"/>
          <p:cNvSpPr>
            <a:spLocks noChangeArrowheads="1"/>
          </p:cNvSpPr>
          <p:nvPr/>
        </p:nvSpPr>
        <p:spPr bwMode="auto">
          <a:xfrm>
            <a:off x="1676400" y="1238250"/>
            <a:ext cx="8839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marL="609600" indent="-609600">
              <a:lnSpc>
                <a:spcPct val="95000"/>
              </a:lnSpc>
              <a:spcBef>
                <a:spcPct val="20000"/>
              </a:spcBef>
              <a:buClr>
                <a:prstClr val="white"/>
              </a:buClr>
              <a:defRPr/>
            </a:pPr>
            <a:r>
              <a:rPr lang="en-US" altLang="zh-CN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Overloading</a:t>
            </a:r>
          </a:p>
        </p:txBody>
      </p:sp>
      <p:sp>
        <p:nvSpPr>
          <p:cNvPr id="112646" name="Rectangle 6"/>
          <p:cNvSpPr>
            <a:spLocks noChangeArrowheads="1"/>
          </p:cNvSpPr>
          <p:nvPr/>
        </p:nvSpPr>
        <p:spPr bwMode="auto">
          <a:xfrm>
            <a:off x="1600200" y="1466850"/>
            <a:ext cx="9067800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prstClr val="white"/>
              </a:buClr>
              <a:buFontTx/>
              <a:buChar char="•"/>
              <a:defRPr/>
            </a:pP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When some functions conceptually perform </a:t>
            </a:r>
            <a:r>
              <a:rPr lang="en-US" altLang="zh-CN" i="1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the same task on objects of different types</a:t>
            </a: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it can be more convenient to give them the same name.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prstClr val="white"/>
              </a:buClr>
              <a:buFontTx/>
              <a:buChar char="•"/>
              <a:defRPr/>
            </a:pP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Using the </a:t>
            </a:r>
            <a:r>
              <a:rPr lang="en-US" altLang="zh-CN" i="1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same name</a:t>
            </a: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for operations on different types is called </a:t>
            </a:r>
            <a:r>
              <a:rPr lang="en-US" altLang="zh-CN" i="1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overloading</a:t>
            </a: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</a:t>
            </a:r>
          </a:p>
        </p:txBody>
      </p:sp>
      <p:sp>
        <p:nvSpPr>
          <p:cNvPr id="112647" name="Text Box 7"/>
          <p:cNvSpPr txBox="1">
            <a:spLocks noChangeArrowheads="1"/>
          </p:cNvSpPr>
          <p:nvPr/>
        </p:nvSpPr>
        <p:spPr bwMode="auto">
          <a:xfrm>
            <a:off x="1600200" y="3733801"/>
            <a:ext cx="8991600" cy="3051175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000" rIns="0" bIns="72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void print(double);</a:t>
            </a:r>
            <a:endParaRPr lang="en-US" altLang="zh-CN" i="1">
              <a:solidFill>
                <a:srgbClr val="FF0000"/>
              </a:solidFill>
              <a:ea typeface="楷体_GB2312" pitchFamily="49" charset="-122"/>
            </a:endParaRPr>
          </a:p>
          <a:p>
            <a:pPr>
              <a:lnSpc>
                <a:spcPct val="2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void print(long);</a:t>
            </a:r>
            <a:endParaRPr lang="en-US" altLang="zh-CN" i="1">
              <a:solidFill>
                <a:srgbClr val="A50021"/>
              </a:solidFill>
              <a:ea typeface="楷体_GB2312" pitchFamily="49" charset="-122"/>
            </a:endParaRPr>
          </a:p>
          <a:p>
            <a:pPr>
              <a:lnSpc>
                <a:spcPct val="2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void f()</a:t>
            </a:r>
          </a:p>
          <a:p>
            <a:pPr>
              <a:lnSpc>
                <a:spcPct val="2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{</a:t>
            </a:r>
          </a:p>
          <a:p>
            <a:pPr>
              <a:lnSpc>
                <a:spcPct val="2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    print(1L);		//print(long)</a:t>
            </a:r>
          </a:p>
          <a:p>
            <a:pPr>
              <a:lnSpc>
                <a:spcPct val="2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    print(1.0);		//print(double)</a:t>
            </a:r>
          </a:p>
          <a:p>
            <a:pPr>
              <a:lnSpc>
                <a:spcPct val="2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    </a:t>
            </a:r>
            <a:r>
              <a:rPr lang="en-US" altLang="zh-CN" i="1">
                <a:solidFill>
                  <a:srgbClr val="FF0000"/>
                </a:solidFill>
                <a:ea typeface="楷体_GB2312" pitchFamily="49" charset="-122"/>
              </a:rPr>
              <a:t>print(1);		//error:ambiguous</a:t>
            </a:r>
          </a:p>
          <a:p>
            <a:pPr>
              <a:lnSpc>
                <a:spcPct val="2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593673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2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6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26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500"/>
                                        <p:tgtEl>
                                          <p:spTgt spid="112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5" grpId="0" autoUpdateAnimBg="0"/>
      <p:bldP spid="112646" grpId="0" build="p" autoUpdateAnimBg="0"/>
      <p:bldP spid="112647" grpId="0" animBg="1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2" name="Rectangle 4"/>
          <p:cNvSpPr>
            <a:spLocks noGrp="1" noChangeArrowheads="1"/>
          </p:cNvSpPr>
          <p:nvPr>
            <p:ph type="title"/>
          </p:nvPr>
        </p:nvSpPr>
        <p:spPr>
          <a:xfrm>
            <a:off x="1562100" y="437983"/>
            <a:ext cx="9144000" cy="609600"/>
          </a:xfrm>
        </p:spPr>
        <p:txBody>
          <a:bodyPr vert="horz" lIns="0" tIns="45720" rIns="0" bIns="45720" rtlCol="0" anchor="ctr">
            <a:normAutofit fontScale="90000"/>
          </a:bodyPr>
          <a:lstStyle/>
          <a:p>
            <a:pPr eaLnBrk="1" hangingPunct="1">
              <a:defRPr/>
            </a:pPr>
            <a:r>
              <a:rPr lang="en-US" altLang="zh-CN" sz="4000" dirty="0" smtClean="0"/>
              <a:t>  </a:t>
            </a:r>
            <a:r>
              <a:rPr lang="en-US" altLang="zh-CN" sz="4000" dirty="0"/>
              <a:t>Overloaded Function Names(continued)</a:t>
            </a:r>
          </a:p>
        </p:txBody>
      </p:sp>
      <p:sp>
        <p:nvSpPr>
          <p:cNvPr id="150533" name="Rectangle 5"/>
          <p:cNvSpPr>
            <a:spLocks noChangeArrowheads="1"/>
          </p:cNvSpPr>
          <p:nvPr/>
        </p:nvSpPr>
        <p:spPr bwMode="auto">
          <a:xfrm>
            <a:off x="1600200" y="1566997"/>
            <a:ext cx="8839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marL="609600" indent="-609600">
              <a:lnSpc>
                <a:spcPct val="95000"/>
              </a:lnSpc>
              <a:spcBef>
                <a:spcPct val="20000"/>
              </a:spcBef>
              <a:buClr>
                <a:prstClr val="white"/>
              </a:buClr>
              <a:defRPr/>
            </a:pPr>
            <a:r>
              <a:rPr lang="en-US" altLang="zh-CN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Criteria of overloaded function</a:t>
            </a:r>
          </a:p>
        </p:txBody>
      </p:sp>
      <p:sp>
        <p:nvSpPr>
          <p:cNvPr id="150534" name="Rectangle 6"/>
          <p:cNvSpPr>
            <a:spLocks noChangeArrowheads="1"/>
          </p:cNvSpPr>
          <p:nvPr/>
        </p:nvSpPr>
        <p:spPr bwMode="auto">
          <a:xfrm>
            <a:off x="1600200" y="1466850"/>
            <a:ext cx="9067800" cy="501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prstClr val="white"/>
              </a:buClr>
              <a:buFontTx/>
              <a:buChar char="•"/>
              <a:defRPr/>
            </a:pP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The compiler must figure out which of the functions is to be invoked.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prstClr val="white"/>
              </a:buClr>
              <a:buFontTx/>
              <a:buChar char="•"/>
              <a:defRPr/>
            </a:pP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Invoke the functions that is the </a:t>
            </a:r>
            <a:r>
              <a:rPr lang="en-US" altLang="zh-CN" i="1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best match</a:t>
            </a: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on the arguments: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prstClr val="white"/>
              </a:buClr>
              <a:defRPr/>
            </a:pP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- the </a:t>
            </a:r>
            <a:r>
              <a:rPr lang="en-US" altLang="zh-CN" i="1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number</a:t>
            </a: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of the arguments;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prstClr val="white"/>
              </a:buClr>
              <a:defRPr/>
            </a:pP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- the </a:t>
            </a:r>
            <a:r>
              <a:rPr lang="en-US" altLang="zh-CN" i="1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type</a:t>
            </a: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of the arguments;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prstClr val="white"/>
              </a:buClr>
              <a:buFontTx/>
              <a:buChar char="•"/>
              <a:defRPr/>
            </a:pP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If no function is the best match, the compiler will give a compile-time error.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prstClr val="white"/>
              </a:buClr>
              <a:buFontTx/>
              <a:buChar char="•"/>
              <a:defRPr/>
            </a:pP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The overloading resolution is independent of the order of declaration of the functions considered.</a:t>
            </a:r>
          </a:p>
        </p:txBody>
      </p:sp>
    </p:spTree>
    <p:extLst>
      <p:ext uri="{BB962C8B-B14F-4D97-AF65-F5344CB8AC3E}">
        <p14:creationId xmlns:p14="http://schemas.microsoft.com/office/powerpoint/2010/main" val="2583348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50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05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05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05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05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05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05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05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05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05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05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05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05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3" grpId="0" autoUpdateAnimBg="0"/>
      <p:bldP spid="150534" grpId="0" build="p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6" name="Rectangle 4"/>
          <p:cNvSpPr>
            <a:spLocks noGrp="1" noChangeArrowheads="1"/>
          </p:cNvSpPr>
          <p:nvPr>
            <p:ph type="title"/>
          </p:nvPr>
        </p:nvSpPr>
        <p:spPr>
          <a:xfrm>
            <a:off x="1524000" y="514082"/>
            <a:ext cx="9144000" cy="609600"/>
          </a:xfrm>
        </p:spPr>
        <p:txBody>
          <a:bodyPr vert="horz" lIns="0" tIns="45720" rIns="0" bIns="45720" rtlCol="0" anchor="ctr">
            <a:normAutofit fontScale="90000"/>
          </a:bodyPr>
          <a:lstStyle/>
          <a:p>
            <a:pPr eaLnBrk="1" hangingPunct="1">
              <a:defRPr/>
            </a:pPr>
            <a:r>
              <a:rPr lang="en-US" altLang="zh-CN" sz="4000" dirty="0" smtClean="0"/>
              <a:t> </a:t>
            </a:r>
            <a:r>
              <a:rPr lang="en-US" altLang="zh-CN" sz="4000" dirty="0"/>
              <a:t>Overloaded Function Names(continued)</a:t>
            </a:r>
          </a:p>
        </p:txBody>
      </p:sp>
      <p:sp>
        <p:nvSpPr>
          <p:cNvPr id="151557" name="Rectangle 5"/>
          <p:cNvSpPr>
            <a:spLocks noChangeArrowheads="1"/>
          </p:cNvSpPr>
          <p:nvPr/>
        </p:nvSpPr>
        <p:spPr bwMode="auto">
          <a:xfrm>
            <a:off x="1600200" y="990600"/>
            <a:ext cx="90678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marL="342900" indent="-342900">
              <a:spcBef>
                <a:spcPct val="20000"/>
              </a:spcBef>
              <a:buClr>
                <a:prstClr val="white"/>
              </a:buClr>
              <a:buFontTx/>
              <a:buChar char="•"/>
              <a:defRPr/>
            </a:pP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 series of criteria of the best match in order:</a:t>
            </a:r>
          </a:p>
          <a:p>
            <a:pPr marL="342900" indent="-342900">
              <a:spcBef>
                <a:spcPct val="20000"/>
              </a:spcBef>
              <a:buClr>
                <a:prstClr val="white"/>
              </a:buClr>
              <a:defRPr/>
            </a:pP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- </a:t>
            </a:r>
            <a:r>
              <a:rPr lang="en-US" altLang="zh-CN" i="1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Exact match</a:t>
            </a: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: match using no or only trivial conversions;</a:t>
            </a:r>
          </a:p>
          <a:p>
            <a:pPr marL="342900" indent="-342900">
              <a:spcBef>
                <a:spcPct val="20000"/>
              </a:spcBef>
              <a:buClr>
                <a:prstClr val="white"/>
              </a:buClr>
              <a:defRPr/>
            </a:pP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- </a:t>
            </a:r>
            <a:r>
              <a:rPr lang="en-US" altLang="zh-CN" i="1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Match using promotions</a:t>
            </a: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: integral promotions and float to double;</a:t>
            </a:r>
          </a:p>
          <a:p>
            <a:pPr marL="342900" indent="-342900">
              <a:spcBef>
                <a:spcPct val="20000"/>
              </a:spcBef>
              <a:buClr>
                <a:prstClr val="white"/>
              </a:buClr>
              <a:defRPr/>
            </a:pP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- </a:t>
            </a:r>
            <a:r>
              <a:rPr lang="en-US" altLang="zh-CN" i="1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Match using standard conversions</a:t>
            </a: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</a:t>
            </a:r>
          </a:p>
          <a:p>
            <a:pPr marL="342900" indent="-342900">
              <a:spcBef>
                <a:spcPct val="20000"/>
              </a:spcBef>
              <a:buClr>
                <a:prstClr val="white"/>
              </a:buClr>
              <a:defRPr/>
            </a:pP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- </a:t>
            </a:r>
            <a:r>
              <a:rPr lang="en-US" altLang="zh-CN" i="1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Match using user-defined conversions</a:t>
            </a: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</a:t>
            </a:r>
          </a:p>
          <a:p>
            <a:pPr marL="342900" indent="-342900">
              <a:spcBef>
                <a:spcPct val="20000"/>
              </a:spcBef>
              <a:buClr>
                <a:prstClr val="white"/>
              </a:buClr>
              <a:defRPr/>
            </a:pP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- </a:t>
            </a:r>
            <a:r>
              <a:rPr lang="en-US" altLang="zh-CN" i="1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Mach using the ellipsis … in a function declaration</a:t>
            </a: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</a:t>
            </a:r>
          </a:p>
          <a:p>
            <a:pPr marL="342900" indent="-342900">
              <a:spcBef>
                <a:spcPct val="20000"/>
              </a:spcBef>
              <a:buClr>
                <a:prstClr val="white"/>
              </a:buClr>
              <a:buFontTx/>
              <a:buChar char="•"/>
              <a:defRPr/>
            </a:pP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If two matches are found at the highest level where a match is found, the call is rejected as ambiguous.</a:t>
            </a:r>
          </a:p>
        </p:txBody>
      </p:sp>
    </p:spTree>
    <p:extLst>
      <p:ext uri="{BB962C8B-B14F-4D97-AF65-F5344CB8AC3E}">
        <p14:creationId xmlns:p14="http://schemas.microsoft.com/office/powerpoint/2010/main" val="198201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1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1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15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15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15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15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15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15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15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15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15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15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15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15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7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80" name="Rectangle 4"/>
          <p:cNvSpPr>
            <a:spLocks noGrp="1" noChangeArrowheads="1"/>
          </p:cNvSpPr>
          <p:nvPr>
            <p:ph type="title"/>
          </p:nvPr>
        </p:nvSpPr>
        <p:spPr>
          <a:xfrm>
            <a:off x="1524000" y="76200"/>
            <a:ext cx="9144000" cy="609600"/>
          </a:xfrm>
        </p:spPr>
        <p:txBody>
          <a:bodyPr vert="horz" lIns="0" tIns="45720" rIns="0" bIns="45720" rtlCol="0" anchor="ctr">
            <a:normAutofit fontScale="90000"/>
          </a:bodyPr>
          <a:lstStyle/>
          <a:p>
            <a:pPr eaLnBrk="1" hangingPunct="1">
              <a:defRPr/>
            </a:pPr>
            <a:r>
              <a:rPr lang="en-US" altLang="zh-CN" sz="4000" dirty="0" smtClean="0"/>
              <a:t> </a:t>
            </a:r>
            <a:r>
              <a:rPr lang="en-US" altLang="zh-CN" sz="4000" dirty="0"/>
              <a:t>Overloaded Function Names(continued)</a:t>
            </a:r>
          </a:p>
        </p:txBody>
      </p:sp>
      <p:sp>
        <p:nvSpPr>
          <p:cNvPr id="152581" name="Text Box 5"/>
          <p:cNvSpPr txBox="1">
            <a:spLocks noChangeArrowheads="1"/>
          </p:cNvSpPr>
          <p:nvPr/>
        </p:nvSpPr>
        <p:spPr bwMode="auto">
          <a:xfrm>
            <a:off x="1676400" y="785813"/>
            <a:ext cx="8839200" cy="6064250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000" rIns="0" bIns="72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void print(int);</a:t>
            </a:r>
          </a:p>
          <a:p>
            <a:pPr>
              <a:lnSpc>
                <a:spcPct val="2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void print(const char*);</a:t>
            </a:r>
          </a:p>
          <a:p>
            <a:pPr>
              <a:lnSpc>
                <a:spcPct val="2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void print(double);</a:t>
            </a:r>
          </a:p>
          <a:p>
            <a:pPr>
              <a:lnSpc>
                <a:spcPct val="2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void print(long);</a:t>
            </a:r>
          </a:p>
          <a:p>
            <a:pPr>
              <a:lnSpc>
                <a:spcPct val="1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void print(char);</a:t>
            </a:r>
          </a:p>
          <a:p>
            <a:pPr>
              <a:lnSpc>
                <a:spcPct val="1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endParaRPr lang="en-US" altLang="zh-CN" i="1">
              <a:solidFill>
                <a:prstClr val="black"/>
              </a:solidFill>
              <a:ea typeface="楷体_GB2312" pitchFamily="49" charset="-122"/>
            </a:endParaRPr>
          </a:p>
          <a:p>
            <a:pPr>
              <a:lnSpc>
                <a:spcPct val="2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void h(char c, int i, short s, float f)</a:t>
            </a:r>
          </a:p>
          <a:p>
            <a:pPr>
              <a:lnSpc>
                <a:spcPct val="2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{</a:t>
            </a:r>
          </a:p>
          <a:p>
            <a:pPr>
              <a:lnSpc>
                <a:spcPct val="2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print(c);		//exact match: print(char)</a:t>
            </a:r>
          </a:p>
          <a:p>
            <a:pPr>
              <a:lnSpc>
                <a:spcPct val="2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print(i); 		//exact match: print(int)</a:t>
            </a:r>
          </a:p>
          <a:p>
            <a:pPr>
              <a:lnSpc>
                <a:spcPct val="1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print(s); 	</a:t>
            </a:r>
            <a:r>
              <a:rPr lang="en-US" altLang="zh-CN" i="1">
                <a:solidFill>
                  <a:srgbClr val="A50021"/>
                </a:solidFill>
                <a:ea typeface="楷体_GB2312" pitchFamily="49" charset="-122"/>
              </a:rPr>
              <a:t>//integral promotion: print(int)</a:t>
            </a:r>
          </a:p>
          <a:p>
            <a:pPr>
              <a:lnSpc>
                <a:spcPct val="1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print(f);	 	</a:t>
            </a:r>
            <a:r>
              <a:rPr lang="en-US" altLang="zh-CN" i="1">
                <a:solidFill>
                  <a:srgbClr val="A50021"/>
                </a:solidFill>
                <a:ea typeface="楷体_GB2312" pitchFamily="49" charset="-122"/>
              </a:rPr>
              <a:t>//float to double: print(double)</a:t>
            </a:r>
          </a:p>
          <a:p>
            <a:pPr>
              <a:lnSpc>
                <a:spcPct val="1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endParaRPr lang="en-US" altLang="zh-CN" i="1">
              <a:solidFill>
                <a:prstClr val="black"/>
              </a:solidFill>
              <a:ea typeface="楷体_GB2312" pitchFamily="49" charset="-122"/>
            </a:endParaRPr>
          </a:p>
          <a:p>
            <a:pPr>
              <a:lnSpc>
                <a:spcPct val="1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print(</a:t>
            </a:r>
            <a:r>
              <a:rPr lang="en-US" altLang="zh-CN" i="1">
                <a:solidFill>
                  <a:prstClr val="black"/>
                </a:solidFill>
              </a:rPr>
              <a:t>'</a:t>
            </a: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c</a:t>
            </a:r>
            <a:r>
              <a:rPr lang="en-US" altLang="zh-CN" i="1">
                <a:solidFill>
                  <a:prstClr val="black"/>
                </a:solidFill>
              </a:rPr>
              <a:t>'</a:t>
            </a: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); 	//exact match: print(char)</a:t>
            </a:r>
          </a:p>
          <a:p>
            <a:pPr>
              <a:lnSpc>
                <a:spcPct val="1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print(49); 	//exact match: print(int)</a:t>
            </a:r>
          </a:p>
          <a:p>
            <a:pPr>
              <a:lnSpc>
                <a:spcPct val="1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print(0); 	//exact match: print(int)</a:t>
            </a:r>
          </a:p>
          <a:p>
            <a:pPr>
              <a:lnSpc>
                <a:spcPct val="1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print("a"); 	//exact match: print(const char*)</a:t>
            </a:r>
          </a:p>
          <a:p>
            <a:pPr>
              <a:lnSpc>
                <a:spcPct val="1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62729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5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81" grpId="0" animBg="1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4" name="Rectangle 4"/>
          <p:cNvSpPr>
            <a:spLocks noGrp="1" noChangeArrowheads="1"/>
          </p:cNvSpPr>
          <p:nvPr>
            <p:ph type="title"/>
          </p:nvPr>
        </p:nvSpPr>
        <p:spPr>
          <a:xfrm>
            <a:off x="1524000" y="76200"/>
            <a:ext cx="9144000" cy="609600"/>
          </a:xfrm>
        </p:spPr>
        <p:txBody>
          <a:bodyPr vert="horz" lIns="0" tIns="45720" rIns="0" bIns="45720" rtlCol="0" anchor="ctr">
            <a:normAutofit fontScale="90000"/>
          </a:bodyPr>
          <a:lstStyle/>
          <a:p>
            <a:pPr eaLnBrk="1" hangingPunct="1">
              <a:defRPr/>
            </a:pPr>
            <a:r>
              <a:rPr lang="en-US" altLang="zh-CN" sz="4000" dirty="0" smtClean="0"/>
              <a:t>Overloaded </a:t>
            </a:r>
            <a:r>
              <a:rPr lang="en-US" altLang="zh-CN" sz="4000" dirty="0"/>
              <a:t>Function Names(continued)</a:t>
            </a:r>
          </a:p>
        </p:txBody>
      </p:sp>
      <p:sp>
        <p:nvSpPr>
          <p:cNvPr id="148485" name="Rectangle 5"/>
          <p:cNvSpPr>
            <a:spLocks noChangeArrowheads="1"/>
          </p:cNvSpPr>
          <p:nvPr/>
        </p:nvSpPr>
        <p:spPr bwMode="auto">
          <a:xfrm>
            <a:off x="1676400" y="871538"/>
            <a:ext cx="8839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marL="609600" indent="-609600">
              <a:lnSpc>
                <a:spcPct val="95000"/>
              </a:lnSpc>
              <a:spcBef>
                <a:spcPct val="20000"/>
              </a:spcBef>
              <a:buClr>
                <a:prstClr val="white"/>
              </a:buClr>
              <a:defRPr/>
            </a:pPr>
            <a:r>
              <a:rPr lang="en-US" altLang="zh-CN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Notice</a:t>
            </a:r>
          </a:p>
        </p:txBody>
      </p:sp>
      <p:sp>
        <p:nvSpPr>
          <p:cNvPr id="148487" name="Rectangle 7"/>
          <p:cNvSpPr>
            <a:spLocks noChangeArrowheads="1"/>
          </p:cNvSpPr>
          <p:nvPr/>
        </p:nvSpPr>
        <p:spPr bwMode="auto">
          <a:xfrm>
            <a:off x="1600200" y="1466850"/>
            <a:ext cx="9067800" cy="81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prstClr val="white"/>
              </a:buClr>
              <a:buFontTx/>
              <a:buChar char="•"/>
              <a:defRPr/>
            </a:pPr>
            <a:r>
              <a:rPr lang="en-US" altLang="zh-CN" i="1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Return types</a:t>
            </a: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are </a:t>
            </a:r>
            <a:r>
              <a:rPr lang="en-US" altLang="zh-CN" i="1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not </a:t>
            </a: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considered in overload resolution.</a:t>
            </a:r>
          </a:p>
        </p:txBody>
      </p:sp>
      <p:sp>
        <p:nvSpPr>
          <p:cNvPr id="148488" name="Text Box 8"/>
          <p:cNvSpPr txBox="1">
            <a:spLocks noChangeArrowheads="1"/>
          </p:cNvSpPr>
          <p:nvPr/>
        </p:nvSpPr>
        <p:spPr bwMode="auto">
          <a:xfrm>
            <a:off x="1600200" y="2347981"/>
            <a:ext cx="8991600" cy="933314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000" rIns="0" bIns="72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</a:t>
            </a:r>
            <a:r>
              <a:rPr lang="en-US" altLang="zh-CN" i="1">
                <a:solidFill>
                  <a:srgbClr val="FF3300"/>
                </a:solidFill>
                <a:ea typeface="楷体_GB2312" pitchFamily="49" charset="-122"/>
              </a:rPr>
              <a:t>int</a:t>
            </a: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add(int ,int);</a:t>
            </a:r>
            <a:endParaRPr lang="en-US" altLang="zh-CN" i="1">
              <a:solidFill>
                <a:srgbClr val="FF0000"/>
              </a:solidFill>
              <a:ea typeface="楷体_GB2312" pitchFamily="49" charset="-122"/>
            </a:endParaRPr>
          </a:p>
          <a:p>
            <a:pPr>
              <a:lnSpc>
                <a:spcPct val="4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</a:t>
            </a:r>
            <a:r>
              <a:rPr lang="en-US" altLang="zh-CN" i="1">
                <a:solidFill>
                  <a:srgbClr val="FF3300"/>
                </a:solidFill>
                <a:ea typeface="楷体_GB2312" pitchFamily="49" charset="-122"/>
              </a:rPr>
              <a:t>void</a:t>
            </a: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add(int,int);		</a:t>
            </a:r>
            <a:r>
              <a:rPr lang="en-US" altLang="zh-CN" i="1">
                <a:solidFill>
                  <a:srgbClr val="FF3300"/>
                </a:solidFill>
                <a:ea typeface="楷体_GB2312" pitchFamily="49" charset="-122"/>
              </a:rPr>
              <a:t>//error: redefinition</a:t>
            </a:r>
          </a:p>
        </p:txBody>
      </p:sp>
      <p:sp>
        <p:nvSpPr>
          <p:cNvPr id="148489" name="Rectangle 9"/>
          <p:cNvSpPr>
            <a:spLocks noChangeArrowheads="1"/>
          </p:cNvSpPr>
          <p:nvPr/>
        </p:nvSpPr>
        <p:spPr bwMode="auto">
          <a:xfrm>
            <a:off x="1600200" y="3352800"/>
            <a:ext cx="9067800" cy="81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prstClr val="white"/>
              </a:buClr>
              <a:buFontTx/>
              <a:buChar char="•"/>
              <a:defRPr/>
            </a:pPr>
            <a:r>
              <a:rPr lang="en-US" altLang="zh-CN" i="1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The name of arguments</a:t>
            </a: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are </a:t>
            </a:r>
            <a:r>
              <a:rPr lang="en-US" altLang="zh-CN" i="1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not </a:t>
            </a: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considered in overload resolution.</a:t>
            </a:r>
          </a:p>
        </p:txBody>
      </p:sp>
      <p:sp>
        <p:nvSpPr>
          <p:cNvPr id="148490" name="Text Box 10"/>
          <p:cNvSpPr txBox="1">
            <a:spLocks noChangeArrowheads="1"/>
          </p:cNvSpPr>
          <p:nvPr/>
        </p:nvSpPr>
        <p:spPr bwMode="auto">
          <a:xfrm>
            <a:off x="1600200" y="4233931"/>
            <a:ext cx="8991600" cy="933314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000" rIns="0" bIns="72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int add(int </a:t>
            </a:r>
            <a:r>
              <a:rPr lang="en-US" altLang="zh-CN" i="1">
                <a:solidFill>
                  <a:srgbClr val="FF3300"/>
                </a:solidFill>
                <a:ea typeface="楷体_GB2312" pitchFamily="49" charset="-122"/>
              </a:rPr>
              <a:t>x</a:t>
            </a: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,int </a:t>
            </a:r>
            <a:r>
              <a:rPr lang="en-US" altLang="zh-CN" i="1">
                <a:solidFill>
                  <a:srgbClr val="FF3300"/>
                </a:solidFill>
                <a:ea typeface="楷体_GB2312" pitchFamily="49" charset="-122"/>
              </a:rPr>
              <a:t>y</a:t>
            </a: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);</a:t>
            </a:r>
          </a:p>
          <a:p>
            <a:pPr>
              <a:lnSpc>
                <a:spcPct val="4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void add(int </a:t>
            </a:r>
            <a:r>
              <a:rPr lang="en-US" altLang="zh-CN" i="1">
                <a:solidFill>
                  <a:srgbClr val="FF3300"/>
                </a:solidFill>
                <a:ea typeface="楷体_GB2312" pitchFamily="49" charset="-122"/>
              </a:rPr>
              <a:t>a</a:t>
            </a: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,int </a:t>
            </a:r>
            <a:r>
              <a:rPr lang="en-US" altLang="zh-CN" i="1">
                <a:solidFill>
                  <a:srgbClr val="FF3300"/>
                </a:solidFill>
                <a:ea typeface="楷体_GB2312" pitchFamily="49" charset="-122"/>
              </a:rPr>
              <a:t>b</a:t>
            </a: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);		</a:t>
            </a:r>
            <a:r>
              <a:rPr lang="en-US" altLang="zh-CN" i="1">
                <a:solidFill>
                  <a:srgbClr val="FF3300"/>
                </a:solidFill>
                <a:ea typeface="楷体_GB2312" pitchFamily="49" charset="-122"/>
              </a:rPr>
              <a:t>//error: redefinition</a:t>
            </a:r>
          </a:p>
        </p:txBody>
      </p:sp>
      <p:sp>
        <p:nvSpPr>
          <p:cNvPr id="148491" name="Rectangle 11"/>
          <p:cNvSpPr>
            <a:spLocks noChangeArrowheads="1"/>
          </p:cNvSpPr>
          <p:nvPr/>
        </p:nvSpPr>
        <p:spPr bwMode="auto">
          <a:xfrm>
            <a:off x="1600200" y="5334000"/>
            <a:ext cx="906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prstClr val="white"/>
              </a:buClr>
              <a:buFontTx/>
              <a:buChar char="•"/>
              <a:defRPr/>
            </a:pPr>
            <a:r>
              <a:rPr lang="en-US" altLang="zh-CN" i="1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The body of functions</a:t>
            </a: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are </a:t>
            </a:r>
            <a:r>
              <a:rPr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similar</a:t>
            </a: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</a:t>
            </a:r>
          </a:p>
        </p:txBody>
      </p:sp>
      <p:sp>
        <p:nvSpPr>
          <p:cNvPr id="148492" name="Text Box 12"/>
          <p:cNvSpPr txBox="1">
            <a:spLocks noChangeArrowheads="1"/>
          </p:cNvSpPr>
          <p:nvPr/>
        </p:nvSpPr>
        <p:spPr bwMode="auto">
          <a:xfrm>
            <a:off x="1600200" y="5862706"/>
            <a:ext cx="8991600" cy="933314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000" rIns="0" bIns="72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int add(int x,int y) { return </a:t>
            </a:r>
            <a:r>
              <a:rPr lang="en-US" altLang="zh-CN" i="1">
                <a:solidFill>
                  <a:srgbClr val="FF3300"/>
                </a:solidFill>
                <a:ea typeface="楷体_GB2312" pitchFamily="49" charset="-122"/>
              </a:rPr>
              <a:t>x+y</a:t>
            </a: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; }</a:t>
            </a:r>
          </a:p>
          <a:p>
            <a:pPr>
              <a:lnSpc>
                <a:spcPct val="4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double add(double x,double y) { return </a:t>
            </a:r>
            <a:r>
              <a:rPr lang="en-US" altLang="zh-CN" i="1">
                <a:solidFill>
                  <a:srgbClr val="FF3300"/>
                </a:solidFill>
                <a:ea typeface="楷体_GB2312" pitchFamily="49" charset="-122"/>
              </a:rPr>
              <a:t>x-y</a:t>
            </a: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; }</a:t>
            </a:r>
            <a:endParaRPr lang="en-US" altLang="zh-CN" i="1">
              <a:solidFill>
                <a:srgbClr val="FF3300"/>
              </a:solidFill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3457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48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84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84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148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84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84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9" dur="500"/>
                                        <p:tgtEl>
                                          <p:spTgt spid="148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8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8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500"/>
                                        <p:tgtEl>
                                          <p:spTgt spid="148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5" grpId="0" autoUpdateAnimBg="0"/>
      <p:bldP spid="148487" grpId="0" build="p" autoUpdateAnimBg="0"/>
      <p:bldP spid="148488" grpId="0" animBg="1" autoUpdateAnimBg="0"/>
      <p:bldP spid="148489" grpId="0" build="p" autoUpdateAnimBg="0"/>
      <p:bldP spid="148490" grpId="0" animBg="1" autoUpdateAnimBg="0"/>
      <p:bldP spid="148491" grpId="0" build="p" autoUpdateAnimBg="0"/>
      <p:bldP spid="148492" grpId="0" animBg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8" name="Rectangle 4"/>
          <p:cNvSpPr>
            <a:spLocks noGrp="1" noChangeArrowheads="1"/>
          </p:cNvSpPr>
          <p:nvPr>
            <p:ph type="title"/>
          </p:nvPr>
        </p:nvSpPr>
        <p:spPr>
          <a:xfrm>
            <a:off x="1524000" y="76200"/>
            <a:ext cx="9144000" cy="609600"/>
          </a:xfrm>
        </p:spPr>
        <p:txBody>
          <a:bodyPr vert="horz" lIns="0" tIns="45720" rIns="0" bIns="45720" rtlCol="0" anchor="ctr">
            <a:normAutofit fontScale="90000"/>
          </a:bodyPr>
          <a:lstStyle/>
          <a:p>
            <a:pPr eaLnBrk="1" hangingPunct="1">
              <a:defRPr/>
            </a:pPr>
            <a:r>
              <a:rPr lang="en-US" altLang="zh-CN" sz="4000" dirty="0" smtClean="0"/>
              <a:t>Overloaded </a:t>
            </a:r>
            <a:r>
              <a:rPr lang="en-US" altLang="zh-CN" sz="4000" dirty="0"/>
              <a:t>Function Names(continued)</a:t>
            </a:r>
          </a:p>
        </p:txBody>
      </p:sp>
      <p:sp>
        <p:nvSpPr>
          <p:cNvPr id="149510" name="Rectangle 6"/>
          <p:cNvSpPr>
            <a:spLocks noChangeArrowheads="1"/>
          </p:cNvSpPr>
          <p:nvPr/>
        </p:nvSpPr>
        <p:spPr bwMode="auto">
          <a:xfrm>
            <a:off x="1600200" y="914400"/>
            <a:ext cx="9067800" cy="81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prstClr val="white"/>
              </a:buClr>
              <a:buFontTx/>
              <a:buChar char="•"/>
              <a:defRPr/>
            </a:pP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Functions declared in different non-namespaces scopes do not overload. </a:t>
            </a:r>
          </a:p>
        </p:txBody>
      </p:sp>
      <p:sp>
        <p:nvSpPr>
          <p:cNvPr id="149511" name="Text Box 7"/>
          <p:cNvSpPr txBox="1">
            <a:spLocks noChangeArrowheads="1"/>
          </p:cNvSpPr>
          <p:nvPr/>
        </p:nvSpPr>
        <p:spPr bwMode="auto">
          <a:xfrm>
            <a:off x="1600200" y="1828801"/>
            <a:ext cx="8991600" cy="2682875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000" rIns="0" bIns="72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void f(int);</a:t>
            </a:r>
          </a:p>
          <a:p>
            <a:pPr>
              <a:lnSpc>
                <a:spcPct val="4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void g()</a:t>
            </a:r>
          </a:p>
          <a:p>
            <a:pPr>
              <a:lnSpc>
                <a:spcPct val="4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{</a:t>
            </a:r>
          </a:p>
          <a:p>
            <a:pPr>
              <a:lnSpc>
                <a:spcPct val="4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    void f(double);</a:t>
            </a:r>
          </a:p>
          <a:p>
            <a:pPr>
              <a:lnSpc>
                <a:spcPct val="4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    f(1);				</a:t>
            </a:r>
            <a:r>
              <a:rPr lang="en-US" altLang="zh-CN" i="1">
                <a:solidFill>
                  <a:srgbClr val="FF3300"/>
                </a:solidFill>
                <a:ea typeface="楷体_GB2312" pitchFamily="49" charset="-122"/>
              </a:rPr>
              <a:t>//call f(double)</a:t>
            </a:r>
          </a:p>
          <a:p>
            <a:pPr>
              <a:lnSpc>
                <a:spcPct val="4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997854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9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9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149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10" grpId="0" build="p" autoUpdateAnimBg="0"/>
      <p:bldP spid="149511" grpId="0" animBg="1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4" name="Rectangle 4"/>
          <p:cNvSpPr>
            <a:spLocks noGrp="1" noChangeArrowheads="1"/>
          </p:cNvSpPr>
          <p:nvPr>
            <p:ph type="title"/>
          </p:nvPr>
        </p:nvSpPr>
        <p:spPr>
          <a:xfrm>
            <a:off x="1524000" y="76200"/>
            <a:ext cx="9144000" cy="609600"/>
          </a:xfrm>
        </p:spPr>
        <p:txBody>
          <a:bodyPr vert="horz" lIns="0" tIns="45720" rIns="0" bIns="45720" rtlCol="0" anchor="ctr">
            <a:normAutofit fontScale="90000"/>
          </a:bodyPr>
          <a:lstStyle/>
          <a:p>
            <a:pPr eaLnBrk="1" hangingPunct="1">
              <a:defRPr/>
            </a:pPr>
            <a:r>
              <a:rPr lang="en-US" altLang="zh-CN" sz="4000" dirty="0" smtClean="0"/>
              <a:t> </a:t>
            </a:r>
            <a:r>
              <a:rPr lang="en-US" altLang="zh-CN" sz="4000" dirty="0"/>
              <a:t>Overloaded Function Names(continued)</a:t>
            </a:r>
          </a:p>
        </p:txBody>
      </p:sp>
      <p:sp>
        <p:nvSpPr>
          <p:cNvPr id="153605" name="Text Box 5"/>
          <p:cNvSpPr txBox="1">
            <a:spLocks noChangeArrowheads="1"/>
          </p:cNvSpPr>
          <p:nvPr/>
        </p:nvSpPr>
        <p:spPr bwMode="auto">
          <a:xfrm>
            <a:off x="1676400" y="841023"/>
            <a:ext cx="8839200" cy="5931606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000" rIns="0" bIns="72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srgbClr val="A50021"/>
                </a:solidFill>
                <a:ea typeface="楷体_GB2312" pitchFamily="49" charset="-122"/>
              </a:rPr>
              <a:t>//</a:t>
            </a:r>
            <a:r>
              <a:rPr lang="en-US" altLang="zh-CN" i="1" dirty="0" smtClean="0">
                <a:solidFill>
                  <a:srgbClr val="A50021"/>
                </a:solidFill>
                <a:ea typeface="楷体_GB2312" pitchFamily="49" charset="-122"/>
              </a:rPr>
              <a:t>example</a:t>
            </a:r>
            <a:endParaRPr lang="en-US" altLang="zh-CN" i="1" dirty="0">
              <a:solidFill>
                <a:srgbClr val="A50021"/>
              </a:solidFill>
              <a:ea typeface="楷体_GB2312" pitchFamily="49" charset="-122"/>
            </a:endParaRPr>
          </a:p>
          <a:p>
            <a:pPr>
              <a:lnSpc>
                <a:spcPct val="3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#include &lt;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iostream.h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&gt;</a:t>
            </a:r>
          </a:p>
          <a:p>
            <a:pPr>
              <a:lnSpc>
                <a:spcPct val="3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int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add(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int,int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);		          </a:t>
            </a:r>
            <a:r>
              <a:rPr lang="en-US" altLang="zh-CN" i="1" dirty="0">
                <a:solidFill>
                  <a:srgbClr val="FF3300"/>
                </a:solidFill>
                <a:ea typeface="楷体_GB2312" pitchFamily="49" charset="-122"/>
              </a:rPr>
              <a:t>//the type of</a:t>
            </a:r>
          </a:p>
          <a:p>
            <a:pPr>
              <a:lnSpc>
                <a:spcPct val="3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double add(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double,double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); </a:t>
            </a:r>
            <a:r>
              <a:rPr lang="en-US" altLang="zh-CN" i="1" dirty="0">
                <a:solidFill>
                  <a:srgbClr val="FF3300"/>
                </a:solidFill>
                <a:ea typeface="楷体_GB2312" pitchFamily="49" charset="-122"/>
              </a:rPr>
              <a:t>//arguments are different</a:t>
            </a:r>
          </a:p>
          <a:p>
            <a:pPr>
              <a:lnSpc>
                <a:spcPct val="3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void main()</a:t>
            </a:r>
          </a:p>
          <a:p>
            <a:pPr>
              <a:lnSpc>
                <a:spcPct val="3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{</a:t>
            </a:r>
          </a:p>
          <a:p>
            <a:pPr>
              <a:lnSpc>
                <a:spcPct val="3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   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cout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&lt;&lt;add(5,10)&lt;&lt;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endl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;</a:t>
            </a:r>
          </a:p>
          <a:p>
            <a:pPr>
              <a:lnSpc>
                <a:spcPct val="3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   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cout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&lt;&lt;add(5.0,10.5)&lt;&lt;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endl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;</a:t>
            </a:r>
          </a:p>
          <a:p>
            <a:pPr>
              <a:lnSpc>
                <a:spcPct val="3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}</a:t>
            </a:r>
          </a:p>
          <a:p>
            <a:pPr>
              <a:lnSpc>
                <a:spcPct val="3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int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add(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int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x,int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y)</a:t>
            </a:r>
          </a:p>
          <a:p>
            <a:pPr>
              <a:lnSpc>
                <a:spcPct val="3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{</a:t>
            </a:r>
          </a:p>
          <a:p>
            <a:pPr>
              <a:lnSpc>
                <a:spcPct val="3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   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cout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&lt;&lt;"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int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"&lt;&lt;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endl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;</a:t>
            </a:r>
          </a:p>
          <a:p>
            <a:pPr>
              <a:lnSpc>
                <a:spcPct val="3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   return 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x+y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;</a:t>
            </a:r>
          </a:p>
          <a:p>
            <a:pPr>
              <a:lnSpc>
                <a:spcPct val="3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7263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53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5" grpId="0" animBg="1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8" name="Rectangle 4"/>
          <p:cNvSpPr>
            <a:spLocks noGrp="1" noChangeArrowheads="1"/>
          </p:cNvSpPr>
          <p:nvPr>
            <p:ph type="title"/>
          </p:nvPr>
        </p:nvSpPr>
        <p:spPr>
          <a:xfrm>
            <a:off x="1524000" y="76200"/>
            <a:ext cx="9144000" cy="609600"/>
          </a:xfrm>
        </p:spPr>
        <p:txBody>
          <a:bodyPr vert="horz" lIns="0" tIns="45720" rIns="0" bIns="45720" rtlCol="0" anchor="ctr">
            <a:normAutofit fontScale="90000"/>
          </a:bodyPr>
          <a:lstStyle/>
          <a:p>
            <a:pPr eaLnBrk="1" hangingPunct="1">
              <a:defRPr/>
            </a:pPr>
            <a:r>
              <a:rPr lang="en-US" altLang="zh-CN" sz="4000" dirty="0" smtClean="0"/>
              <a:t>Overloaded </a:t>
            </a:r>
            <a:r>
              <a:rPr lang="en-US" altLang="zh-CN" sz="4000" dirty="0"/>
              <a:t>Function Names(continued)</a:t>
            </a:r>
          </a:p>
        </p:txBody>
      </p:sp>
      <p:sp>
        <p:nvSpPr>
          <p:cNvPr id="154629" name="Text Box 5"/>
          <p:cNvSpPr txBox="1">
            <a:spLocks noChangeArrowheads="1"/>
          </p:cNvSpPr>
          <p:nvPr/>
        </p:nvSpPr>
        <p:spPr bwMode="auto">
          <a:xfrm>
            <a:off x="1676400" y="859095"/>
            <a:ext cx="8839200" cy="2936363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000" rIns="0" bIns="72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9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srgbClr val="A50021"/>
                </a:solidFill>
                <a:ea typeface="楷体_GB2312" pitchFamily="49" charset="-122"/>
              </a:rPr>
              <a:t>//</a:t>
            </a:r>
            <a:r>
              <a:rPr lang="en-US" altLang="zh-CN" i="1" dirty="0" smtClean="0">
                <a:solidFill>
                  <a:srgbClr val="A50021"/>
                </a:solidFill>
                <a:ea typeface="楷体_GB2312" pitchFamily="49" charset="-122"/>
              </a:rPr>
              <a:t>example</a:t>
            </a:r>
            <a:endParaRPr lang="en-US" altLang="zh-CN" i="1" dirty="0">
              <a:solidFill>
                <a:prstClr val="black"/>
              </a:solidFill>
              <a:ea typeface="楷体_GB2312" pitchFamily="49" charset="-122"/>
            </a:endParaRPr>
          </a:p>
          <a:p>
            <a:pPr>
              <a:lnSpc>
                <a:spcPct val="4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double add(double 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x,double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y)</a:t>
            </a:r>
          </a:p>
          <a:p>
            <a:pPr>
              <a:lnSpc>
                <a:spcPct val="4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{</a:t>
            </a:r>
          </a:p>
          <a:p>
            <a:pPr>
              <a:lnSpc>
                <a:spcPct val="4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   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cout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&lt;&lt;"double"&lt;&lt;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endl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;</a:t>
            </a:r>
          </a:p>
          <a:p>
            <a:pPr>
              <a:lnSpc>
                <a:spcPct val="4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   return 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x+y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;</a:t>
            </a:r>
          </a:p>
          <a:p>
            <a:pPr>
              <a:lnSpc>
                <a:spcPct val="4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}</a:t>
            </a:r>
          </a:p>
        </p:txBody>
      </p:sp>
      <p:sp>
        <p:nvSpPr>
          <p:cNvPr id="154630" name="Text Box 6"/>
          <p:cNvSpPr txBox="1">
            <a:spLocks noChangeArrowheads="1"/>
          </p:cNvSpPr>
          <p:nvPr/>
        </p:nvSpPr>
        <p:spPr bwMode="auto">
          <a:xfrm>
            <a:off x="1676400" y="3863976"/>
            <a:ext cx="8763000" cy="2536825"/>
          </a:xfrm>
          <a:prstGeom prst="rect">
            <a:avLst/>
          </a:prstGeom>
          <a:gradFill rotWithShape="0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000" rIns="0" bIns="72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srgbClr val="003399"/>
                </a:solidFill>
                <a:ea typeface="楷体_GB2312" pitchFamily="49" charset="-122"/>
              </a:rPr>
              <a:t>Output: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>
                <a:solidFill>
                  <a:srgbClr val="003399"/>
                </a:solidFill>
                <a:ea typeface="楷体_GB2312" pitchFamily="49" charset="-122"/>
              </a:rPr>
              <a:t>    int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zh-CN" altLang="en-US">
                <a:solidFill>
                  <a:srgbClr val="003399"/>
                </a:solidFill>
                <a:ea typeface="楷体_GB2312" pitchFamily="49" charset="-122"/>
              </a:rPr>
              <a:t>　</a:t>
            </a:r>
            <a:r>
              <a:rPr lang="en-US" altLang="zh-CN">
                <a:solidFill>
                  <a:srgbClr val="003399"/>
                </a:solidFill>
                <a:ea typeface="楷体_GB2312" pitchFamily="49" charset="-122"/>
              </a:rPr>
              <a:t>15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zh-CN" altLang="en-US">
                <a:solidFill>
                  <a:srgbClr val="003399"/>
                </a:solidFill>
                <a:ea typeface="楷体_GB2312" pitchFamily="49" charset="-122"/>
              </a:rPr>
              <a:t>　</a:t>
            </a:r>
            <a:r>
              <a:rPr lang="en-US" altLang="zh-CN">
                <a:solidFill>
                  <a:srgbClr val="003399"/>
                </a:solidFill>
                <a:ea typeface="楷体_GB2312" pitchFamily="49" charset="-122"/>
              </a:rPr>
              <a:t>double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zh-CN" altLang="en-US">
                <a:solidFill>
                  <a:srgbClr val="003399"/>
                </a:solidFill>
                <a:ea typeface="楷体_GB2312" pitchFamily="49" charset="-122"/>
              </a:rPr>
              <a:t>　</a:t>
            </a:r>
            <a:r>
              <a:rPr lang="en-US" altLang="zh-CN">
                <a:solidFill>
                  <a:srgbClr val="003399"/>
                </a:solidFill>
                <a:ea typeface="楷体_GB2312" pitchFamily="49" charset="-122"/>
              </a:rPr>
              <a:t>15.5</a:t>
            </a:r>
          </a:p>
        </p:txBody>
      </p:sp>
    </p:spTree>
    <p:extLst>
      <p:ext uri="{BB962C8B-B14F-4D97-AF65-F5344CB8AC3E}">
        <p14:creationId xmlns:p14="http://schemas.microsoft.com/office/powerpoint/2010/main" val="2194487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54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154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29" grpId="0" animBg="1" autoUpdateAnimBg="0"/>
      <p:bldP spid="154630" grpId="0" animBg="1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2" name="Rectangle 4"/>
          <p:cNvSpPr>
            <a:spLocks noGrp="1" noChangeArrowheads="1"/>
          </p:cNvSpPr>
          <p:nvPr>
            <p:ph type="title"/>
          </p:nvPr>
        </p:nvSpPr>
        <p:spPr>
          <a:xfrm>
            <a:off x="1524000" y="76200"/>
            <a:ext cx="9144000" cy="609600"/>
          </a:xfrm>
        </p:spPr>
        <p:txBody>
          <a:bodyPr vert="horz" lIns="0" tIns="45720" rIns="0" bIns="45720" rtlCol="0" anchor="ctr">
            <a:normAutofit fontScale="90000"/>
          </a:bodyPr>
          <a:lstStyle/>
          <a:p>
            <a:pPr eaLnBrk="1" hangingPunct="1">
              <a:defRPr/>
            </a:pPr>
            <a:r>
              <a:rPr lang="en-US" altLang="zh-CN" sz="4000" dirty="0" smtClean="0"/>
              <a:t>Overloaded </a:t>
            </a:r>
            <a:r>
              <a:rPr lang="en-US" altLang="zh-CN" sz="4000" dirty="0"/>
              <a:t>Function Names(continued)</a:t>
            </a:r>
          </a:p>
        </p:txBody>
      </p:sp>
      <p:sp>
        <p:nvSpPr>
          <p:cNvPr id="155653" name="Text Box 5"/>
          <p:cNvSpPr txBox="1">
            <a:spLocks noChangeArrowheads="1"/>
          </p:cNvSpPr>
          <p:nvPr/>
        </p:nvSpPr>
        <p:spPr bwMode="auto">
          <a:xfrm>
            <a:off x="1676400" y="900270"/>
            <a:ext cx="8839200" cy="5813112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000" rIns="0" bIns="72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srgbClr val="A50021"/>
                </a:solidFill>
                <a:ea typeface="楷体_GB2312" pitchFamily="49" charset="-122"/>
              </a:rPr>
              <a:t>//</a:t>
            </a:r>
            <a:r>
              <a:rPr lang="en-US" altLang="zh-CN" i="1" dirty="0" smtClean="0">
                <a:solidFill>
                  <a:srgbClr val="A50021"/>
                </a:solidFill>
                <a:ea typeface="楷体_GB2312" pitchFamily="49" charset="-122"/>
              </a:rPr>
              <a:t>example</a:t>
            </a:r>
            <a:endParaRPr lang="en-US" altLang="zh-CN" i="1" dirty="0">
              <a:solidFill>
                <a:srgbClr val="A50021"/>
              </a:solidFill>
              <a:ea typeface="楷体_GB2312" pitchFamily="49" charset="-122"/>
            </a:endParaRPr>
          </a:p>
          <a:p>
            <a:pPr>
              <a:lnSpc>
                <a:spcPct val="35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#include &lt;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iostream.h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&gt;</a:t>
            </a:r>
          </a:p>
          <a:p>
            <a:pPr>
              <a:lnSpc>
                <a:spcPct val="3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int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min(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int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a,int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b);			</a:t>
            </a:r>
            <a:r>
              <a:rPr lang="en-US" altLang="zh-CN" i="1" dirty="0">
                <a:solidFill>
                  <a:srgbClr val="FF0000"/>
                </a:solidFill>
                <a:ea typeface="楷体_GB2312" pitchFamily="49" charset="-122"/>
              </a:rPr>
              <a:t>//the number of</a:t>
            </a:r>
          </a:p>
          <a:p>
            <a:pPr>
              <a:lnSpc>
                <a:spcPct val="3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int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min(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int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a,int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b,int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c);		</a:t>
            </a:r>
            <a:r>
              <a:rPr lang="en-US" altLang="zh-CN" i="1" dirty="0">
                <a:solidFill>
                  <a:srgbClr val="FF0000"/>
                </a:solidFill>
                <a:ea typeface="楷体_GB2312" pitchFamily="49" charset="-122"/>
              </a:rPr>
              <a:t>// arguments are</a:t>
            </a:r>
          </a:p>
          <a:p>
            <a:pPr>
              <a:lnSpc>
                <a:spcPct val="3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int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min(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int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a,int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b,int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c,int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d);	</a:t>
            </a:r>
            <a:r>
              <a:rPr lang="en-US" altLang="zh-CN" i="1" dirty="0">
                <a:solidFill>
                  <a:srgbClr val="FF0000"/>
                </a:solidFill>
                <a:ea typeface="楷体_GB2312" pitchFamily="49" charset="-122"/>
              </a:rPr>
              <a:t>// different</a:t>
            </a:r>
          </a:p>
          <a:p>
            <a:pPr>
              <a:lnSpc>
                <a:spcPct val="3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void main()</a:t>
            </a:r>
          </a:p>
          <a:p>
            <a:pPr>
              <a:lnSpc>
                <a:spcPct val="3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{</a:t>
            </a:r>
          </a:p>
          <a:p>
            <a:pPr>
              <a:lnSpc>
                <a:spcPct val="3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   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cout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&lt;&lt;min(13,5,4,9)&lt;&lt;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endl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;</a:t>
            </a:r>
          </a:p>
          <a:p>
            <a:pPr>
              <a:lnSpc>
                <a:spcPct val="3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   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cout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&lt;&lt;min(-2,8,0)&lt;&lt;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endl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;</a:t>
            </a:r>
          </a:p>
          <a:p>
            <a:pPr>
              <a:lnSpc>
                <a:spcPct val="3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}</a:t>
            </a:r>
          </a:p>
          <a:p>
            <a:pPr>
              <a:lnSpc>
                <a:spcPct val="3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int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min(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int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a,int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b)</a:t>
            </a:r>
          </a:p>
          <a:p>
            <a:pPr>
              <a:lnSpc>
                <a:spcPct val="3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{</a:t>
            </a:r>
          </a:p>
          <a:p>
            <a:pPr>
              <a:lnSpc>
                <a:spcPct val="3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   return a&lt;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b?a:b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;</a:t>
            </a:r>
          </a:p>
          <a:p>
            <a:pPr>
              <a:lnSpc>
                <a:spcPct val="33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81100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55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3" grpId="0" animBg="1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6" name="Rectangle 4"/>
          <p:cNvSpPr>
            <a:spLocks noGrp="1" noChangeArrowheads="1"/>
          </p:cNvSpPr>
          <p:nvPr>
            <p:ph type="title"/>
          </p:nvPr>
        </p:nvSpPr>
        <p:spPr>
          <a:xfrm>
            <a:off x="1524000" y="76200"/>
            <a:ext cx="9144000" cy="609600"/>
          </a:xfrm>
        </p:spPr>
        <p:txBody>
          <a:bodyPr vert="horz" lIns="0" tIns="45720" rIns="0" bIns="45720" rtlCol="0" anchor="ctr">
            <a:normAutofit fontScale="90000"/>
          </a:bodyPr>
          <a:lstStyle/>
          <a:p>
            <a:pPr eaLnBrk="1" hangingPunct="1">
              <a:defRPr/>
            </a:pPr>
            <a:r>
              <a:rPr lang="en-US" altLang="zh-CN" sz="4000" dirty="0" smtClean="0"/>
              <a:t> </a:t>
            </a:r>
            <a:r>
              <a:rPr lang="en-US" altLang="zh-CN" sz="4000" dirty="0"/>
              <a:t>Overloaded Function Names(continued)</a:t>
            </a:r>
          </a:p>
        </p:txBody>
      </p:sp>
      <p:sp>
        <p:nvSpPr>
          <p:cNvPr id="156677" name="Text Box 5"/>
          <p:cNvSpPr txBox="1">
            <a:spLocks noChangeArrowheads="1"/>
          </p:cNvSpPr>
          <p:nvPr/>
        </p:nvSpPr>
        <p:spPr bwMode="auto">
          <a:xfrm>
            <a:off x="1676400" y="721666"/>
            <a:ext cx="8839200" cy="4882857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000" rIns="0" bIns="72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srgbClr val="A50021"/>
                </a:solidFill>
                <a:ea typeface="楷体_GB2312" pitchFamily="49" charset="-122"/>
              </a:rPr>
              <a:t>//</a:t>
            </a:r>
            <a:r>
              <a:rPr lang="en-US" altLang="zh-CN" i="1" dirty="0" smtClean="0">
                <a:solidFill>
                  <a:srgbClr val="A50021"/>
                </a:solidFill>
                <a:ea typeface="楷体_GB2312" pitchFamily="49" charset="-122"/>
              </a:rPr>
              <a:t>example</a:t>
            </a:r>
            <a:endParaRPr lang="en-US" altLang="zh-CN" i="1" dirty="0">
              <a:solidFill>
                <a:srgbClr val="A50021"/>
              </a:solidFill>
              <a:ea typeface="楷体_GB2312" pitchFamily="49" charset="-122"/>
            </a:endParaRPr>
          </a:p>
          <a:p>
            <a:pPr>
              <a:lnSpc>
                <a:spcPct val="3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int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min(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int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a,int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b,int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c)</a:t>
            </a:r>
          </a:p>
          <a:p>
            <a:pPr>
              <a:lnSpc>
                <a:spcPct val="3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{</a:t>
            </a:r>
          </a:p>
          <a:p>
            <a:pPr>
              <a:lnSpc>
                <a:spcPct val="3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   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int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t=min(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a,b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);</a:t>
            </a:r>
          </a:p>
          <a:p>
            <a:pPr>
              <a:lnSpc>
                <a:spcPct val="3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   return min(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t,c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);</a:t>
            </a:r>
          </a:p>
          <a:p>
            <a:pPr>
              <a:lnSpc>
                <a:spcPct val="3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}</a:t>
            </a:r>
          </a:p>
          <a:p>
            <a:pPr>
              <a:lnSpc>
                <a:spcPct val="3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int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min(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int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a,int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b,int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c,int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d)</a:t>
            </a:r>
          </a:p>
          <a:p>
            <a:pPr>
              <a:lnSpc>
                <a:spcPct val="3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{</a:t>
            </a:r>
          </a:p>
          <a:p>
            <a:pPr>
              <a:lnSpc>
                <a:spcPct val="3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   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int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t1=min(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a,b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);</a:t>
            </a:r>
          </a:p>
          <a:p>
            <a:pPr>
              <a:lnSpc>
                <a:spcPct val="3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   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int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t2=min(</a:t>
            </a:r>
            <a:r>
              <a:rPr lang="en-US" altLang="zh-CN" i="1" dirty="0" err="1">
                <a:solidFill>
                  <a:prstClr val="black"/>
                </a:solidFill>
                <a:ea typeface="楷体_GB2312" pitchFamily="49" charset="-122"/>
              </a:rPr>
              <a:t>c,d</a:t>
            </a: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);</a:t>
            </a:r>
          </a:p>
          <a:p>
            <a:pPr>
              <a:lnSpc>
                <a:spcPct val="3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    return min(t1,t2);</a:t>
            </a:r>
          </a:p>
          <a:p>
            <a:pPr>
              <a:lnSpc>
                <a:spcPct val="3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 dirty="0">
                <a:solidFill>
                  <a:prstClr val="black"/>
                </a:solidFill>
                <a:ea typeface="楷体_GB2312" pitchFamily="49" charset="-122"/>
              </a:rPr>
              <a:t>}</a:t>
            </a:r>
          </a:p>
        </p:txBody>
      </p:sp>
      <p:sp>
        <p:nvSpPr>
          <p:cNvPr id="156678" name="Text Box 6"/>
          <p:cNvSpPr txBox="1">
            <a:spLocks noChangeArrowheads="1"/>
          </p:cNvSpPr>
          <p:nvPr/>
        </p:nvSpPr>
        <p:spPr bwMode="auto">
          <a:xfrm>
            <a:off x="1676400" y="5761039"/>
            <a:ext cx="8839200" cy="973137"/>
          </a:xfrm>
          <a:prstGeom prst="rect">
            <a:avLst/>
          </a:prstGeom>
          <a:gradFill rotWithShape="0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000" rIns="0" bIns="72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srgbClr val="003399"/>
                </a:solidFill>
                <a:ea typeface="楷体_GB2312" pitchFamily="49" charset="-122"/>
              </a:rPr>
              <a:t>Output</a:t>
            </a:r>
            <a:r>
              <a:rPr lang="en-US" altLang="zh-CN">
                <a:solidFill>
                  <a:srgbClr val="003399"/>
                </a:solidFill>
                <a:ea typeface="楷体_GB2312" pitchFamily="49" charset="-122"/>
              </a:rPr>
              <a:t>: 4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zh-CN" altLang="en-US">
                <a:solidFill>
                  <a:srgbClr val="003399"/>
                </a:solidFill>
                <a:ea typeface="楷体_GB2312" pitchFamily="49" charset="-122"/>
              </a:rPr>
              <a:t>　         </a:t>
            </a:r>
            <a:r>
              <a:rPr lang="en-US" altLang="zh-CN">
                <a:solidFill>
                  <a:srgbClr val="003399"/>
                </a:solidFill>
                <a:ea typeface="楷体_GB2312" pitchFamily="49" charset="-122"/>
              </a:rPr>
              <a:t>-2</a:t>
            </a:r>
          </a:p>
        </p:txBody>
      </p:sp>
    </p:spTree>
    <p:extLst>
      <p:ext uri="{BB962C8B-B14F-4D97-AF65-F5344CB8AC3E}">
        <p14:creationId xmlns:p14="http://schemas.microsoft.com/office/powerpoint/2010/main" val="2055433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56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156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7" grpId="0" animBg="1" autoUpdateAnimBg="0"/>
      <p:bldP spid="156678" grpId="0" animBg="1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8" name="Rectangle 4"/>
          <p:cNvSpPr>
            <a:spLocks noGrp="1" noChangeArrowheads="1"/>
          </p:cNvSpPr>
          <p:nvPr>
            <p:ph type="title"/>
          </p:nvPr>
        </p:nvSpPr>
        <p:spPr>
          <a:xfrm>
            <a:off x="2209800" y="76200"/>
            <a:ext cx="7772400" cy="6096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dirty="0" smtClean="0"/>
              <a:t> Default Arguments</a:t>
            </a:r>
          </a:p>
        </p:txBody>
      </p:sp>
      <p:sp>
        <p:nvSpPr>
          <p:cNvPr id="113669" name="Rectangle 5"/>
          <p:cNvSpPr>
            <a:spLocks noChangeArrowheads="1"/>
          </p:cNvSpPr>
          <p:nvPr/>
        </p:nvSpPr>
        <p:spPr bwMode="auto">
          <a:xfrm>
            <a:off x="1600200" y="914400"/>
            <a:ext cx="90678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prstClr val="white"/>
              </a:buClr>
              <a:buFontTx/>
              <a:buChar char="•"/>
              <a:defRPr/>
            </a:pP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Default arguments can be assigned in the </a:t>
            </a:r>
            <a:r>
              <a:rPr lang="en-US" altLang="zh-CN" i="1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function declaration</a:t>
            </a: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or </a:t>
            </a:r>
            <a:r>
              <a:rPr lang="en-US" altLang="zh-CN" i="1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function definition</a:t>
            </a:r>
            <a:r>
              <a:rPr lang="en-US" altLang="zh-CN" i="1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 It is</a:t>
            </a:r>
            <a:r>
              <a:rPr lang="en-US" altLang="zh-CN" i="1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alternative.</a:t>
            </a:r>
            <a:endParaRPr lang="en-US" altLang="zh-CN">
              <a:solidFill>
                <a:prstClr val="white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13671" name="Rectangle 7"/>
          <p:cNvSpPr>
            <a:spLocks noChangeArrowheads="1"/>
          </p:cNvSpPr>
          <p:nvPr/>
        </p:nvSpPr>
        <p:spPr bwMode="auto">
          <a:xfrm>
            <a:off x="1600200" y="4038600"/>
            <a:ext cx="90678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prstClr val="white"/>
              </a:buClr>
              <a:buFontTx/>
              <a:buChar char="•"/>
              <a:defRPr/>
            </a:pP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If the number of actual arguments exact match formal arguments, we don’t use default arguments;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prstClr val="white"/>
              </a:buClr>
              <a:buFontTx/>
              <a:buChar char="•"/>
              <a:defRPr/>
            </a:pP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Otherwise (</a:t>
            </a:r>
            <a:r>
              <a:rPr lang="en-US" altLang="zh-CN" i="1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less than</a:t>
            </a: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), the compiler will complement actual arguments </a:t>
            </a:r>
            <a:r>
              <a:rPr lang="en-US" altLang="zh-CN" i="1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from left to right</a:t>
            </a: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using default arguments. </a:t>
            </a:r>
          </a:p>
        </p:txBody>
      </p:sp>
      <p:sp>
        <p:nvSpPr>
          <p:cNvPr id="113672" name="Text Box 8"/>
          <p:cNvSpPr txBox="1">
            <a:spLocks noChangeArrowheads="1"/>
          </p:cNvSpPr>
          <p:nvPr/>
        </p:nvSpPr>
        <p:spPr bwMode="auto">
          <a:xfrm>
            <a:off x="1600200" y="1905000"/>
            <a:ext cx="8991600" cy="2046288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000" rIns="0" bIns="72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int add(int x,int y=0);			</a:t>
            </a:r>
            <a:r>
              <a:rPr lang="en-US" altLang="zh-CN" i="1">
                <a:solidFill>
                  <a:srgbClr val="FF0000"/>
                </a:solidFill>
                <a:ea typeface="楷体_GB2312" pitchFamily="49" charset="-122"/>
              </a:rPr>
              <a:t>or</a:t>
            </a:r>
          </a:p>
          <a:p>
            <a:pPr>
              <a:lnSpc>
                <a:spcPct val="3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int add(int x,int y=0)</a:t>
            </a:r>
          </a:p>
          <a:p>
            <a:pPr>
              <a:lnSpc>
                <a:spcPct val="3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{</a:t>
            </a:r>
          </a:p>
          <a:p>
            <a:pPr>
              <a:lnSpc>
                <a:spcPct val="3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    //the body of function</a:t>
            </a:r>
          </a:p>
          <a:p>
            <a:pPr>
              <a:lnSpc>
                <a:spcPct val="3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}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1752600" y="6172200"/>
            <a:ext cx="8763000" cy="533400"/>
            <a:chOff x="144" y="2640"/>
            <a:chExt cx="5520" cy="336"/>
          </a:xfrm>
        </p:grpSpPr>
        <p:sp>
          <p:nvSpPr>
            <p:cNvPr id="124935" name="Rectangle 10"/>
            <p:cNvSpPr>
              <a:spLocks noChangeArrowheads="1"/>
            </p:cNvSpPr>
            <p:nvPr/>
          </p:nvSpPr>
          <p:spPr bwMode="auto">
            <a:xfrm>
              <a:off x="144" y="2640"/>
              <a:ext cx="5520" cy="336"/>
            </a:xfrm>
            <a:prstGeom prst="rect">
              <a:avLst/>
            </a:prstGeom>
            <a:gradFill rotWithShape="0">
              <a:gsLst>
                <a:gs pos="0">
                  <a:srgbClr val="CCFFFF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algn="ctr">
                <a:buClr>
                  <a:srgbClr val="EBEBEB"/>
                </a:buClr>
                <a:buFont typeface="Monotype Sorts" pitchFamily="2" charset="2"/>
                <a:buNone/>
              </a:pPr>
              <a:r>
                <a:rPr lang="en-US" altLang="zh-CN">
                  <a:solidFill>
                    <a:srgbClr val="003399"/>
                  </a:solidFill>
                  <a:ea typeface="楷体_GB2312" pitchFamily="49" charset="-122"/>
                </a:rPr>
                <a:t>add(15);</a:t>
              </a:r>
              <a:r>
                <a:rPr lang="zh-CN" altLang="en-US">
                  <a:solidFill>
                    <a:srgbClr val="003399"/>
                  </a:solidFill>
                  <a:ea typeface="楷体_GB2312" pitchFamily="49" charset="-122"/>
                </a:rPr>
                <a:t>　　　</a:t>
              </a:r>
              <a:r>
                <a:rPr lang="en-US" altLang="zh-CN">
                  <a:solidFill>
                    <a:srgbClr val="003399"/>
                  </a:solidFill>
                  <a:ea typeface="楷体_GB2312" pitchFamily="49" charset="-122"/>
                </a:rPr>
                <a:t>add(15,10);</a:t>
              </a:r>
            </a:p>
          </p:txBody>
        </p:sp>
        <p:sp>
          <p:nvSpPr>
            <p:cNvPr id="113675" name="AutoShape 11"/>
            <p:cNvSpPr>
              <a:spLocks noChangeArrowheads="1"/>
            </p:cNvSpPr>
            <p:nvPr/>
          </p:nvSpPr>
          <p:spPr bwMode="auto">
            <a:xfrm>
              <a:off x="2496" y="2776"/>
              <a:ext cx="528" cy="96"/>
            </a:xfrm>
            <a:prstGeom prst="leftRightArrow">
              <a:avLst>
                <a:gd name="adj1" fmla="val 50000"/>
                <a:gd name="adj2" fmla="val 110000"/>
              </a:avLst>
            </a:prstGeom>
            <a:gradFill rotWithShape="0">
              <a:gsLst>
                <a:gs pos="0">
                  <a:schemeClr val="bg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30000"/>
                </a:lnSpc>
                <a:spcBef>
                  <a:spcPct val="20000"/>
                </a:spcBef>
                <a:buClr>
                  <a:srgbClr val="EBEBEB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lang="en-US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08102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36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36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113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36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36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36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36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9" grpId="0" build="p" autoUpdateAnimBg="0"/>
      <p:bldP spid="113671" grpId="0" build="p" autoUpdateAnimBg="0"/>
      <p:bldP spid="113672" grpId="0" animBg="1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4" name="Rectangle 4"/>
          <p:cNvSpPr>
            <a:spLocks noGrp="1" noChangeArrowheads="1"/>
          </p:cNvSpPr>
          <p:nvPr>
            <p:ph type="title"/>
          </p:nvPr>
        </p:nvSpPr>
        <p:spPr>
          <a:xfrm>
            <a:off x="1828800" y="76200"/>
            <a:ext cx="8458200" cy="6096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dirty="0" smtClean="0"/>
              <a:t>Default Arguments(continued)</a:t>
            </a:r>
          </a:p>
        </p:txBody>
      </p:sp>
      <p:sp>
        <p:nvSpPr>
          <p:cNvPr id="158729" name="Rectangle 9"/>
          <p:cNvSpPr>
            <a:spLocks noChangeArrowheads="1"/>
          </p:cNvSpPr>
          <p:nvPr/>
        </p:nvSpPr>
        <p:spPr bwMode="auto">
          <a:xfrm>
            <a:off x="1600200" y="990600"/>
            <a:ext cx="9067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prstClr val="white"/>
              </a:buClr>
              <a:buFontTx/>
              <a:buChar char="•"/>
              <a:defRPr/>
            </a:pP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Default arguments may be provided for </a:t>
            </a:r>
            <a:r>
              <a:rPr lang="en-US" altLang="zh-CN" i="1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trailing arguments</a:t>
            </a: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only ( assignment must </a:t>
            </a:r>
            <a:r>
              <a:rPr lang="en-US" altLang="zh-CN" i="1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from right to left</a:t>
            </a: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).</a:t>
            </a:r>
          </a:p>
        </p:txBody>
      </p:sp>
      <p:sp>
        <p:nvSpPr>
          <p:cNvPr id="158730" name="Text Box 10"/>
          <p:cNvSpPr txBox="1">
            <a:spLocks noChangeArrowheads="1"/>
          </p:cNvSpPr>
          <p:nvPr/>
        </p:nvSpPr>
        <p:spPr bwMode="auto">
          <a:xfrm>
            <a:off x="1600200" y="1912939"/>
            <a:ext cx="8991600" cy="1951037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000" rIns="0" bIns="72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int add(int x,int y=5,int z=6);			//ok</a:t>
            </a:r>
            <a:endParaRPr lang="en-US" altLang="zh-CN" i="1">
              <a:solidFill>
                <a:srgbClr val="FF0000"/>
              </a:solidFill>
              <a:ea typeface="楷体_GB2312" pitchFamily="49" charset="-122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int add(int x=1,int y=5,</a:t>
            </a:r>
            <a:r>
              <a:rPr lang="en-US" altLang="zh-CN" i="1">
                <a:solidFill>
                  <a:srgbClr val="FF0000"/>
                </a:solidFill>
                <a:ea typeface="楷体_GB2312" pitchFamily="49" charset="-122"/>
              </a:rPr>
              <a:t>int z</a:t>
            </a: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);			</a:t>
            </a:r>
            <a:r>
              <a:rPr lang="en-US" altLang="zh-CN" i="1">
                <a:solidFill>
                  <a:srgbClr val="FF0000"/>
                </a:solidFill>
                <a:ea typeface="楷体_GB2312" pitchFamily="49" charset="-122"/>
              </a:rPr>
              <a:t>//error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int add(int x=1,</a:t>
            </a:r>
            <a:r>
              <a:rPr lang="en-US" altLang="zh-CN" i="1">
                <a:solidFill>
                  <a:srgbClr val="FF0000"/>
                </a:solidFill>
                <a:ea typeface="楷体_GB2312" pitchFamily="49" charset="-122"/>
              </a:rPr>
              <a:t>int y</a:t>
            </a: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,int z=6);			</a:t>
            </a:r>
            <a:r>
              <a:rPr lang="en-US" altLang="zh-CN" i="1">
                <a:solidFill>
                  <a:srgbClr val="FF0000"/>
                </a:solidFill>
                <a:ea typeface="楷体_GB2312" pitchFamily="49" charset="-122"/>
              </a:rPr>
              <a:t>//error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en-US" altLang="zh-CN" i="1">
                <a:solidFill>
                  <a:srgbClr val="EA6312"/>
                </a:solidFill>
                <a:ea typeface="楷体_GB2312" pitchFamily="49" charset="-122"/>
              </a:rPr>
              <a:t>//add(2,4); is equal to add(1,2,4)?In fact, z is no value.</a:t>
            </a:r>
          </a:p>
        </p:txBody>
      </p:sp>
      <p:sp>
        <p:nvSpPr>
          <p:cNvPr id="158731" name="Rectangle 11"/>
          <p:cNvSpPr>
            <a:spLocks noChangeArrowheads="1"/>
          </p:cNvSpPr>
          <p:nvPr/>
        </p:nvSpPr>
        <p:spPr bwMode="auto">
          <a:xfrm>
            <a:off x="1600200" y="3810000"/>
            <a:ext cx="90678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prstClr val="white"/>
              </a:buClr>
              <a:buFontTx/>
              <a:buChar char="•"/>
              <a:defRPr/>
            </a:pP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 default argument is type checked at the time of the function declaration and evaluated at the time of the call. Therefore, default arguments can be literals, constants or expressions. </a:t>
            </a:r>
          </a:p>
        </p:txBody>
      </p:sp>
      <p:sp>
        <p:nvSpPr>
          <p:cNvPr id="158732" name="Text Box 12"/>
          <p:cNvSpPr txBox="1">
            <a:spLocks noChangeArrowheads="1"/>
          </p:cNvSpPr>
          <p:nvPr/>
        </p:nvSpPr>
        <p:spPr bwMode="auto">
          <a:xfrm>
            <a:off x="1600200" y="5586370"/>
            <a:ext cx="8991600" cy="1278024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000" rIns="0" bIns="72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int f();</a:t>
            </a:r>
            <a:endParaRPr lang="en-US" altLang="zh-CN" i="1">
              <a:solidFill>
                <a:srgbClr val="FF0000"/>
              </a:solidFill>
              <a:ea typeface="楷体_GB2312" pitchFamily="49" charset="-122"/>
            </a:endParaRPr>
          </a:p>
          <a:p>
            <a:pPr>
              <a:lnSpc>
                <a:spcPct val="3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…</a:t>
            </a:r>
            <a:endParaRPr lang="en-US" altLang="zh-CN" i="1">
              <a:solidFill>
                <a:srgbClr val="FF0000"/>
              </a:solidFill>
              <a:ea typeface="楷体_GB2312" pitchFamily="49" charset="-122"/>
            </a:endParaRPr>
          </a:p>
          <a:p>
            <a:pPr>
              <a:lnSpc>
                <a:spcPct val="3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void delay(int k,int time=</a:t>
            </a:r>
            <a:r>
              <a:rPr lang="en-US" altLang="zh-CN" i="1">
                <a:solidFill>
                  <a:srgbClr val="FF0000"/>
                </a:solidFill>
                <a:ea typeface="楷体_GB2312" pitchFamily="49" charset="-122"/>
              </a:rPr>
              <a:t>f()</a:t>
            </a: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217607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8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8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15873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1587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1587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1587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1587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8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8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500"/>
                                        <p:tgtEl>
                                          <p:spTgt spid="158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9" grpId="0" build="p" autoUpdateAnimBg="0"/>
      <p:bldP spid="158730" grpId="0" build="p" animBg="1" autoUpdateAnimBg="0"/>
      <p:bldP spid="158731" grpId="0" build="p" autoUpdateAnimBg="0"/>
      <p:bldP spid="158732" grpId="0" animBg="1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00" name="Rectangle 4"/>
          <p:cNvSpPr>
            <a:spLocks noGrp="1" noChangeArrowheads="1"/>
          </p:cNvSpPr>
          <p:nvPr>
            <p:ph type="title"/>
          </p:nvPr>
        </p:nvSpPr>
        <p:spPr>
          <a:xfrm>
            <a:off x="1828800" y="76200"/>
            <a:ext cx="8458200" cy="6096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dirty="0" smtClean="0"/>
              <a:t> Default Arguments(continued)</a:t>
            </a:r>
          </a:p>
        </p:txBody>
      </p:sp>
      <p:sp>
        <p:nvSpPr>
          <p:cNvPr id="157701" name="Rectangle 5"/>
          <p:cNvSpPr>
            <a:spLocks noChangeArrowheads="1"/>
          </p:cNvSpPr>
          <p:nvPr/>
        </p:nvSpPr>
        <p:spPr bwMode="auto">
          <a:xfrm>
            <a:off x="1600200" y="4495800"/>
            <a:ext cx="90678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prstClr val="white"/>
              </a:buClr>
              <a:buFontTx/>
              <a:buChar char="•"/>
              <a:defRPr/>
            </a:pP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 default argument </a:t>
            </a:r>
            <a:r>
              <a:rPr lang="en-US" altLang="zh-CN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cannot be repeated or changed</a:t>
            </a: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in a subsequent declaration in the same scope. That is, default arguments can be assigned </a:t>
            </a:r>
            <a:r>
              <a:rPr lang="en-US" altLang="zh-CN" i="1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only once</a:t>
            </a: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in the </a:t>
            </a:r>
            <a:r>
              <a:rPr lang="en-US" altLang="zh-CN" i="1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same scope</a:t>
            </a: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 </a:t>
            </a:r>
          </a:p>
        </p:txBody>
      </p:sp>
      <p:sp>
        <p:nvSpPr>
          <p:cNvPr id="157702" name="Rectangle 6"/>
          <p:cNvSpPr>
            <a:spLocks noChangeArrowheads="1"/>
          </p:cNvSpPr>
          <p:nvPr/>
        </p:nvSpPr>
        <p:spPr bwMode="auto">
          <a:xfrm>
            <a:off x="1600200" y="990600"/>
            <a:ext cx="906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prstClr val="white"/>
              </a:buClr>
              <a:buFontTx/>
              <a:buChar char="•"/>
              <a:defRPr/>
            </a:pPr>
            <a:r>
              <a:rPr lang="en-US" altLang="zh-CN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Notice overloaded function with  default arguments.</a:t>
            </a:r>
          </a:p>
        </p:txBody>
      </p:sp>
      <p:sp>
        <p:nvSpPr>
          <p:cNvPr id="157703" name="Text Box 7"/>
          <p:cNvSpPr txBox="1">
            <a:spLocks noChangeArrowheads="1"/>
          </p:cNvSpPr>
          <p:nvPr/>
        </p:nvSpPr>
        <p:spPr bwMode="auto">
          <a:xfrm>
            <a:off x="1600200" y="1477964"/>
            <a:ext cx="8991600" cy="2928937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000" rIns="0" bIns="72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void fun(int x, int y=0);</a:t>
            </a:r>
            <a:endParaRPr lang="en-US" altLang="zh-CN" i="1">
              <a:solidFill>
                <a:srgbClr val="FF0000"/>
              </a:solidFill>
              <a:ea typeface="楷体_GB2312" pitchFamily="49" charset="-122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void fun(int x);</a:t>
            </a:r>
            <a:endParaRPr lang="en-US" altLang="zh-CN" i="1">
              <a:solidFill>
                <a:srgbClr val="FF0000"/>
              </a:solidFill>
              <a:ea typeface="楷体_GB2312" pitchFamily="49" charset="-122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void g() 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{ 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	</a:t>
            </a:r>
            <a:r>
              <a:rPr lang="en-US" altLang="zh-CN" i="1">
                <a:solidFill>
                  <a:srgbClr val="FF0000"/>
                </a:solidFill>
                <a:ea typeface="楷体_GB2312" pitchFamily="49" charset="-122"/>
              </a:rPr>
              <a:t>fun(3)</a:t>
            </a: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; 	</a:t>
            </a:r>
            <a:r>
              <a:rPr lang="en-US" altLang="zh-CN" i="1">
                <a:solidFill>
                  <a:srgbClr val="FF0000"/>
                </a:solidFill>
                <a:ea typeface="楷体_GB2312" pitchFamily="49" charset="-122"/>
              </a:rPr>
              <a:t>//error,ambiguous: fun(3) or fun(3,0)?</a:t>
            </a:r>
            <a:endParaRPr lang="en-US" altLang="zh-CN" i="1">
              <a:solidFill>
                <a:prstClr val="black"/>
              </a:solidFill>
              <a:ea typeface="楷体_GB2312" pitchFamily="49" charset="-122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}</a:t>
            </a:r>
            <a:r>
              <a:rPr lang="en-US" altLang="zh-CN" i="1">
                <a:solidFill>
                  <a:srgbClr val="EA6312"/>
                </a:solidFill>
                <a:ea typeface="楷体_GB2312" pitchFamily="49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52439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77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77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157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7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7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01" grpId="0" build="p" autoUpdateAnimBg="0"/>
      <p:bldP spid="157702" grpId="0" build="p" autoUpdateAnimBg="0"/>
      <p:bldP spid="157703" grpId="0" animBg="1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8" name="Rectangle 1028"/>
          <p:cNvSpPr>
            <a:spLocks noGrp="1" noChangeArrowheads="1"/>
          </p:cNvSpPr>
          <p:nvPr>
            <p:ph type="title"/>
          </p:nvPr>
        </p:nvSpPr>
        <p:spPr>
          <a:xfrm>
            <a:off x="1828800" y="76200"/>
            <a:ext cx="8458200" cy="6096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dirty="0" smtClean="0"/>
              <a:t>   Default Arguments(continued)</a:t>
            </a:r>
          </a:p>
        </p:txBody>
      </p:sp>
      <p:sp>
        <p:nvSpPr>
          <p:cNvPr id="159749" name="Text Box 1029"/>
          <p:cNvSpPr txBox="1">
            <a:spLocks noChangeArrowheads="1"/>
          </p:cNvSpPr>
          <p:nvPr/>
        </p:nvSpPr>
        <p:spPr bwMode="auto">
          <a:xfrm>
            <a:off x="1600200" y="858838"/>
            <a:ext cx="8991600" cy="4779962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000" rIns="0" bIns="72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void fun(int x=7);</a:t>
            </a:r>
            <a:endParaRPr lang="en-US" altLang="zh-CN" i="1">
              <a:solidFill>
                <a:srgbClr val="FF0000"/>
              </a:solidFill>
              <a:ea typeface="楷体_GB2312" pitchFamily="49" charset="-122"/>
            </a:endParaRPr>
          </a:p>
          <a:p>
            <a:pPr>
              <a:lnSpc>
                <a:spcPct val="3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</a:t>
            </a:r>
            <a:r>
              <a:rPr lang="en-US" altLang="zh-CN" i="1">
                <a:solidFill>
                  <a:srgbClr val="FF0000"/>
                </a:solidFill>
                <a:ea typeface="楷体_GB2312" pitchFamily="49" charset="-122"/>
              </a:rPr>
              <a:t>//error:cannot repeat default argument</a:t>
            </a:r>
          </a:p>
          <a:p>
            <a:pPr>
              <a:lnSpc>
                <a:spcPct val="3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void fun(int x=7);</a:t>
            </a:r>
          </a:p>
          <a:p>
            <a:pPr>
              <a:lnSpc>
                <a:spcPct val="3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</a:t>
            </a:r>
            <a:r>
              <a:rPr lang="en-US" altLang="zh-CN" i="1">
                <a:solidFill>
                  <a:srgbClr val="FF0000"/>
                </a:solidFill>
                <a:ea typeface="楷体_GB2312" pitchFamily="49" charset="-122"/>
              </a:rPr>
              <a:t>//error:different default arguments</a:t>
            </a:r>
          </a:p>
          <a:p>
            <a:pPr>
              <a:lnSpc>
                <a:spcPct val="3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void fun(int x=8);</a:t>
            </a:r>
          </a:p>
          <a:p>
            <a:pPr>
              <a:lnSpc>
                <a:spcPct val="3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</a:t>
            </a:r>
          </a:p>
          <a:p>
            <a:pPr>
              <a:lnSpc>
                <a:spcPct val="3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void g()</a:t>
            </a:r>
          </a:p>
          <a:p>
            <a:pPr>
              <a:lnSpc>
                <a:spcPct val="3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{</a:t>
            </a:r>
          </a:p>
          <a:p>
            <a:pPr>
              <a:lnSpc>
                <a:spcPct val="3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    </a:t>
            </a:r>
            <a:r>
              <a:rPr lang="en-US" altLang="zh-CN" i="1">
                <a:solidFill>
                  <a:srgbClr val="FF0000"/>
                </a:solidFill>
                <a:ea typeface="楷体_GB2312" pitchFamily="49" charset="-122"/>
              </a:rPr>
              <a:t>//ok:this declaration hides the outer one</a:t>
            </a:r>
            <a:endParaRPr lang="en-US" altLang="zh-CN" i="1">
              <a:solidFill>
                <a:prstClr val="black"/>
              </a:solidFill>
              <a:ea typeface="楷体_GB2312" pitchFamily="49" charset="-122"/>
            </a:endParaRPr>
          </a:p>
          <a:p>
            <a:pPr>
              <a:lnSpc>
                <a:spcPct val="3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    void fun(int x=9);</a:t>
            </a:r>
          </a:p>
          <a:p>
            <a:pPr>
              <a:lnSpc>
                <a:spcPct val="3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    //…</a:t>
            </a:r>
          </a:p>
          <a:p>
            <a:pPr>
              <a:lnSpc>
                <a:spcPct val="30000"/>
              </a:lnSpc>
              <a:spcBef>
                <a:spcPct val="50000"/>
              </a:spcBef>
              <a:buClr>
                <a:srgbClr val="1E5155"/>
              </a:buClr>
              <a:buSzTx/>
              <a:buFont typeface="Monotype Sorts" pitchFamily="2" charset="2"/>
              <a:buNone/>
            </a:pPr>
            <a:r>
              <a:rPr lang="en-US" altLang="zh-CN" i="1">
                <a:solidFill>
                  <a:prstClr val="black"/>
                </a:solidFill>
                <a:ea typeface="楷体_GB2312" pitchFamily="49" charset="-122"/>
              </a:rPr>
              <a:t>    }</a:t>
            </a:r>
            <a:r>
              <a:rPr lang="en-US" altLang="zh-CN" i="1">
                <a:solidFill>
                  <a:srgbClr val="EA6312"/>
                </a:solidFill>
                <a:ea typeface="楷体_GB2312" pitchFamily="49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50209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59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49" grpId="0" animBg="1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4000">
                <a:solidFill>
                  <a:schemeClr val="tx1"/>
                </a:solidFill>
              </a:rPr>
              <a:t>	Recursion	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Recursive functions </a:t>
            </a:r>
          </a:p>
          <a:p>
            <a:pPr lvl="1" eaLnBrk="1" hangingPunct="1"/>
            <a:r>
              <a:rPr lang="en-US" altLang="en-US" smtClean="0"/>
              <a:t>Functions that call themselves</a:t>
            </a:r>
          </a:p>
          <a:p>
            <a:pPr lvl="1" eaLnBrk="1" hangingPunct="1"/>
            <a:r>
              <a:rPr lang="en-US" altLang="en-US" smtClean="0"/>
              <a:t>Can only solve a base case</a:t>
            </a:r>
          </a:p>
          <a:p>
            <a:pPr lvl="1" eaLnBrk="1" hangingPunct="1"/>
            <a:r>
              <a:rPr lang="en-US" altLang="en-US" smtClean="0"/>
              <a:t>Eventually base case gets solved</a:t>
            </a:r>
          </a:p>
          <a:p>
            <a:pPr lvl="2" eaLnBrk="1" hangingPunct="1"/>
            <a:r>
              <a:rPr lang="en-US" altLang="en-US" smtClean="0"/>
              <a:t>Gets plugged in, works its way up and solves whole problem</a:t>
            </a:r>
          </a:p>
        </p:txBody>
      </p:sp>
    </p:spTree>
    <p:extLst>
      <p:ext uri="{BB962C8B-B14F-4D97-AF65-F5344CB8AC3E}">
        <p14:creationId xmlns:p14="http://schemas.microsoft.com/office/powerpoint/2010/main" val="39197739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4000">
                <a:solidFill>
                  <a:schemeClr val="tx1"/>
                </a:solidFill>
              </a:rPr>
              <a:t>	Recursion	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Example: factorials</a:t>
            </a:r>
          </a:p>
          <a:p>
            <a:pPr lvl="1" eaLnBrk="1" hangingPunct="1"/>
            <a:r>
              <a:rPr lang="en-US" altLang="en-US" sz="2500">
                <a:latin typeface="Lucida Console" panose="020B0609040504020204" pitchFamily="49" charset="0"/>
              </a:rPr>
              <a:t>5! = 5 * 4 * 3 * 2 * 1</a:t>
            </a:r>
          </a:p>
          <a:p>
            <a:pPr lvl="1" eaLnBrk="1" hangingPunct="1"/>
            <a:r>
              <a:rPr lang="en-US" altLang="en-US" smtClean="0"/>
              <a:t>Notice that</a:t>
            </a:r>
          </a:p>
          <a:p>
            <a:pPr lvl="2" eaLnBrk="1" hangingPunct="1"/>
            <a:r>
              <a:rPr lang="en-US" altLang="en-US" sz="2000">
                <a:latin typeface="Lucida Console" panose="020B0609040504020204" pitchFamily="49" charset="0"/>
              </a:rPr>
              <a:t>5! = 5 * 4!</a:t>
            </a:r>
          </a:p>
          <a:p>
            <a:pPr lvl="2" eaLnBrk="1" hangingPunct="1"/>
            <a:r>
              <a:rPr lang="en-US" altLang="en-US" sz="2000">
                <a:latin typeface="Lucida Console" panose="020B0609040504020204" pitchFamily="49" charset="0"/>
              </a:rPr>
              <a:t>4! = 4 * 3! ...</a:t>
            </a:r>
          </a:p>
          <a:p>
            <a:pPr lvl="1" eaLnBrk="1" hangingPunct="1"/>
            <a:r>
              <a:rPr lang="en-US" altLang="en-US" smtClean="0"/>
              <a:t>Can compute factorials recursively </a:t>
            </a:r>
          </a:p>
          <a:p>
            <a:pPr lvl="1" eaLnBrk="1" hangingPunct="1"/>
            <a:r>
              <a:rPr lang="en-US" altLang="en-US" smtClean="0"/>
              <a:t>Solve base case (</a:t>
            </a:r>
            <a:r>
              <a:rPr lang="en-US" altLang="en-US" sz="2500">
                <a:latin typeface="Lucida Console" panose="020B0609040504020204" pitchFamily="49" charset="0"/>
              </a:rPr>
              <a:t>1! = 0! = 1</a:t>
            </a:r>
            <a:r>
              <a:rPr lang="en-US" altLang="en-US" smtClean="0"/>
              <a:t>) then plug in</a:t>
            </a:r>
          </a:p>
          <a:p>
            <a:pPr lvl="2" eaLnBrk="1" hangingPunct="1"/>
            <a:r>
              <a:rPr lang="en-US" altLang="en-US" sz="2000">
                <a:latin typeface="Lucida Console" panose="020B0609040504020204" pitchFamily="49" charset="0"/>
              </a:rPr>
              <a:t>2! = 2 * 1! = 2 * 1 = 2;</a:t>
            </a:r>
          </a:p>
          <a:p>
            <a:pPr lvl="2" eaLnBrk="1" hangingPunct="1"/>
            <a:r>
              <a:rPr lang="en-US" altLang="en-US" sz="2000">
                <a:latin typeface="Lucida Console" panose="020B0609040504020204" pitchFamily="49" charset="0"/>
              </a:rPr>
              <a:t>3! = 3 * 2! = 3 * 2 = 6;</a:t>
            </a:r>
          </a:p>
          <a:p>
            <a:pPr lvl="2" eaLnBrk="1" hangingPunct="1"/>
            <a:endParaRPr lang="en-US" altLang="en-US" sz="2000">
              <a:latin typeface="Lucida Console" panose="020B0609040504020204" pitchFamily="49" charset="0"/>
            </a:endParaRPr>
          </a:p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943461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09800" y="228600"/>
            <a:ext cx="7772400" cy="1524000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tx1"/>
                </a:solidFill>
              </a:rPr>
              <a:t>	Recursion	</a:t>
            </a:r>
          </a:p>
        </p:txBody>
      </p:sp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752600"/>
            <a:ext cx="645795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07516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4000">
                <a:solidFill>
                  <a:schemeClr val="tx1"/>
                </a:solidFill>
              </a:rPr>
              <a:t>	Example Using Recursion: The Fibonacci Series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Fibonacci series: 0, 1, 1, 2, 3, 5, 8...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Each number is the sum of the previous two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Can be solved recursively: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>
                <a:latin typeface="Lucida Console" panose="020B0609040504020204" pitchFamily="49" charset="0"/>
              </a:rPr>
              <a:t>fib( n ) = fib( n - 1 ) + fib( n – 2 )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Code for the</a:t>
            </a:r>
            <a:r>
              <a:rPr lang="en-US" altLang="en-US" sz="2000">
                <a:latin typeface="Lucida Console" panose="020B0609040504020204" pitchFamily="49" charset="0"/>
              </a:rPr>
              <a:t> fibonacci</a:t>
            </a:r>
            <a:r>
              <a:rPr lang="en-US" altLang="en-US" sz="2000"/>
              <a:t> function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en-US">
                <a:latin typeface="Lucida Console" panose="020B0609040504020204" pitchFamily="49" charset="0"/>
              </a:rPr>
              <a:t>long fibonacci( long n )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en-US">
                <a:latin typeface="Lucida Console" panose="020B0609040504020204" pitchFamily="49" charset="0"/>
              </a:rPr>
              <a:t>{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en-US">
                <a:latin typeface="Lucida Console" panose="020B0609040504020204" pitchFamily="49" charset="0"/>
              </a:rPr>
              <a:t>	if (n == 0 || n == 1)  // base case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en-US">
                <a:latin typeface="Lucida Console" panose="020B0609040504020204" pitchFamily="49" charset="0"/>
              </a:rPr>
              <a:t>    return n;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en-US">
                <a:latin typeface="Lucida Console" panose="020B0609040504020204" pitchFamily="49" charset="0"/>
              </a:rPr>
              <a:t>	else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en-US">
                <a:latin typeface="Lucida Console" panose="020B0609040504020204" pitchFamily="49" charset="0"/>
              </a:rPr>
              <a:t>    return fibonacci( n - 1) +</a:t>
            </a:r>
            <a:br>
              <a:rPr lang="en-US" altLang="en-US">
                <a:latin typeface="Lucida Console" panose="020B0609040504020204" pitchFamily="49" charset="0"/>
              </a:rPr>
            </a:br>
            <a:r>
              <a:rPr lang="en-US" altLang="en-US">
                <a:latin typeface="Lucida Console" panose="020B0609040504020204" pitchFamily="49" charset="0"/>
              </a:rPr>
              <a:t>     fibonacci( n – 2 );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en-US"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1524000" y="1619251"/>
            <a:ext cx="5486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29" name="Rectangle 5"/>
          <p:cNvSpPr>
            <a:spLocks noChangeArrowheads="1"/>
          </p:cNvSpPr>
          <p:nvPr/>
        </p:nvSpPr>
        <p:spPr bwMode="auto">
          <a:xfrm>
            <a:off x="1524000" y="3000376"/>
            <a:ext cx="5486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>
                <a:cs typeface="Times New Roman" panose="02020603050405020304" pitchFamily="18" charset="0"/>
              </a:rPr>
              <a:t> </a:t>
            </a:r>
          </a:p>
          <a:p>
            <a:endParaRPr lang="en-US" altLang="en-US"/>
          </a:p>
        </p:txBody>
      </p:sp>
      <p:sp>
        <p:nvSpPr>
          <p:cNvPr id="26630" name="Rectangle 6"/>
          <p:cNvSpPr>
            <a:spLocks noChangeArrowheads="1"/>
          </p:cNvSpPr>
          <p:nvPr/>
        </p:nvSpPr>
        <p:spPr bwMode="auto">
          <a:xfrm>
            <a:off x="1524000" y="3962400"/>
            <a:ext cx="9144000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>
                <a:cs typeface="Times New Roman" panose="02020603050405020304" pitchFamily="18" charset="0"/>
              </a:rPr>
              <a:t/>
            </a:r>
            <a:br>
              <a:rPr lang="en-US" altLang="en-US" sz="1400">
                <a:cs typeface="Times New Roman" panose="02020603050405020304" pitchFamily="18" charset="0"/>
              </a:rPr>
            </a:b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00334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33600" y="-152400"/>
            <a:ext cx="7772400" cy="1524000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tx1"/>
                </a:solidFill>
              </a:rPr>
              <a:t>	 The Fibonacci Series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09800" y="1295400"/>
            <a:ext cx="7772400" cy="5029200"/>
          </a:xfrm>
        </p:spPr>
        <p:txBody>
          <a:bodyPr/>
          <a:lstStyle/>
          <a:p>
            <a:pPr eaLnBrk="1" hangingPunct="1"/>
            <a:r>
              <a:rPr lang="en-US" altLang="en-US" sz="2800"/>
              <a:t>Set of recursive calls to function </a:t>
            </a:r>
            <a:r>
              <a:rPr lang="en-US" altLang="en-US" sz="2600">
                <a:latin typeface="Lucida Console" panose="020B0609040504020204" pitchFamily="49" charset="0"/>
              </a:rPr>
              <a:t>fibonacci</a:t>
            </a:r>
          </a:p>
        </p:txBody>
      </p:sp>
      <p:grpSp>
        <p:nvGrpSpPr>
          <p:cNvPr id="27652" name="Group 4"/>
          <p:cNvGrpSpPr>
            <a:grpSpLocks/>
          </p:cNvGrpSpPr>
          <p:nvPr/>
        </p:nvGrpSpPr>
        <p:grpSpPr bwMode="auto">
          <a:xfrm>
            <a:off x="2362200" y="1855788"/>
            <a:ext cx="6934200" cy="3554412"/>
            <a:chOff x="542" y="2069"/>
            <a:chExt cx="1762" cy="1231"/>
          </a:xfrm>
        </p:grpSpPr>
        <p:sp>
          <p:nvSpPr>
            <p:cNvPr id="27656" name="Freeform 5"/>
            <p:cNvSpPr>
              <a:spLocks/>
            </p:cNvSpPr>
            <p:nvPr/>
          </p:nvSpPr>
          <p:spPr bwMode="auto">
            <a:xfrm>
              <a:off x="725" y="3116"/>
              <a:ext cx="480" cy="48"/>
            </a:xfrm>
            <a:custGeom>
              <a:avLst/>
              <a:gdLst>
                <a:gd name="T0" fmla="*/ 12 w 20000"/>
                <a:gd name="T1" fmla="*/ 0 h 20000"/>
                <a:gd name="T2" fmla="*/ 12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83" y="19833"/>
                  </a:moveTo>
                  <a:lnTo>
                    <a:pt x="19983" y="0"/>
                  </a:lnTo>
                  <a:lnTo>
                    <a:pt x="0" y="0"/>
                  </a:lnTo>
                  <a:lnTo>
                    <a:pt x="0" y="19833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657" name="Freeform 6"/>
            <p:cNvSpPr>
              <a:spLocks/>
            </p:cNvSpPr>
            <p:nvPr/>
          </p:nvSpPr>
          <p:spPr bwMode="auto">
            <a:xfrm>
              <a:off x="1268" y="3116"/>
              <a:ext cx="480" cy="48"/>
            </a:xfrm>
            <a:custGeom>
              <a:avLst/>
              <a:gdLst>
                <a:gd name="T0" fmla="*/ 12 w 20000"/>
                <a:gd name="T1" fmla="*/ 0 h 20000"/>
                <a:gd name="T2" fmla="*/ 12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83" y="19833"/>
                  </a:moveTo>
                  <a:lnTo>
                    <a:pt x="19983" y="0"/>
                  </a:lnTo>
                  <a:lnTo>
                    <a:pt x="0" y="0"/>
                  </a:lnTo>
                  <a:lnTo>
                    <a:pt x="0" y="19833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658" name="Freeform 7"/>
            <p:cNvSpPr>
              <a:spLocks/>
            </p:cNvSpPr>
            <p:nvPr/>
          </p:nvSpPr>
          <p:spPr bwMode="auto">
            <a:xfrm>
              <a:off x="1824" y="2764"/>
              <a:ext cx="480" cy="48"/>
            </a:xfrm>
            <a:custGeom>
              <a:avLst/>
              <a:gdLst>
                <a:gd name="T0" fmla="*/ 12 w 20000"/>
                <a:gd name="T1" fmla="*/ 0 h 20000"/>
                <a:gd name="T2" fmla="*/ 12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83" y="19833"/>
                  </a:moveTo>
                  <a:lnTo>
                    <a:pt x="19983" y="0"/>
                  </a:lnTo>
                  <a:lnTo>
                    <a:pt x="0" y="0"/>
                  </a:lnTo>
                  <a:lnTo>
                    <a:pt x="0" y="19833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659" name="Freeform 8"/>
            <p:cNvSpPr>
              <a:spLocks/>
            </p:cNvSpPr>
            <p:nvPr/>
          </p:nvSpPr>
          <p:spPr bwMode="auto">
            <a:xfrm>
              <a:off x="542" y="2764"/>
              <a:ext cx="1104" cy="48"/>
            </a:xfrm>
            <a:custGeom>
              <a:avLst/>
              <a:gdLst>
                <a:gd name="T0" fmla="*/ 61 w 20000"/>
                <a:gd name="T1" fmla="*/ 0 h 20000"/>
                <a:gd name="T2" fmla="*/ 61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93" y="19833"/>
                  </a:moveTo>
                  <a:lnTo>
                    <a:pt x="19993" y="0"/>
                  </a:lnTo>
                  <a:lnTo>
                    <a:pt x="0" y="0"/>
                  </a:lnTo>
                  <a:lnTo>
                    <a:pt x="0" y="19833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660" name="Freeform 9"/>
            <p:cNvSpPr>
              <a:spLocks/>
            </p:cNvSpPr>
            <p:nvPr/>
          </p:nvSpPr>
          <p:spPr bwMode="auto">
            <a:xfrm>
              <a:off x="936" y="2417"/>
              <a:ext cx="1152" cy="48"/>
            </a:xfrm>
            <a:custGeom>
              <a:avLst/>
              <a:gdLst>
                <a:gd name="T0" fmla="*/ 66 w 20000"/>
                <a:gd name="T1" fmla="*/ 0 h 20000"/>
                <a:gd name="T2" fmla="*/ 66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93" y="19833"/>
                  </a:moveTo>
                  <a:lnTo>
                    <a:pt x="19993" y="0"/>
                  </a:lnTo>
                  <a:lnTo>
                    <a:pt x="0" y="0"/>
                  </a:lnTo>
                  <a:lnTo>
                    <a:pt x="0" y="19833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661" name="Freeform 10"/>
            <p:cNvSpPr>
              <a:spLocks/>
            </p:cNvSpPr>
            <p:nvPr/>
          </p:nvSpPr>
          <p:spPr bwMode="auto">
            <a:xfrm>
              <a:off x="1352" y="2069"/>
              <a:ext cx="288" cy="144"/>
            </a:xfrm>
            <a:custGeom>
              <a:avLst/>
              <a:gdLst>
                <a:gd name="T0" fmla="*/ 4 w 20000"/>
                <a:gd name="T1" fmla="*/ 0 h 20000"/>
                <a:gd name="T2" fmla="*/ 4 w 20000"/>
                <a:gd name="T3" fmla="*/ 1 h 20000"/>
                <a:gd name="T4" fmla="*/ 0 w 20000"/>
                <a:gd name="T5" fmla="*/ 1 h 20000"/>
                <a:gd name="T6" fmla="*/ 0 w 20000"/>
                <a:gd name="T7" fmla="*/ 0 h 20000"/>
                <a:gd name="T8" fmla="*/ 4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72" y="0"/>
                  </a:moveTo>
                  <a:lnTo>
                    <a:pt x="19972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72" y="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662" name="Freeform 11"/>
            <p:cNvSpPr>
              <a:spLocks/>
            </p:cNvSpPr>
            <p:nvPr/>
          </p:nvSpPr>
          <p:spPr bwMode="auto">
            <a:xfrm>
              <a:off x="1280" y="2453"/>
              <a:ext cx="288" cy="144"/>
            </a:xfrm>
            <a:custGeom>
              <a:avLst/>
              <a:gdLst>
                <a:gd name="T0" fmla="*/ 4 w 20000"/>
                <a:gd name="T1" fmla="*/ 0 h 20000"/>
                <a:gd name="T2" fmla="*/ 4 w 20000"/>
                <a:gd name="T3" fmla="*/ 1 h 20000"/>
                <a:gd name="T4" fmla="*/ 0 w 20000"/>
                <a:gd name="T5" fmla="*/ 1 h 20000"/>
                <a:gd name="T6" fmla="*/ 0 w 20000"/>
                <a:gd name="T7" fmla="*/ 0 h 20000"/>
                <a:gd name="T8" fmla="*/ 4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72" y="0"/>
                  </a:moveTo>
                  <a:lnTo>
                    <a:pt x="19972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72" y="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663" name="Freeform 12"/>
            <p:cNvSpPr>
              <a:spLocks/>
            </p:cNvSpPr>
            <p:nvPr/>
          </p:nvSpPr>
          <p:spPr bwMode="auto">
            <a:xfrm>
              <a:off x="1732" y="2453"/>
              <a:ext cx="288" cy="144"/>
            </a:xfrm>
            <a:custGeom>
              <a:avLst/>
              <a:gdLst>
                <a:gd name="T0" fmla="*/ 4 w 20000"/>
                <a:gd name="T1" fmla="*/ 0 h 20000"/>
                <a:gd name="T2" fmla="*/ 4 w 20000"/>
                <a:gd name="T3" fmla="*/ 1 h 20000"/>
                <a:gd name="T4" fmla="*/ 0 w 20000"/>
                <a:gd name="T5" fmla="*/ 1 h 20000"/>
                <a:gd name="T6" fmla="*/ 0 w 20000"/>
                <a:gd name="T7" fmla="*/ 0 h 20000"/>
                <a:gd name="T8" fmla="*/ 4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72" y="0"/>
                  </a:moveTo>
                  <a:lnTo>
                    <a:pt x="19972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72" y="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664" name="Freeform 13"/>
            <p:cNvSpPr>
              <a:spLocks/>
            </p:cNvSpPr>
            <p:nvPr/>
          </p:nvSpPr>
          <p:spPr bwMode="auto">
            <a:xfrm>
              <a:off x="1872" y="2804"/>
              <a:ext cx="384" cy="144"/>
            </a:xfrm>
            <a:custGeom>
              <a:avLst/>
              <a:gdLst>
                <a:gd name="T0" fmla="*/ 7 w 20000"/>
                <a:gd name="T1" fmla="*/ 0 h 20000"/>
                <a:gd name="T2" fmla="*/ 7 w 20000"/>
                <a:gd name="T3" fmla="*/ 1 h 20000"/>
                <a:gd name="T4" fmla="*/ 0 w 20000"/>
                <a:gd name="T5" fmla="*/ 1 h 20000"/>
                <a:gd name="T6" fmla="*/ 0 w 20000"/>
                <a:gd name="T7" fmla="*/ 0 h 20000"/>
                <a:gd name="T8" fmla="*/ 7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79" y="0"/>
                  </a:moveTo>
                  <a:lnTo>
                    <a:pt x="19979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79" y="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665" name="Freeform 14"/>
            <p:cNvSpPr>
              <a:spLocks/>
            </p:cNvSpPr>
            <p:nvPr/>
          </p:nvSpPr>
          <p:spPr bwMode="auto">
            <a:xfrm>
              <a:off x="1321" y="2804"/>
              <a:ext cx="288" cy="144"/>
            </a:xfrm>
            <a:custGeom>
              <a:avLst/>
              <a:gdLst>
                <a:gd name="T0" fmla="*/ 4 w 20000"/>
                <a:gd name="T1" fmla="*/ 0 h 20000"/>
                <a:gd name="T2" fmla="*/ 4 w 20000"/>
                <a:gd name="T3" fmla="*/ 1 h 20000"/>
                <a:gd name="T4" fmla="*/ 0 w 20000"/>
                <a:gd name="T5" fmla="*/ 1 h 20000"/>
                <a:gd name="T6" fmla="*/ 0 w 20000"/>
                <a:gd name="T7" fmla="*/ 0 h 20000"/>
                <a:gd name="T8" fmla="*/ 4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72" y="0"/>
                  </a:moveTo>
                  <a:lnTo>
                    <a:pt x="19972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72" y="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666" name="Freeform 15"/>
            <p:cNvSpPr>
              <a:spLocks/>
            </p:cNvSpPr>
            <p:nvPr/>
          </p:nvSpPr>
          <p:spPr bwMode="auto">
            <a:xfrm>
              <a:off x="864" y="2804"/>
              <a:ext cx="288" cy="144"/>
            </a:xfrm>
            <a:custGeom>
              <a:avLst/>
              <a:gdLst>
                <a:gd name="T0" fmla="*/ 4 w 20000"/>
                <a:gd name="T1" fmla="*/ 0 h 20000"/>
                <a:gd name="T2" fmla="*/ 4 w 20000"/>
                <a:gd name="T3" fmla="*/ 1 h 20000"/>
                <a:gd name="T4" fmla="*/ 0 w 20000"/>
                <a:gd name="T5" fmla="*/ 1 h 20000"/>
                <a:gd name="T6" fmla="*/ 0 w 20000"/>
                <a:gd name="T7" fmla="*/ 0 h 20000"/>
                <a:gd name="T8" fmla="*/ 4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72" y="0"/>
                  </a:moveTo>
                  <a:lnTo>
                    <a:pt x="19972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72" y="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667" name="Freeform 16"/>
            <p:cNvSpPr>
              <a:spLocks/>
            </p:cNvSpPr>
            <p:nvPr/>
          </p:nvSpPr>
          <p:spPr bwMode="auto">
            <a:xfrm>
              <a:off x="774" y="3156"/>
              <a:ext cx="384" cy="144"/>
            </a:xfrm>
            <a:custGeom>
              <a:avLst/>
              <a:gdLst>
                <a:gd name="T0" fmla="*/ 7 w 20000"/>
                <a:gd name="T1" fmla="*/ 0 h 20000"/>
                <a:gd name="T2" fmla="*/ 7 w 20000"/>
                <a:gd name="T3" fmla="*/ 1 h 20000"/>
                <a:gd name="T4" fmla="*/ 0 w 20000"/>
                <a:gd name="T5" fmla="*/ 1 h 20000"/>
                <a:gd name="T6" fmla="*/ 0 w 20000"/>
                <a:gd name="T7" fmla="*/ 0 h 20000"/>
                <a:gd name="T8" fmla="*/ 7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79" y="0"/>
                  </a:moveTo>
                  <a:lnTo>
                    <a:pt x="19979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79" y="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668" name="Freeform 17"/>
            <p:cNvSpPr>
              <a:spLocks/>
            </p:cNvSpPr>
            <p:nvPr/>
          </p:nvSpPr>
          <p:spPr bwMode="auto">
            <a:xfrm>
              <a:off x="1315" y="3156"/>
              <a:ext cx="384" cy="144"/>
            </a:xfrm>
            <a:custGeom>
              <a:avLst/>
              <a:gdLst>
                <a:gd name="T0" fmla="*/ 7 w 20000"/>
                <a:gd name="T1" fmla="*/ 0 h 20000"/>
                <a:gd name="T2" fmla="*/ 7 w 20000"/>
                <a:gd name="T3" fmla="*/ 1 h 20000"/>
                <a:gd name="T4" fmla="*/ 0 w 20000"/>
                <a:gd name="T5" fmla="*/ 1 h 20000"/>
                <a:gd name="T6" fmla="*/ 0 w 20000"/>
                <a:gd name="T7" fmla="*/ 0 h 20000"/>
                <a:gd name="T8" fmla="*/ 7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79" y="0"/>
                  </a:moveTo>
                  <a:lnTo>
                    <a:pt x="19979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79" y="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669" name="Freeform 18"/>
            <p:cNvSpPr>
              <a:spLocks/>
            </p:cNvSpPr>
            <p:nvPr/>
          </p:nvSpPr>
          <p:spPr bwMode="auto">
            <a:xfrm>
              <a:off x="1504" y="2217"/>
              <a:ext cx="0" cy="200"/>
            </a:xfrm>
            <a:custGeom>
              <a:avLst/>
              <a:gdLst>
                <a:gd name="T0" fmla="*/ 0 w 20000"/>
                <a:gd name="T1" fmla="*/ 2 h 20000"/>
                <a:gd name="T2" fmla="*/ 0 w 20000"/>
                <a:gd name="T3" fmla="*/ 0 h 20000"/>
                <a:gd name="T4" fmla="*/ 0 60000 65536"/>
                <a:gd name="T5" fmla="*/ 0 60000 65536"/>
                <a:gd name="T6" fmla="*/ 0 w 20000"/>
                <a:gd name="T7" fmla="*/ 0 h 20000"/>
                <a:gd name="T8" fmla="*/ 0 w 20000"/>
                <a:gd name="T9" fmla="*/ 2000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0" y="1996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670" name="Freeform 19"/>
            <p:cNvSpPr>
              <a:spLocks/>
            </p:cNvSpPr>
            <p:nvPr/>
          </p:nvSpPr>
          <p:spPr bwMode="auto">
            <a:xfrm>
              <a:off x="1259" y="2601"/>
              <a:ext cx="163" cy="163"/>
            </a:xfrm>
            <a:custGeom>
              <a:avLst/>
              <a:gdLst>
                <a:gd name="T0" fmla="*/ 0 w 20000"/>
                <a:gd name="T1" fmla="*/ 1 h 20000"/>
                <a:gd name="T2" fmla="*/ 1 w 20000"/>
                <a:gd name="T3" fmla="*/ 0 h 20000"/>
                <a:gd name="T4" fmla="*/ 0 60000 65536"/>
                <a:gd name="T5" fmla="*/ 0 60000 65536"/>
                <a:gd name="T6" fmla="*/ 0 w 20000"/>
                <a:gd name="T7" fmla="*/ 0 h 20000"/>
                <a:gd name="T8" fmla="*/ 20000 w 20000"/>
                <a:gd name="T9" fmla="*/ 2000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0" y="19951"/>
                  </a:moveTo>
                  <a:lnTo>
                    <a:pt x="19951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671" name="Freeform 20"/>
            <p:cNvSpPr>
              <a:spLocks/>
            </p:cNvSpPr>
            <p:nvPr/>
          </p:nvSpPr>
          <p:spPr bwMode="auto">
            <a:xfrm>
              <a:off x="1884" y="2599"/>
              <a:ext cx="104" cy="165"/>
            </a:xfrm>
            <a:custGeom>
              <a:avLst/>
              <a:gdLst>
                <a:gd name="T0" fmla="*/ 1 w 20000"/>
                <a:gd name="T1" fmla="*/ 1 h 20000"/>
                <a:gd name="T2" fmla="*/ 0 w 20000"/>
                <a:gd name="T3" fmla="*/ 0 h 20000"/>
                <a:gd name="T4" fmla="*/ 0 60000 65536"/>
                <a:gd name="T5" fmla="*/ 0 60000 65536"/>
                <a:gd name="T6" fmla="*/ 0 w 20000"/>
                <a:gd name="T7" fmla="*/ 0 h 20000"/>
                <a:gd name="T8" fmla="*/ 20000 w 20000"/>
                <a:gd name="T9" fmla="*/ 2000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19923" y="19952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672" name="Freeform 21"/>
            <p:cNvSpPr>
              <a:spLocks/>
            </p:cNvSpPr>
            <p:nvPr/>
          </p:nvSpPr>
          <p:spPr bwMode="auto">
            <a:xfrm>
              <a:off x="1011" y="2949"/>
              <a:ext cx="0" cy="167"/>
            </a:xfrm>
            <a:custGeom>
              <a:avLst/>
              <a:gdLst>
                <a:gd name="T0" fmla="*/ 0 w 20000"/>
                <a:gd name="T1" fmla="*/ 1 h 20000"/>
                <a:gd name="T2" fmla="*/ 0 w 20000"/>
                <a:gd name="T3" fmla="*/ 0 h 20000"/>
                <a:gd name="T4" fmla="*/ 0 60000 65536"/>
                <a:gd name="T5" fmla="*/ 0 60000 65536"/>
                <a:gd name="T6" fmla="*/ 0 w 20000"/>
                <a:gd name="T7" fmla="*/ 0 h 20000"/>
                <a:gd name="T8" fmla="*/ 0 w 20000"/>
                <a:gd name="T9" fmla="*/ 2000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0" y="19952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673" name="Freeform 22"/>
            <p:cNvSpPr>
              <a:spLocks/>
            </p:cNvSpPr>
            <p:nvPr/>
          </p:nvSpPr>
          <p:spPr bwMode="auto">
            <a:xfrm>
              <a:off x="1470" y="2949"/>
              <a:ext cx="0" cy="167"/>
            </a:xfrm>
            <a:custGeom>
              <a:avLst/>
              <a:gdLst>
                <a:gd name="T0" fmla="*/ 0 w 20000"/>
                <a:gd name="T1" fmla="*/ 1 h 20000"/>
                <a:gd name="T2" fmla="*/ 0 w 20000"/>
                <a:gd name="T3" fmla="*/ 0 h 20000"/>
                <a:gd name="T4" fmla="*/ 0 60000 65536"/>
                <a:gd name="T5" fmla="*/ 0 60000 65536"/>
                <a:gd name="T6" fmla="*/ 0 w 20000"/>
                <a:gd name="T7" fmla="*/ 0 h 20000"/>
                <a:gd name="T8" fmla="*/ 0 w 20000"/>
                <a:gd name="T9" fmla="*/ 2000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0" y="19952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674" name="Rectangle 23"/>
            <p:cNvSpPr>
              <a:spLocks noChangeArrowheads="1"/>
            </p:cNvSpPr>
            <p:nvPr/>
          </p:nvSpPr>
          <p:spPr bwMode="auto">
            <a:xfrm>
              <a:off x="1369" y="2087"/>
              <a:ext cx="304" cy="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600">
                  <a:latin typeface="Lucida Console" panose="020B0609040504020204" pitchFamily="49" charset="0"/>
                  <a:cs typeface="Times New Roman" panose="02020603050405020304" pitchFamily="18" charset="0"/>
                </a:rPr>
                <a:t>f( 3 )</a:t>
              </a:r>
            </a:p>
            <a:p>
              <a:endParaRPr lang="en-US" altLang="en-US" sz="1600">
                <a:latin typeface="Lucida Console" panose="020B0609040504020204" pitchFamily="49" charset="0"/>
              </a:endParaRPr>
            </a:p>
          </p:txBody>
        </p:sp>
        <p:sp>
          <p:nvSpPr>
            <p:cNvPr id="27675" name="Rectangle 24"/>
            <p:cNvSpPr>
              <a:spLocks noChangeArrowheads="1"/>
            </p:cNvSpPr>
            <p:nvPr/>
          </p:nvSpPr>
          <p:spPr bwMode="auto">
            <a:xfrm>
              <a:off x="1750" y="2473"/>
              <a:ext cx="304" cy="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600">
                  <a:latin typeface="Lucida Console" panose="020B0609040504020204" pitchFamily="49" charset="0"/>
                  <a:cs typeface="Times New Roman" panose="02020603050405020304" pitchFamily="18" charset="0"/>
                </a:rPr>
                <a:t>f( 1 )</a:t>
              </a:r>
            </a:p>
            <a:p>
              <a:endParaRPr lang="en-US" altLang="en-US" sz="1600">
                <a:latin typeface="Lucida Console" panose="020B0609040504020204" pitchFamily="49" charset="0"/>
              </a:endParaRPr>
            </a:p>
          </p:txBody>
        </p:sp>
        <p:sp>
          <p:nvSpPr>
            <p:cNvPr id="27676" name="Rectangle 25"/>
            <p:cNvSpPr>
              <a:spLocks noChangeArrowheads="1"/>
            </p:cNvSpPr>
            <p:nvPr/>
          </p:nvSpPr>
          <p:spPr bwMode="auto">
            <a:xfrm>
              <a:off x="1300" y="2472"/>
              <a:ext cx="304" cy="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600">
                  <a:latin typeface="Lucida Console" panose="020B0609040504020204" pitchFamily="49" charset="0"/>
                  <a:cs typeface="Times New Roman" panose="02020603050405020304" pitchFamily="18" charset="0"/>
                </a:rPr>
                <a:t>f( 2 )</a:t>
              </a:r>
            </a:p>
            <a:p>
              <a:endParaRPr lang="en-US" altLang="en-US" sz="1600">
                <a:latin typeface="Lucida Console" panose="020B0609040504020204" pitchFamily="49" charset="0"/>
              </a:endParaRPr>
            </a:p>
          </p:txBody>
        </p:sp>
        <p:sp>
          <p:nvSpPr>
            <p:cNvPr id="27677" name="Rectangle 26"/>
            <p:cNvSpPr>
              <a:spLocks noChangeArrowheads="1"/>
            </p:cNvSpPr>
            <p:nvPr/>
          </p:nvSpPr>
          <p:spPr bwMode="auto">
            <a:xfrm>
              <a:off x="878" y="2825"/>
              <a:ext cx="304" cy="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600">
                  <a:latin typeface="Lucida Console" panose="020B0609040504020204" pitchFamily="49" charset="0"/>
                  <a:cs typeface="Times New Roman" panose="02020603050405020304" pitchFamily="18" charset="0"/>
                </a:rPr>
                <a:t>f( 1 )</a:t>
              </a:r>
            </a:p>
            <a:p>
              <a:endParaRPr lang="en-US" altLang="en-US" sz="1600">
                <a:latin typeface="Lucida Console" panose="020B0609040504020204" pitchFamily="49" charset="0"/>
              </a:endParaRPr>
            </a:p>
          </p:txBody>
        </p:sp>
        <p:sp>
          <p:nvSpPr>
            <p:cNvPr id="27678" name="Rectangle 27"/>
            <p:cNvSpPr>
              <a:spLocks noChangeArrowheads="1"/>
            </p:cNvSpPr>
            <p:nvPr/>
          </p:nvSpPr>
          <p:spPr bwMode="auto">
            <a:xfrm>
              <a:off x="1336" y="2825"/>
              <a:ext cx="304" cy="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600">
                  <a:latin typeface="Lucida Console" panose="020B0609040504020204" pitchFamily="49" charset="0"/>
                  <a:cs typeface="Times New Roman" panose="02020603050405020304" pitchFamily="18" charset="0"/>
                </a:rPr>
                <a:t>f( 0 )</a:t>
              </a:r>
            </a:p>
            <a:p>
              <a:endParaRPr lang="en-US" altLang="en-US" sz="1600">
                <a:latin typeface="Lucida Console" panose="020B0609040504020204" pitchFamily="49" charset="0"/>
              </a:endParaRPr>
            </a:p>
          </p:txBody>
        </p:sp>
        <p:sp>
          <p:nvSpPr>
            <p:cNvPr id="27679" name="Rectangle 28"/>
            <p:cNvSpPr>
              <a:spLocks noChangeArrowheads="1"/>
            </p:cNvSpPr>
            <p:nvPr/>
          </p:nvSpPr>
          <p:spPr bwMode="auto">
            <a:xfrm>
              <a:off x="1890" y="2825"/>
              <a:ext cx="400" cy="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600">
                  <a:latin typeface="Lucida Console" panose="020B0609040504020204" pitchFamily="49" charset="0"/>
                  <a:cs typeface="Times New Roman" panose="02020603050405020304" pitchFamily="18" charset="0"/>
                </a:rPr>
                <a:t>return 1</a:t>
              </a:r>
            </a:p>
            <a:p>
              <a:endParaRPr lang="en-US" altLang="en-US" sz="1600">
                <a:latin typeface="Lucida Console" panose="020B0609040504020204" pitchFamily="49" charset="0"/>
              </a:endParaRPr>
            </a:p>
          </p:txBody>
        </p:sp>
        <p:sp>
          <p:nvSpPr>
            <p:cNvPr id="27680" name="Rectangle 29"/>
            <p:cNvSpPr>
              <a:spLocks noChangeArrowheads="1"/>
            </p:cNvSpPr>
            <p:nvPr/>
          </p:nvSpPr>
          <p:spPr bwMode="auto">
            <a:xfrm>
              <a:off x="795" y="3181"/>
              <a:ext cx="400" cy="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600">
                  <a:latin typeface="Lucida Console" panose="020B0609040504020204" pitchFamily="49" charset="0"/>
                  <a:cs typeface="Times New Roman" panose="02020603050405020304" pitchFamily="18" charset="0"/>
                </a:rPr>
                <a:t>return 1</a:t>
              </a:r>
            </a:p>
            <a:p>
              <a:endParaRPr lang="en-US" altLang="en-US" sz="1600">
                <a:latin typeface="Lucida Console" panose="020B0609040504020204" pitchFamily="49" charset="0"/>
              </a:endParaRPr>
            </a:p>
          </p:txBody>
        </p:sp>
        <p:sp>
          <p:nvSpPr>
            <p:cNvPr id="27681" name="Rectangle 30"/>
            <p:cNvSpPr>
              <a:spLocks noChangeArrowheads="1"/>
            </p:cNvSpPr>
            <p:nvPr/>
          </p:nvSpPr>
          <p:spPr bwMode="auto">
            <a:xfrm>
              <a:off x="1331" y="3181"/>
              <a:ext cx="400" cy="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600">
                  <a:latin typeface="Lucida Console" panose="020B0609040504020204" pitchFamily="49" charset="0"/>
                  <a:cs typeface="Times New Roman" panose="02020603050405020304" pitchFamily="18" charset="0"/>
                </a:rPr>
                <a:t>return 0</a:t>
              </a:r>
            </a:p>
            <a:p>
              <a:endParaRPr lang="en-US" altLang="en-US" sz="1600">
                <a:latin typeface="Lucida Console" panose="020B0609040504020204" pitchFamily="49" charset="0"/>
              </a:endParaRPr>
            </a:p>
          </p:txBody>
        </p:sp>
        <p:sp>
          <p:nvSpPr>
            <p:cNvPr id="27682" name="Rectangle 31"/>
            <p:cNvSpPr>
              <a:spLocks noChangeArrowheads="1"/>
            </p:cNvSpPr>
            <p:nvPr/>
          </p:nvSpPr>
          <p:spPr bwMode="auto">
            <a:xfrm>
              <a:off x="569" y="2825"/>
              <a:ext cx="304" cy="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600">
                  <a:latin typeface="Lucida Console" panose="020B0609040504020204" pitchFamily="49" charset="0"/>
                  <a:cs typeface="Times New Roman" panose="02020603050405020304" pitchFamily="18" charset="0"/>
                </a:rPr>
                <a:t>return</a:t>
              </a:r>
            </a:p>
            <a:p>
              <a:endParaRPr lang="en-US" altLang="en-US" sz="1600">
                <a:latin typeface="Lucida Console" panose="020B0609040504020204" pitchFamily="49" charset="0"/>
              </a:endParaRPr>
            </a:p>
          </p:txBody>
        </p:sp>
        <p:sp>
          <p:nvSpPr>
            <p:cNvPr id="27683" name="Rectangle 32"/>
            <p:cNvSpPr>
              <a:spLocks noChangeArrowheads="1"/>
            </p:cNvSpPr>
            <p:nvPr/>
          </p:nvSpPr>
          <p:spPr bwMode="auto">
            <a:xfrm>
              <a:off x="1214" y="2828"/>
              <a:ext cx="64" cy="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600">
                  <a:latin typeface="Lucida Console" panose="020B0609040504020204" pitchFamily="49" charset="0"/>
                  <a:cs typeface="Times New Roman" panose="02020603050405020304" pitchFamily="18" charset="0"/>
                </a:rPr>
                <a:t>+</a:t>
              </a:r>
            </a:p>
            <a:p>
              <a:endParaRPr lang="en-US" altLang="en-US" sz="1600">
                <a:latin typeface="Lucida Console" panose="020B0609040504020204" pitchFamily="49" charset="0"/>
              </a:endParaRPr>
            </a:p>
          </p:txBody>
        </p:sp>
        <p:sp>
          <p:nvSpPr>
            <p:cNvPr id="27684" name="Rectangle 33"/>
            <p:cNvSpPr>
              <a:spLocks noChangeArrowheads="1"/>
            </p:cNvSpPr>
            <p:nvPr/>
          </p:nvSpPr>
          <p:spPr bwMode="auto">
            <a:xfrm>
              <a:off x="1630" y="2473"/>
              <a:ext cx="64" cy="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600">
                  <a:latin typeface="Lucida Console" panose="020B0609040504020204" pitchFamily="49" charset="0"/>
                  <a:cs typeface="Times New Roman" panose="02020603050405020304" pitchFamily="18" charset="0"/>
                </a:rPr>
                <a:t>+</a:t>
              </a:r>
            </a:p>
            <a:p>
              <a:endParaRPr lang="en-US" altLang="en-US" sz="1600">
                <a:latin typeface="Lucida Console" panose="020B0609040504020204" pitchFamily="49" charset="0"/>
              </a:endParaRPr>
            </a:p>
          </p:txBody>
        </p:sp>
        <p:sp>
          <p:nvSpPr>
            <p:cNvPr id="27685" name="Rectangle 34"/>
            <p:cNvSpPr>
              <a:spLocks noChangeArrowheads="1"/>
            </p:cNvSpPr>
            <p:nvPr/>
          </p:nvSpPr>
          <p:spPr bwMode="auto">
            <a:xfrm>
              <a:off x="991" y="2471"/>
              <a:ext cx="304" cy="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600">
                  <a:latin typeface="Lucida Console" panose="020B0609040504020204" pitchFamily="49" charset="0"/>
                  <a:cs typeface="Times New Roman" panose="02020603050405020304" pitchFamily="18" charset="0"/>
                </a:rPr>
                <a:t>return</a:t>
              </a:r>
            </a:p>
            <a:p>
              <a:endParaRPr lang="en-US" altLang="en-US" sz="1600">
                <a:latin typeface="Lucida Console" panose="020B0609040504020204" pitchFamily="49" charset="0"/>
              </a:endParaRPr>
            </a:p>
          </p:txBody>
        </p:sp>
      </p:grpSp>
      <p:sp>
        <p:nvSpPr>
          <p:cNvPr id="27653" name="Rectangle 35"/>
          <p:cNvSpPr>
            <a:spLocks noChangeArrowheads="1"/>
          </p:cNvSpPr>
          <p:nvPr/>
        </p:nvSpPr>
        <p:spPr bwMode="auto">
          <a:xfrm>
            <a:off x="1524000" y="1619251"/>
            <a:ext cx="5486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54" name="Rectangle 36"/>
          <p:cNvSpPr>
            <a:spLocks noChangeArrowheads="1"/>
          </p:cNvSpPr>
          <p:nvPr/>
        </p:nvSpPr>
        <p:spPr bwMode="auto">
          <a:xfrm>
            <a:off x="1524000" y="3000376"/>
            <a:ext cx="5486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>
                <a:cs typeface="Times New Roman" panose="02020603050405020304" pitchFamily="18" charset="0"/>
              </a:rPr>
              <a:t> </a:t>
            </a:r>
          </a:p>
          <a:p>
            <a:endParaRPr lang="en-US" altLang="en-US"/>
          </a:p>
        </p:txBody>
      </p:sp>
      <p:sp>
        <p:nvSpPr>
          <p:cNvPr id="27655" name="Rectangle 37"/>
          <p:cNvSpPr>
            <a:spLocks noChangeArrowheads="1"/>
          </p:cNvSpPr>
          <p:nvPr/>
        </p:nvSpPr>
        <p:spPr bwMode="auto">
          <a:xfrm>
            <a:off x="1524000" y="3962400"/>
            <a:ext cx="9144000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>
                <a:cs typeface="Times New Roman" panose="02020603050405020304" pitchFamily="18" charset="0"/>
              </a:rPr>
              <a:t/>
            </a:r>
            <a:br>
              <a:rPr lang="en-US" altLang="en-US" sz="1400">
                <a:cs typeface="Times New Roman" panose="02020603050405020304" pitchFamily="18" charset="0"/>
              </a:rPr>
            </a:b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53639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436814" y="457201"/>
            <a:ext cx="4954587" cy="1141413"/>
          </a:xfrm>
        </p:spPr>
        <p:txBody>
          <a:bodyPr/>
          <a:lstStyle/>
          <a:p>
            <a:pPr eaLnBrk="1" hangingPunct="1"/>
            <a:r>
              <a:rPr lang="en-US" altLang="en-US" sz="3600">
                <a:solidFill>
                  <a:schemeClr val="tx1"/>
                </a:solidFill>
              </a:rPr>
              <a:t>Storage class: Concept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786063" y="1905000"/>
            <a:ext cx="6907212" cy="4419600"/>
          </a:xfrm>
        </p:spPr>
        <p:txBody>
          <a:bodyPr/>
          <a:lstStyle/>
          <a:p>
            <a:pPr lvl="1" eaLnBrk="1" hangingPunct="1"/>
            <a:r>
              <a:rPr lang="en-US" altLang="en-US" sz="2400"/>
              <a:t>A Complete Software for an application consists of :</a:t>
            </a:r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5029200" y="3962400"/>
            <a:ext cx="1524000" cy="1447800"/>
          </a:xfrm>
          <a:prstGeom prst="rect">
            <a:avLst/>
          </a:prstGeom>
          <a:noFill/>
          <a:ln w="9525">
            <a:solidFill>
              <a:srgbClr val="FFFFB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</a:endParaRPr>
          </a:p>
        </p:txBody>
      </p:sp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7010400" y="3810000"/>
            <a:ext cx="1676400" cy="1600200"/>
          </a:xfrm>
          <a:prstGeom prst="rect">
            <a:avLst/>
          </a:prstGeom>
          <a:noFill/>
          <a:ln w="9525">
            <a:solidFill>
              <a:srgbClr val="FFFFB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</a:endParaRPr>
          </a:p>
        </p:txBody>
      </p:sp>
      <p:sp>
        <p:nvSpPr>
          <p:cNvPr id="28678" name="Rectangle 6"/>
          <p:cNvSpPr>
            <a:spLocks noChangeArrowheads="1"/>
          </p:cNvSpPr>
          <p:nvPr/>
        </p:nvSpPr>
        <p:spPr bwMode="auto">
          <a:xfrm>
            <a:off x="5029200" y="2819400"/>
            <a:ext cx="1752600" cy="609600"/>
          </a:xfrm>
          <a:prstGeom prst="rect">
            <a:avLst/>
          </a:prstGeom>
          <a:noFill/>
          <a:ln w="9525">
            <a:solidFill>
              <a:srgbClr val="FFFFB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</a:endParaRPr>
          </a:p>
        </p:txBody>
      </p:sp>
      <p:sp>
        <p:nvSpPr>
          <p:cNvPr id="28679" name="Text Box 7"/>
          <p:cNvSpPr txBox="1">
            <a:spLocks noChangeArrowheads="1"/>
          </p:cNvSpPr>
          <p:nvPr/>
        </p:nvSpPr>
        <p:spPr bwMode="auto">
          <a:xfrm>
            <a:off x="5468929" y="3015734"/>
            <a:ext cx="9541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solidFill>
                  <a:schemeClr val="bg1"/>
                </a:solidFill>
                <a:latin typeface="Calibri" panose="020F0502020204030204" pitchFamily="34" charset="0"/>
              </a:rPr>
              <a:t>main (  )</a:t>
            </a:r>
            <a:endParaRPr lang="en-US" altLang="en-US" sz="1800">
              <a:latin typeface="Calibri" panose="020F0502020204030204" pitchFamily="34" charset="0"/>
            </a:endParaRPr>
          </a:p>
        </p:txBody>
      </p:sp>
      <p:sp>
        <p:nvSpPr>
          <p:cNvPr id="28680" name="Text Box 8"/>
          <p:cNvSpPr txBox="1">
            <a:spLocks noChangeArrowheads="1"/>
          </p:cNvSpPr>
          <p:nvPr/>
        </p:nvSpPr>
        <p:spPr bwMode="auto">
          <a:xfrm>
            <a:off x="3124200" y="3848101"/>
            <a:ext cx="1524000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bg1"/>
                </a:solidFill>
                <a:latin typeface="Calibri" panose="020F0502020204030204" pitchFamily="34" charset="0"/>
              </a:rPr>
              <a:t>Fn1 (     )</a:t>
            </a:r>
          </a:p>
          <a:p>
            <a:pPr eaLnBrk="1" hangingPunct="1"/>
            <a:r>
              <a:rPr lang="en-US" altLang="en-US" sz="1800">
                <a:solidFill>
                  <a:schemeClr val="bg1"/>
                </a:solidFill>
                <a:latin typeface="Calibri" panose="020F0502020204030204" pitchFamily="34" charset="0"/>
              </a:rPr>
              <a:t>Fn2 (     )</a:t>
            </a:r>
            <a:endParaRPr lang="en-US" altLang="en-US" sz="1800">
              <a:latin typeface="Calibri" panose="020F0502020204030204" pitchFamily="34" charset="0"/>
            </a:endParaRPr>
          </a:p>
          <a:p>
            <a:pPr eaLnBrk="1" hangingPunct="1"/>
            <a:r>
              <a:rPr lang="en-US" altLang="en-US" sz="1800">
                <a:solidFill>
                  <a:schemeClr val="bg1"/>
                </a:solidFill>
                <a:latin typeface="Calibri" panose="020F0502020204030204" pitchFamily="34" charset="0"/>
              </a:rPr>
              <a:t>Fn3 (     )</a:t>
            </a:r>
            <a:endParaRPr lang="en-US" altLang="en-US" sz="1800">
              <a:latin typeface="Calibri" panose="020F0502020204030204" pitchFamily="34" charset="0"/>
            </a:endParaRPr>
          </a:p>
          <a:p>
            <a:pPr eaLnBrk="1" hangingPunct="1"/>
            <a:r>
              <a:rPr lang="en-US" altLang="en-US" sz="1800">
                <a:solidFill>
                  <a:schemeClr val="bg1"/>
                </a:solidFill>
                <a:latin typeface="Calibri" panose="020F0502020204030204" pitchFamily="34" charset="0"/>
              </a:rPr>
              <a:t>Fn9 (     )</a:t>
            </a:r>
            <a:endParaRPr lang="en-US" altLang="en-US" sz="1800">
              <a:latin typeface="Calibri" panose="020F0502020204030204" pitchFamily="34" charset="0"/>
            </a:endParaRPr>
          </a:p>
          <a:p>
            <a:pPr eaLnBrk="1" hangingPunct="1"/>
            <a:r>
              <a:rPr lang="en-US" altLang="en-US" sz="1800">
                <a:solidFill>
                  <a:schemeClr val="bg1"/>
                </a:solidFill>
                <a:latin typeface="Calibri" panose="020F0502020204030204" pitchFamily="34" charset="0"/>
              </a:rPr>
              <a:t>Fn10 (     )</a:t>
            </a:r>
            <a:endParaRPr lang="en-US" altLang="en-US" sz="1800">
              <a:latin typeface="Calibri" panose="020F0502020204030204" pitchFamily="34" charset="0"/>
            </a:endParaRPr>
          </a:p>
        </p:txBody>
      </p:sp>
      <p:sp>
        <p:nvSpPr>
          <p:cNvPr id="28681" name="Text Box 9"/>
          <p:cNvSpPr txBox="1">
            <a:spLocks noChangeArrowheads="1"/>
          </p:cNvSpPr>
          <p:nvPr/>
        </p:nvSpPr>
        <p:spPr bwMode="auto">
          <a:xfrm>
            <a:off x="3124200" y="5715000"/>
            <a:ext cx="9540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solidFill>
                  <a:srgbClr val="FF0000"/>
                </a:solidFill>
                <a:latin typeface="Calibri" panose="020F0502020204030204" pitchFamily="34" charset="0"/>
              </a:rPr>
              <a:t>File A</a:t>
            </a:r>
          </a:p>
        </p:txBody>
      </p:sp>
      <p:sp>
        <p:nvSpPr>
          <p:cNvPr id="28682" name="Rectangle 10"/>
          <p:cNvSpPr>
            <a:spLocks noChangeArrowheads="1"/>
          </p:cNvSpPr>
          <p:nvPr/>
        </p:nvSpPr>
        <p:spPr bwMode="auto">
          <a:xfrm>
            <a:off x="2971800" y="3581400"/>
            <a:ext cx="1447800" cy="1981200"/>
          </a:xfrm>
          <a:prstGeom prst="rect">
            <a:avLst/>
          </a:prstGeom>
          <a:noFill/>
          <a:ln w="9525">
            <a:solidFill>
              <a:srgbClr val="FFFFB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</a:endParaRPr>
          </a:p>
        </p:txBody>
      </p:sp>
      <p:sp>
        <p:nvSpPr>
          <p:cNvPr id="28683" name="Text Box 11"/>
          <p:cNvSpPr txBox="1">
            <a:spLocks noChangeArrowheads="1"/>
          </p:cNvSpPr>
          <p:nvPr/>
        </p:nvSpPr>
        <p:spPr bwMode="auto">
          <a:xfrm>
            <a:off x="5410200" y="4191001"/>
            <a:ext cx="9906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solidFill>
                  <a:schemeClr val="bg1"/>
                </a:solidFill>
                <a:latin typeface="Calibri" panose="020F0502020204030204" pitchFamily="34" charset="0"/>
              </a:rPr>
              <a:t>Fn4 (   )</a:t>
            </a:r>
          </a:p>
          <a:p>
            <a:pPr algn="ctr" eaLnBrk="1" hangingPunct="1"/>
            <a:r>
              <a:rPr lang="en-US" altLang="en-US" sz="1800">
                <a:solidFill>
                  <a:schemeClr val="bg1"/>
                </a:solidFill>
                <a:latin typeface="Calibri" panose="020F0502020204030204" pitchFamily="34" charset="0"/>
              </a:rPr>
              <a:t>Fn 5 (  )</a:t>
            </a:r>
          </a:p>
          <a:p>
            <a:pPr algn="ctr" eaLnBrk="1" hangingPunct="1"/>
            <a:r>
              <a:rPr lang="en-US" altLang="en-US" sz="1800">
                <a:solidFill>
                  <a:schemeClr val="bg1"/>
                </a:solidFill>
                <a:latin typeface="Calibri" panose="020F0502020204030204" pitchFamily="34" charset="0"/>
              </a:rPr>
              <a:t>…….</a:t>
            </a:r>
          </a:p>
        </p:txBody>
      </p:sp>
      <p:sp>
        <p:nvSpPr>
          <p:cNvPr id="28684" name="Text Box 12"/>
          <p:cNvSpPr txBox="1">
            <a:spLocks noChangeArrowheads="1"/>
          </p:cNvSpPr>
          <p:nvPr/>
        </p:nvSpPr>
        <p:spPr bwMode="auto">
          <a:xfrm>
            <a:off x="5638800" y="5475288"/>
            <a:ext cx="838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solidFill>
                  <a:srgbClr val="FF0000"/>
                </a:solidFill>
                <a:latin typeface="Calibri" panose="020F0502020204030204" pitchFamily="34" charset="0"/>
              </a:rPr>
              <a:t>File B</a:t>
            </a:r>
          </a:p>
        </p:txBody>
      </p:sp>
      <p:sp>
        <p:nvSpPr>
          <p:cNvPr id="28685" name="Text Box 13"/>
          <p:cNvSpPr txBox="1">
            <a:spLocks noChangeArrowheads="1"/>
          </p:cNvSpPr>
          <p:nvPr/>
        </p:nvSpPr>
        <p:spPr bwMode="auto">
          <a:xfrm>
            <a:off x="7239001" y="4191001"/>
            <a:ext cx="1547813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solidFill>
                  <a:schemeClr val="bg1"/>
                </a:solidFill>
                <a:latin typeface="Calibri" panose="020F0502020204030204" pitchFamily="34" charset="0"/>
              </a:rPr>
              <a:t>Fn6 (   )</a:t>
            </a:r>
          </a:p>
          <a:p>
            <a:pPr algn="ctr" eaLnBrk="1" hangingPunct="1"/>
            <a:r>
              <a:rPr lang="en-US" altLang="en-US" sz="1800">
                <a:solidFill>
                  <a:schemeClr val="bg1"/>
                </a:solidFill>
                <a:latin typeface="Calibri" panose="020F0502020204030204" pitchFamily="34" charset="0"/>
              </a:rPr>
              <a:t>Fn7 (   )</a:t>
            </a:r>
          </a:p>
          <a:p>
            <a:pPr algn="ctr" eaLnBrk="1" hangingPunct="1"/>
            <a:r>
              <a:rPr lang="en-US" altLang="en-US" sz="1800">
                <a:solidFill>
                  <a:schemeClr val="bg1"/>
                </a:solidFill>
                <a:latin typeface="Calibri" panose="020F0502020204030204" pitchFamily="34" charset="0"/>
              </a:rPr>
              <a:t>…..</a:t>
            </a:r>
          </a:p>
        </p:txBody>
      </p:sp>
      <p:sp>
        <p:nvSpPr>
          <p:cNvPr id="28686" name="Text Box 14"/>
          <p:cNvSpPr txBox="1">
            <a:spLocks noChangeArrowheads="1"/>
          </p:cNvSpPr>
          <p:nvPr/>
        </p:nvSpPr>
        <p:spPr bwMode="auto">
          <a:xfrm>
            <a:off x="7620000" y="5551488"/>
            <a:ext cx="762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solidFill>
                  <a:srgbClr val="FF0000"/>
                </a:solidFill>
                <a:latin typeface="Calibri" panose="020F0502020204030204" pitchFamily="34" charset="0"/>
              </a:rPr>
              <a:t>File C</a:t>
            </a:r>
          </a:p>
        </p:txBody>
      </p:sp>
      <p:sp>
        <p:nvSpPr>
          <p:cNvPr id="28687" name="Text Box 15"/>
          <p:cNvSpPr txBox="1">
            <a:spLocks noChangeArrowheads="1"/>
          </p:cNvSpPr>
          <p:nvPr/>
        </p:nvSpPr>
        <p:spPr bwMode="auto">
          <a:xfrm>
            <a:off x="7239000" y="2971800"/>
            <a:ext cx="1905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solidFill>
                  <a:srgbClr val="FF0000"/>
                </a:solidFill>
                <a:latin typeface="Calibri" panose="020F0502020204030204" pitchFamily="34" charset="0"/>
              </a:rPr>
              <a:t>main prog file</a:t>
            </a:r>
          </a:p>
        </p:txBody>
      </p:sp>
      <p:sp>
        <p:nvSpPr>
          <p:cNvPr id="28688" name="Rectangle 16"/>
          <p:cNvSpPr>
            <a:spLocks noChangeArrowheads="1"/>
          </p:cNvSpPr>
          <p:nvPr/>
        </p:nvSpPr>
        <p:spPr bwMode="auto">
          <a:xfrm>
            <a:off x="2743200" y="2743200"/>
            <a:ext cx="6324600" cy="3429000"/>
          </a:xfrm>
          <a:prstGeom prst="rect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428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641600" y="0"/>
            <a:ext cx="6731000" cy="1143000"/>
          </a:xfrm>
        </p:spPr>
        <p:txBody>
          <a:bodyPr/>
          <a:lstStyle/>
          <a:p>
            <a:pPr eaLnBrk="1" hangingPunct="1"/>
            <a:r>
              <a:rPr lang="en-US" altLang="en-US" sz="3600">
                <a:solidFill>
                  <a:schemeClr val="tx1"/>
                </a:solidFill>
              </a:rPr>
              <a:t>More about Storage Classes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514601" y="1447800"/>
            <a:ext cx="7313613" cy="4495800"/>
          </a:xfrm>
        </p:spPr>
        <p:txBody>
          <a:bodyPr>
            <a:normAutofit lnSpcReduction="10000"/>
          </a:bodyPr>
          <a:lstStyle/>
          <a:p>
            <a:pPr lvl="1" eaLnBrk="1" hangingPunct="1">
              <a:lnSpc>
                <a:spcPct val="80000"/>
              </a:lnSpc>
            </a:pPr>
            <a:r>
              <a:rPr lang="en-US" altLang="en-US" sz="2200"/>
              <a:t>Variable Declaration consists of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000" b="1" i="1"/>
              <a:t>Storage Class </a:t>
            </a:r>
            <a:r>
              <a:rPr lang="en-US" altLang="en-US" sz="2000"/>
              <a:t>Data Type VariableName ;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/>
              <a:t>four types of storage classes  are : 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000"/>
              <a:t>auto 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000"/>
              <a:t>register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000"/>
              <a:t>static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000"/>
              <a:t>external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/>
              <a:t>Terms in relation with storage class are :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000"/>
              <a:t> where stored in memory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000"/>
              <a:t>scope / accessibility / visibility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000"/>
              <a:t>life of a variable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000"/>
              <a:t>Definition (only once) &amp; Declaration (can be multiple)</a:t>
            </a:r>
          </a:p>
        </p:txBody>
      </p:sp>
    </p:spTree>
    <p:extLst>
      <p:ext uri="{BB962C8B-B14F-4D97-AF65-F5344CB8AC3E}">
        <p14:creationId xmlns:p14="http://schemas.microsoft.com/office/powerpoint/2010/main" val="3016369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70163" y="1020763"/>
            <a:ext cx="5397500" cy="5334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600">
                <a:solidFill>
                  <a:schemeClr val="tx1"/>
                </a:solidFill>
              </a:rPr>
              <a:t> Structure of .exe file in the memory </a:t>
            </a:r>
          </a:p>
        </p:txBody>
      </p:sp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4038600" y="1828800"/>
            <a:ext cx="1676400" cy="3200400"/>
          </a:xfrm>
          <a:prstGeom prst="rect">
            <a:avLst/>
          </a:prstGeom>
          <a:noFill/>
          <a:ln w="9525">
            <a:solidFill>
              <a:srgbClr val="33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</a:endParaRPr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4038600" y="5181600"/>
            <a:ext cx="1676400" cy="609600"/>
          </a:xfrm>
          <a:prstGeom prst="rect">
            <a:avLst/>
          </a:prstGeom>
          <a:noFill/>
          <a:ln w="9525">
            <a:solidFill>
              <a:srgbClr val="33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solidFill>
                  <a:schemeClr val="bg1"/>
                </a:solidFill>
                <a:latin typeface="Calibri" panose="020F0502020204030204" pitchFamily="34" charset="0"/>
              </a:rPr>
              <a:t>Code Section</a:t>
            </a:r>
            <a:endParaRPr lang="en-US" altLang="en-US" sz="1800">
              <a:latin typeface="Calibri" panose="020F0502020204030204" pitchFamily="34" charset="0"/>
            </a:endParaRPr>
          </a:p>
        </p:txBody>
      </p:sp>
      <p:sp>
        <p:nvSpPr>
          <p:cNvPr id="30725" name="Line 5"/>
          <p:cNvSpPr>
            <a:spLocks noChangeShapeType="1"/>
          </p:cNvSpPr>
          <p:nvPr/>
        </p:nvSpPr>
        <p:spPr bwMode="auto">
          <a:xfrm>
            <a:off x="4038600" y="4267200"/>
            <a:ext cx="16764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26" name="Line 6"/>
          <p:cNvSpPr>
            <a:spLocks noChangeShapeType="1"/>
          </p:cNvSpPr>
          <p:nvPr/>
        </p:nvSpPr>
        <p:spPr bwMode="auto">
          <a:xfrm>
            <a:off x="4038600" y="2514600"/>
            <a:ext cx="1676400" cy="0"/>
          </a:xfrm>
          <a:prstGeom prst="line">
            <a:avLst/>
          </a:prstGeom>
          <a:noFill/>
          <a:ln w="9525">
            <a:solidFill>
              <a:srgbClr val="00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27" name="Text Box 7"/>
          <p:cNvSpPr txBox="1">
            <a:spLocks noChangeArrowheads="1"/>
          </p:cNvSpPr>
          <p:nvPr/>
        </p:nvSpPr>
        <p:spPr bwMode="auto">
          <a:xfrm>
            <a:off x="4114800" y="4493697"/>
            <a:ext cx="1524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FEB4B4"/>
                </a:solidFill>
                <a:latin typeface="Calibri" panose="020F0502020204030204" pitchFamily="34" charset="0"/>
              </a:rPr>
              <a:t>Data Area</a:t>
            </a:r>
            <a:endParaRPr lang="en-US" altLang="en-US" sz="18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30728" name="Text Box 8"/>
          <p:cNvSpPr txBox="1">
            <a:spLocks noChangeArrowheads="1"/>
          </p:cNvSpPr>
          <p:nvPr/>
        </p:nvSpPr>
        <p:spPr bwMode="auto">
          <a:xfrm>
            <a:off x="4114801" y="3168134"/>
            <a:ext cx="116589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FFFF96"/>
                </a:solidFill>
                <a:latin typeface="Calibri" panose="020F0502020204030204" pitchFamily="34" charset="0"/>
              </a:rPr>
              <a:t>Heap Area</a:t>
            </a:r>
          </a:p>
        </p:txBody>
      </p:sp>
      <p:sp>
        <p:nvSpPr>
          <p:cNvPr id="30729" name="Text Box 9"/>
          <p:cNvSpPr txBox="1">
            <a:spLocks noChangeArrowheads="1"/>
          </p:cNvSpPr>
          <p:nvPr/>
        </p:nvSpPr>
        <p:spPr bwMode="auto">
          <a:xfrm>
            <a:off x="4114801" y="2025134"/>
            <a:ext cx="11662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accent1"/>
                </a:solidFill>
                <a:latin typeface="Calibri" panose="020F0502020204030204" pitchFamily="34" charset="0"/>
              </a:rPr>
              <a:t>Stack Area</a:t>
            </a:r>
            <a:endParaRPr lang="en-US" altLang="en-US" sz="1800">
              <a:latin typeface="Calibri" panose="020F0502020204030204" pitchFamily="34" charset="0"/>
            </a:endParaRPr>
          </a:p>
        </p:txBody>
      </p:sp>
      <p:sp>
        <p:nvSpPr>
          <p:cNvPr id="30730" name="Text Box 10"/>
          <p:cNvSpPr>
            <a:spLocks noGrp="1" noChangeArrowheads="1"/>
          </p:cNvSpPr>
          <p:nvPr>
            <p:ph type="body" idx="4294967295"/>
          </p:nvPr>
        </p:nvSpPr>
        <p:spPr>
          <a:xfrm>
            <a:off x="2514601" y="1447800"/>
            <a:ext cx="7313613" cy="4495800"/>
          </a:xfrm>
          <a:ln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/>
            <a:endParaRPr lang="en-US" altLang="en-US" sz="2800"/>
          </a:p>
          <a:p>
            <a:pPr algn="ctr" eaLnBrk="1" hangingPunct="1"/>
            <a:endParaRPr lang="en-US" altLang="en-US" sz="2800"/>
          </a:p>
        </p:txBody>
      </p:sp>
      <p:sp>
        <p:nvSpPr>
          <p:cNvPr id="30731" name="Rectangle 11"/>
          <p:cNvSpPr>
            <a:spLocks noChangeArrowheads="1"/>
          </p:cNvSpPr>
          <p:nvPr/>
        </p:nvSpPr>
        <p:spPr bwMode="auto">
          <a:xfrm>
            <a:off x="6385264" y="3319741"/>
            <a:ext cx="271394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solidFill>
                  <a:schemeClr val="bg1"/>
                </a:solidFill>
                <a:latin typeface="Calibri" panose="020F0502020204030204" pitchFamily="34" charset="0"/>
              </a:rPr>
              <a:t>Dynamically allocated Area</a:t>
            </a:r>
          </a:p>
        </p:txBody>
      </p:sp>
      <p:sp>
        <p:nvSpPr>
          <p:cNvPr id="30732" name="Text Box 12"/>
          <p:cNvSpPr txBox="1">
            <a:spLocks noChangeArrowheads="1"/>
          </p:cNvSpPr>
          <p:nvPr/>
        </p:nvSpPr>
        <p:spPr bwMode="auto">
          <a:xfrm>
            <a:off x="6409105" y="4462741"/>
            <a:ext cx="269484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solidFill>
                  <a:schemeClr val="bg1"/>
                </a:solidFill>
                <a:latin typeface="Calibri" panose="020F0502020204030204" pitchFamily="34" charset="0"/>
              </a:rPr>
              <a:t>Static And Global Variables</a:t>
            </a:r>
          </a:p>
        </p:txBody>
      </p:sp>
      <p:sp>
        <p:nvSpPr>
          <p:cNvPr id="30733" name="Text Box 13"/>
          <p:cNvSpPr txBox="1">
            <a:spLocks noChangeArrowheads="1"/>
          </p:cNvSpPr>
          <p:nvPr/>
        </p:nvSpPr>
        <p:spPr bwMode="auto">
          <a:xfrm>
            <a:off x="6019801" y="1981200"/>
            <a:ext cx="1984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solidFill>
                  <a:srgbClr val="FF0000"/>
                </a:solidFill>
                <a:latin typeface="Calibri" panose="020F0502020204030204" pitchFamily="34" charset="0"/>
              </a:rPr>
              <a:t>Local Variables</a:t>
            </a:r>
          </a:p>
        </p:txBody>
      </p:sp>
      <p:sp>
        <p:nvSpPr>
          <p:cNvPr id="30734" name="Text Box 14"/>
          <p:cNvSpPr txBox="1">
            <a:spLocks noChangeArrowheads="1"/>
          </p:cNvSpPr>
          <p:nvPr/>
        </p:nvSpPr>
        <p:spPr bwMode="auto">
          <a:xfrm>
            <a:off x="1468331" y="2286278"/>
            <a:ext cx="19655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solidFill>
                  <a:srgbClr val="953735"/>
                </a:solidFill>
                <a:latin typeface="Calibri" panose="020F0502020204030204" pitchFamily="34" charset="0"/>
              </a:rPr>
              <a:t>Movable Boundary</a:t>
            </a:r>
          </a:p>
        </p:txBody>
      </p:sp>
      <p:sp>
        <p:nvSpPr>
          <p:cNvPr id="30735" name="Text Box 15"/>
          <p:cNvSpPr txBox="1">
            <a:spLocks noChangeArrowheads="1"/>
          </p:cNvSpPr>
          <p:nvPr/>
        </p:nvSpPr>
        <p:spPr bwMode="auto">
          <a:xfrm>
            <a:off x="1849372" y="4115078"/>
            <a:ext cx="163525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solidFill>
                  <a:srgbClr val="953735"/>
                </a:solidFill>
                <a:latin typeface="Calibri" panose="020F0502020204030204" pitchFamily="34" charset="0"/>
              </a:rPr>
              <a:t>Fixed Boundary</a:t>
            </a:r>
          </a:p>
        </p:txBody>
      </p:sp>
      <p:sp>
        <p:nvSpPr>
          <p:cNvPr id="30736" name="Line 16"/>
          <p:cNvSpPr>
            <a:spLocks noChangeShapeType="1"/>
          </p:cNvSpPr>
          <p:nvPr/>
        </p:nvSpPr>
        <p:spPr bwMode="auto">
          <a:xfrm flipV="1">
            <a:off x="3733800" y="4267200"/>
            <a:ext cx="304800" cy="152400"/>
          </a:xfrm>
          <a:prstGeom prst="line">
            <a:avLst/>
          </a:prstGeom>
          <a:noFill/>
          <a:ln w="9525">
            <a:solidFill>
              <a:srgbClr val="FFFFB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37" name="Line 17"/>
          <p:cNvSpPr>
            <a:spLocks noChangeShapeType="1"/>
          </p:cNvSpPr>
          <p:nvPr/>
        </p:nvSpPr>
        <p:spPr bwMode="auto">
          <a:xfrm flipV="1">
            <a:off x="3886200" y="2514600"/>
            <a:ext cx="152400" cy="152400"/>
          </a:xfrm>
          <a:prstGeom prst="line">
            <a:avLst/>
          </a:prstGeom>
          <a:noFill/>
          <a:ln w="9525">
            <a:solidFill>
              <a:srgbClr val="FFFFB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981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09800" y="6096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tx1"/>
                </a:solidFill>
              </a:rPr>
              <a:t>Complete View : Storage Classes</a:t>
            </a:r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2743200" y="1905000"/>
            <a:ext cx="7010400" cy="41910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sz="18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31748" name="Line 4"/>
          <p:cNvSpPr>
            <a:spLocks noChangeShapeType="1"/>
          </p:cNvSpPr>
          <p:nvPr/>
        </p:nvSpPr>
        <p:spPr bwMode="auto">
          <a:xfrm>
            <a:off x="3962400" y="1905000"/>
            <a:ext cx="0" cy="4191000"/>
          </a:xfrm>
          <a:prstGeom prst="line">
            <a:avLst/>
          </a:prstGeom>
          <a:noFill/>
          <a:ln w="9525">
            <a:solidFill>
              <a:srgbClr val="FFFFB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49" name="Line 5"/>
          <p:cNvSpPr>
            <a:spLocks noChangeShapeType="1"/>
          </p:cNvSpPr>
          <p:nvPr/>
        </p:nvSpPr>
        <p:spPr bwMode="auto">
          <a:xfrm>
            <a:off x="6705600" y="1905000"/>
            <a:ext cx="0" cy="4191000"/>
          </a:xfrm>
          <a:prstGeom prst="line">
            <a:avLst/>
          </a:prstGeom>
          <a:noFill/>
          <a:ln w="9525">
            <a:solidFill>
              <a:srgbClr val="FFFFB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50" name="Line 6"/>
          <p:cNvSpPr>
            <a:spLocks noChangeShapeType="1"/>
          </p:cNvSpPr>
          <p:nvPr/>
        </p:nvSpPr>
        <p:spPr bwMode="auto">
          <a:xfrm>
            <a:off x="5257800" y="1905000"/>
            <a:ext cx="0" cy="4191000"/>
          </a:xfrm>
          <a:prstGeom prst="line">
            <a:avLst/>
          </a:prstGeom>
          <a:noFill/>
          <a:ln w="9525">
            <a:solidFill>
              <a:srgbClr val="FFFFB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51" name="Line 7"/>
          <p:cNvSpPr>
            <a:spLocks noChangeShapeType="1"/>
          </p:cNvSpPr>
          <p:nvPr/>
        </p:nvSpPr>
        <p:spPr bwMode="auto">
          <a:xfrm>
            <a:off x="8229600" y="1905000"/>
            <a:ext cx="0" cy="4191000"/>
          </a:xfrm>
          <a:prstGeom prst="line">
            <a:avLst/>
          </a:prstGeom>
          <a:noFill/>
          <a:ln w="9525">
            <a:solidFill>
              <a:srgbClr val="FFFFB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52" name="Line 8"/>
          <p:cNvSpPr>
            <a:spLocks noChangeShapeType="1"/>
          </p:cNvSpPr>
          <p:nvPr/>
        </p:nvSpPr>
        <p:spPr bwMode="auto">
          <a:xfrm>
            <a:off x="2743200" y="2438400"/>
            <a:ext cx="7010400" cy="0"/>
          </a:xfrm>
          <a:prstGeom prst="line">
            <a:avLst/>
          </a:prstGeom>
          <a:noFill/>
          <a:ln w="9525">
            <a:solidFill>
              <a:srgbClr val="FFFFB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53" name="Line 9"/>
          <p:cNvSpPr>
            <a:spLocks noChangeShapeType="1"/>
          </p:cNvSpPr>
          <p:nvPr/>
        </p:nvSpPr>
        <p:spPr bwMode="auto">
          <a:xfrm>
            <a:off x="2743200" y="3124200"/>
            <a:ext cx="7010400" cy="0"/>
          </a:xfrm>
          <a:prstGeom prst="line">
            <a:avLst/>
          </a:prstGeom>
          <a:noFill/>
          <a:ln w="9525">
            <a:solidFill>
              <a:srgbClr val="FFFFB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54" name="Line 10"/>
          <p:cNvSpPr>
            <a:spLocks noChangeShapeType="1"/>
          </p:cNvSpPr>
          <p:nvPr/>
        </p:nvSpPr>
        <p:spPr bwMode="auto">
          <a:xfrm>
            <a:off x="2743200" y="3810000"/>
            <a:ext cx="7010400" cy="0"/>
          </a:xfrm>
          <a:prstGeom prst="line">
            <a:avLst/>
          </a:prstGeom>
          <a:noFill/>
          <a:ln w="9525">
            <a:solidFill>
              <a:srgbClr val="FFFFB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55" name="Line 11"/>
          <p:cNvSpPr>
            <a:spLocks noChangeShapeType="1"/>
          </p:cNvSpPr>
          <p:nvPr/>
        </p:nvSpPr>
        <p:spPr bwMode="auto">
          <a:xfrm>
            <a:off x="2743200" y="4572000"/>
            <a:ext cx="7010400" cy="0"/>
          </a:xfrm>
          <a:prstGeom prst="line">
            <a:avLst/>
          </a:prstGeom>
          <a:noFill/>
          <a:ln w="9525">
            <a:solidFill>
              <a:srgbClr val="FFFFB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56" name="Line 12"/>
          <p:cNvSpPr>
            <a:spLocks noChangeShapeType="1"/>
          </p:cNvSpPr>
          <p:nvPr/>
        </p:nvSpPr>
        <p:spPr bwMode="auto">
          <a:xfrm>
            <a:off x="2743200" y="5257800"/>
            <a:ext cx="7010400" cy="0"/>
          </a:xfrm>
          <a:prstGeom prst="line">
            <a:avLst/>
          </a:prstGeom>
          <a:noFill/>
          <a:ln w="9525">
            <a:solidFill>
              <a:srgbClr val="FFFFB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57" name="Text Box 13"/>
          <p:cNvSpPr txBox="1">
            <a:spLocks noChangeArrowheads="1"/>
          </p:cNvSpPr>
          <p:nvPr/>
        </p:nvSpPr>
        <p:spPr bwMode="auto">
          <a:xfrm>
            <a:off x="4337050" y="1949451"/>
            <a:ext cx="654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Calibri" panose="020F0502020204030204" pitchFamily="34" charset="0"/>
              </a:rPr>
              <a:t>Auto</a:t>
            </a:r>
          </a:p>
        </p:txBody>
      </p:sp>
      <p:sp>
        <p:nvSpPr>
          <p:cNvPr id="31758" name="Rectangle 14"/>
          <p:cNvSpPr>
            <a:spLocks noChangeArrowheads="1"/>
          </p:cNvSpPr>
          <p:nvPr/>
        </p:nvSpPr>
        <p:spPr bwMode="auto">
          <a:xfrm>
            <a:off x="5462391" y="1948141"/>
            <a:ext cx="9401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Calibri" panose="020F0502020204030204" pitchFamily="34" charset="0"/>
              </a:rPr>
              <a:t>Register</a:t>
            </a:r>
          </a:p>
        </p:txBody>
      </p:sp>
      <p:sp>
        <p:nvSpPr>
          <p:cNvPr id="31759" name="Rectangle 15"/>
          <p:cNvSpPr>
            <a:spLocks noChangeArrowheads="1"/>
          </p:cNvSpPr>
          <p:nvPr/>
        </p:nvSpPr>
        <p:spPr bwMode="auto">
          <a:xfrm>
            <a:off x="6945798" y="1967191"/>
            <a:ext cx="70070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Calibri" panose="020F0502020204030204" pitchFamily="34" charset="0"/>
              </a:rPr>
              <a:t>Static</a:t>
            </a:r>
          </a:p>
        </p:txBody>
      </p:sp>
      <p:sp>
        <p:nvSpPr>
          <p:cNvPr id="31760" name="Text Box 16"/>
          <p:cNvSpPr txBox="1">
            <a:spLocks noChangeArrowheads="1"/>
          </p:cNvSpPr>
          <p:nvPr/>
        </p:nvSpPr>
        <p:spPr bwMode="auto">
          <a:xfrm>
            <a:off x="8636885" y="2024341"/>
            <a:ext cx="7888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Calibri" panose="020F0502020204030204" pitchFamily="34" charset="0"/>
              </a:rPr>
              <a:t>Extern</a:t>
            </a:r>
          </a:p>
        </p:txBody>
      </p:sp>
      <p:sp>
        <p:nvSpPr>
          <p:cNvPr id="31761" name="Text Box 17"/>
          <p:cNvSpPr txBox="1">
            <a:spLocks noChangeArrowheads="1"/>
          </p:cNvSpPr>
          <p:nvPr/>
        </p:nvSpPr>
        <p:spPr bwMode="auto">
          <a:xfrm>
            <a:off x="2961052" y="2633941"/>
            <a:ext cx="7453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Calibri" panose="020F0502020204030204" pitchFamily="34" charset="0"/>
              </a:rPr>
              <a:t>Scope</a:t>
            </a:r>
          </a:p>
        </p:txBody>
      </p:sp>
      <p:sp>
        <p:nvSpPr>
          <p:cNvPr id="31762" name="Text Box 18"/>
          <p:cNvSpPr txBox="1">
            <a:spLocks noChangeArrowheads="1"/>
          </p:cNvSpPr>
          <p:nvPr/>
        </p:nvSpPr>
        <p:spPr bwMode="auto">
          <a:xfrm>
            <a:off x="2743201" y="3200400"/>
            <a:ext cx="6905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Calibri" panose="020F0502020204030204" pitchFamily="34" charset="0"/>
              </a:rPr>
              <a:t>Life</a:t>
            </a:r>
          </a:p>
        </p:txBody>
      </p:sp>
      <p:sp>
        <p:nvSpPr>
          <p:cNvPr id="31763" name="Text Box 19"/>
          <p:cNvSpPr txBox="1">
            <a:spLocks noChangeArrowheads="1"/>
          </p:cNvSpPr>
          <p:nvPr/>
        </p:nvSpPr>
        <p:spPr bwMode="auto">
          <a:xfrm>
            <a:off x="2895601" y="3900488"/>
            <a:ext cx="9175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Calibri" panose="020F0502020204030204" pitchFamily="34" charset="0"/>
              </a:rPr>
              <a:t>Initial</a:t>
            </a:r>
          </a:p>
          <a:p>
            <a:pPr algn="ctr" eaLnBrk="1" hangingPunct="1"/>
            <a:r>
              <a:rPr lang="en-US" altLang="en-US" sz="1800">
                <a:latin typeface="Calibri" panose="020F0502020204030204" pitchFamily="34" charset="0"/>
              </a:rPr>
              <a:t>Value</a:t>
            </a:r>
          </a:p>
        </p:txBody>
      </p:sp>
      <p:sp>
        <p:nvSpPr>
          <p:cNvPr id="31764" name="Text Box 20"/>
          <p:cNvSpPr txBox="1">
            <a:spLocks noChangeArrowheads="1"/>
          </p:cNvSpPr>
          <p:nvPr/>
        </p:nvSpPr>
        <p:spPr bwMode="auto">
          <a:xfrm>
            <a:off x="2836863" y="4692651"/>
            <a:ext cx="1009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Calibri" panose="020F0502020204030204" pitchFamily="34" charset="0"/>
              </a:rPr>
              <a:t>memory</a:t>
            </a:r>
          </a:p>
        </p:txBody>
      </p:sp>
      <p:sp>
        <p:nvSpPr>
          <p:cNvPr id="31765" name="Text Box 21"/>
          <p:cNvSpPr txBox="1">
            <a:spLocks noChangeArrowheads="1"/>
          </p:cNvSpPr>
          <p:nvPr/>
        </p:nvSpPr>
        <p:spPr bwMode="auto">
          <a:xfrm>
            <a:off x="2799140" y="5345799"/>
            <a:ext cx="10184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Calibri" panose="020F0502020204030204" pitchFamily="34" charset="0"/>
              </a:rPr>
              <a:t>Declared</a:t>
            </a:r>
          </a:p>
          <a:p>
            <a:pPr algn="ctr" eaLnBrk="1" hangingPunct="1"/>
            <a:r>
              <a:rPr lang="en-US" altLang="en-US" sz="1800">
                <a:latin typeface="Calibri" panose="020F0502020204030204" pitchFamily="34" charset="0"/>
              </a:rPr>
              <a:t>where</a:t>
            </a:r>
          </a:p>
        </p:txBody>
      </p:sp>
      <p:sp>
        <p:nvSpPr>
          <p:cNvPr id="31766" name="Rectangle 22"/>
          <p:cNvSpPr>
            <a:spLocks noChangeArrowheads="1"/>
          </p:cNvSpPr>
          <p:nvPr/>
        </p:nvSpPr>
        <p:spPr bwMode="auto">
          <a:xfrm>
            <a:off x="4183029" y="2614891"/>
            <a:ext cx="6636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Calibri" panose="020F0502020204030204" pitchFamily="34" charset="0"/>
              </a:rPr>
              <a:t>Local</a:t>
            </a:r>
          </a:p>
        </p:txBody>
      </p:sp>
      <p:sp>
        <p:nvSpPr>
          <p:cNvPr id="31767" name="Rectangle 23"/>
          <p:cNvSpPr>
            <a:spLocks noChangeArrowheads="1"/>
          </p:cNvSpPr>
          <p:nvPr/>
        </p:nvSpPr>
        <p:spPr bwMode="auto">
          <a:xfrm>
            <a:off x="5726079" y="2614891"/>
            <a:ext cx="6636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Calibri" panose="020F0502020204030204" pitchFamily="34" charset="0"/>
              </a:rPr>
              <a:t>Local</a:t>
            </a:r>
          </a:p>
        </p:txBody>
      </p:sp>
      <p:sp>
        <p:nvSpPr>
          <p:cNvPr id="31768" name="Text Box 24"/>
          <p:cNvSpPr txBox="1">
            <a:spLocks noChangeArrowheads="1"/>
          </p:cNvSpPr>
          <p:nvPr/>
        </p:nvSpPr>
        <p:spPr bwMode="auto">
          <a:xfrm>
            <a:off x="6902450" y="2452688"/>
            <a:ext cx="1073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Calibri" panose="020F0502020204030204" pitchFamily="34" charset="0"/>
              </a:rPr>
              <a:t>Within a </a:t>
            </a:r>
          </a:p>
          <a:p>
            <a:pPr algn="ctr" eaLnBrk="1" hangingPunct="1"/>
            <a:r>
              <a:rPr lang="en-US" altLang="en-US" sz="1800">
                <a:latin typeface="Calibri" panose="020F0502020204030204" pitchFamily="34" charset="0"/>
              </a:rPr>
              <a:t>function</a:t>
            </a:r>
          </a:p>
        </p:txBody>
      </p:sp>
      <p:sp>
        <p:nvSpPr>
          <p:cNvPr id="31769" name="Text Box 25"/>
          <p:cNvSpPr txBox="1">
            <a:spLocks noChangeArrowheads="1"/>
          </p:cNvSpPr>
          <p:nvPr/>
        </p:nvSpPr>
        <p:spPr bwMode="auto">
          <a:xfrm>
            <a:off x="8426450" y="2452688"/>
            <a:ext cx="1073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Calibri" panose="020F0502020204030204" pitchFamily="34" charset="0"/>
              </a:rPr>
              <a:t>Within a </a:t>
            </a:r>
          </a:p>
          <a:p>
            <a:pPr algn="ctr" eaLnBrk="1" hangingPunct="1"/>
            <a:r>
              <a:rPr lang="en-US" altLang="en-US" sz="1800">
                <a:latin typeface="Calibri" panose="020F0502020204030204" pitchFamily="34" charset="0"/>
              </a:rPr>
              <a:t>file</a:t>
            </a:r>
          </a:p>
        </p:txBody>
      </p:sp>
      <p:sp>
        <p:nvSpPr>
          <p:cNvPr id="31770" name="Text Box 26"/>
          <p:cNvSpPr txBox="1">
            <a:spLocks noChangeArrowheads="1"/>
          </p:cNvSpPr>
          <p:nvPr/>
        </p:nvSpPr>
        <p:spPr bwMode="auto">
          <a:xfrm>
            <a:off x="4038601" y="3125788"/>
            <a:ext cx="10318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Calibri" panose="020F0502020204030204" pitchFamily="34" charset="0"/>
              </a:rPr>
              <a:t>Within a </a:t>
            </a:r>
          </a:p>
          <a:p>
            <a:pPr algn="ctr" eaLnBrk="1" hangingPunct="1"/>
            <a:r>
              <a:rPr lang="en-US" altLang="en-US" sz="1800">
                <a:latin typeface="Calibri" panose="020F0502020204030204" pitchFamily="34" charset="0"/>
              </a:rPr>
              <a:t>fn call</a:t>
            </a:r>
          </a:p>
        </p:txBody>
      </p:sp>
      <p:sp>
        <p:nvSpPr>
          <p:cNvPr id="31771" name="Rectangle 27"/>
          <p:cNvSpPr>
            <a:spLocks noChangeArrowheads="1"/>
          </p:cNvSpPr>
          <p:nvPr/>
        </p:nvSpPr>
        <p:spPr bwMode="auto">
          <a:xfrm>
            <a:off x="5389563" y="3125788"/>
            <a:ext cx="1073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Calibri" panose="020F0502020204030204" pitchFamily="34" charset="0"/>
              </a:rPr>
              <a:t>Within a </a:t>
            </a:r>
          </a:p>
          <a:p>
            <a:pPr algn="ctr" eaLnBrk="1" hangingPunct="1"/>
            <a:r>
              <a:rPr lang="en-US" altLang="en-US" sz="1800">
                <a:latin typeface="Calibri" panose="020F0502020204030204" pitchFamily="34" charset="0"/>
              </a:rPr>
              <a:t>fn call</a:t>
            </a:r>
          </a:p>
        </p:txBody>
      </p:sp>
      <p:sp>
        <p:nvSpPr>
          <p:cNvPr id="31772" name="Rectangle 28"/>
          <p:cNvSpPr>
            <a:spLocks noChangeArrowheads="1"/>
          </p:cNvSpPr>
          <p:nvPr/>
        </p:nvSpPr>
        <p:spPr bwMode="auto">
          <a:xfrm>
            <a:off x="6858963" y="3123299"/>
            <a:ext cx="96962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Calibri" panose="020F0502020204030204" pitchFamily="34" charset="0"/>
              </a:rPr>
              <a:t>Through</a:t>
            </a:r>
          </a:p>
          <a:p>
            <a:pPr algn="ctr" eaLnBrk="1" hangingPunct="1"/>
            <a:r>
              <a:rPr lang="en-US" altLang="en-US" sz="1800">
                <a:latin typeface="Calibri" panose="020F0502020204030204" pitchFamily="34" charset="0"/>
              </a:rPr>
              <a:t>out prg</a:t>
            </a:r>
          </a:p>
        </p:txBody>
      </p:sp>
      <p:sp>
        <p:nvSpPr>
          <p:cNvPr id="31773" name="Text Box 29"/>
          <p:cNvSpPr txBox="1">
            <a:spLocks noChangeArrowheads="1"/>
          </p:cNvSpPr>
          <p:nvPr/>
        </p:nvSpPr>
        <p:spPr bwMode="auto">
          <a:xfrm>
            <a:off x="8382963" y="3123299"/>
            <a:ext cx="96962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Calibri" panose="020F0502020204030204" pitchFamily="34" charset="0"/>
              </a:rPr>
              <a:t>Through</a:t>
            </a:r>
          </a:p>
          <a:p>
            <a:pPr algn="ctr" eaLnBrk="1" hangingPunct="1"/>
            <a:r>
              <a:rPr lang="en-US" altLang="en-US" sz="1800">
                <a:latin typeface="Calibri" panose="020F0502020204030204" pitchFamily="34" charset="0"/>
              </a:rPr>
              <a:t>out prg</a:t>
            </a:r>
          </a:p>
        </p:txBody>
      </p:sp>
      <p:sp>
        <p:nvSpPr>
          <p:cNvPr id="31774" name="Rectangle 30"/>
          <p:cNvSpPr>
            <a:spLocks noChangeArrowheads="1"/>
          </p:cNvSpPr>
          <p:nvPr/>
        </p:nvSpPr>
        <p:spPr bwMode="auto">
          <a:xfrm>
            <a:off x="4082299" y="4005541"/>
            <a:ext cx="9762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Calibri" panose="020F0502020204030204" pitchFamily="34" charset="0"/>
              </a:rPr>
              <a:t>Garbage</a:t>
            </a:r>
          </a:p>
        </p:txBody>
      </p:sp>
      <p:sp>
        <p:nvSpPr>
          <p:cNvPr id="31775" name="Rectangle 31"/>
          <p:cNvSpPr>
            <a:spLocks noChangeArrowheads="1"/>
          </p:cNvSpPr>
          <p:nvPr/>
        </p:nvSpPr>
        <p:spPr bwMode="auto">
          <a:xfrm>
            <a:off x="5530099" y="4005541"/>
            <a:ext cx="9762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Calibri" panose="020F0502020204030204" pitchFamily="34" charset="0"/>
              </a:rPr>
              <a:t>Garbage</a:t>
            </a:r>
          </a:p>
        </p:txBody>
      </p:sp>
      <p:sp>
        <p:nvSpPr>
          <p:cNvPr id="31776" name="Text Box 32"/>
          <p:cNvSpPr txBox="1">
            <a:spLocks noChangeArrowheads="1"/>
          </p:cNvSpPr>
          <p:nvPr/>
        </p:nvSpPr>
        <p:spPr bwMode="auto">
          <a:xfrm>
            <a:off x="8765073" y="4005541"/>
            <a:ext cx="60228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Calibri" panose="020F0502020204030204" pitchFamily="34" charset="0"/>
              </a:rPr>
              <a:t>Zero</a:t>
            </a:r>
          </a:p>
        </p:txBody>
      </p:sp>
      <p:sp>
        <p:nvSpPr>
          <p:cNvPr id="31777" name="Rectangle 33"/>
          <p:cNvSpPr>
            <a:spLocks noChangeArrowheads="1"/>
          </p:cNvSpPr>
          <p:nvPr/>
        </p:nvSpPr>
        <p:spPr bwMode="auto">
          <a:xfrm>
            <a:off x="6995010" y="3986491"/>
            <a:ext cx="60228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Calibri" panose="020F0502020204030204" pitchFamily="34" charset="0"/>
              </a:rPr>
              <a:t>Zero</a:t>
            </a:r>
          </a:p>
        </p:txBody>
      </p:sp>
      <p:sp>
        <p:nvSpPr>
          <p:cNvPr id="31778" name="Text Box 34"/>
          <p:cNvSpPr txBox="1">
            <a:spLocks noChangeArrowheads="1"/>
          </p:cNvSpPr>
          <p:nvPr/>
        </p:nvSpPr>
        <p:spPr bwMode="auto">
          <a:xfrm>
            <a:off x="4098255" y="4767541"/>
            <a:ext cx="98559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Calibri" panose="020F0502020204030204" pitchFamily="34" charset="0"/>
              </a:rPr>
              <a:t>On stack</a:t>
            </a:r>
          </a:p>
        </p:txBody>
      </p:sp>
      <p:sp>
        <p:nvSpPr>
          <p:cNvPr id="31779" name="Rectangle 35"/>
          <p:cNvSpPr>
            <a:spLocks noChangeArrowheads="1"/>
          </p:cNvSpPr>
          <p:nvPr/>
        </p:nvSpPr>
        <p:spPr bwMode="auto">
          <a:xfrm>
            <a:off x="5505221" y="4767541"/>
            <a:ext cx="102598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Calibri" panose="020F0502020204030204" pitchFamily="34" charset="0"/>
              </a:rPr>
              <a:t>Registers</a:t>
            </a:r>
          </a:p>
        </p:txBody>
      </p:sp>
      <p:sp>
        <p:nvSpPr>
          <p:cNvPr id="31780" name="Text Box 36"/>
          <p:cNvSpPr txBox="1">
            <a:spLocks noChangeArrowheads="1"/>
          </p:cNvSpPr>
          <p:nvPr/>
        </p:nvSpPr>
        <p:spPr bwMode="auto">
          <a:xfrm>
            <a:off x="6765925" y="4845051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US" altLang="en-US" sz="1800">
              <a:latin typeface="Calibri" panose="020F0502020204030204" pitchFamily="34" charset="0"/>
            </a:endParaRPr>
          </a:p>
        </p:txBody>
      </p:sp>
      <p:sp>
        <p:nvSpPr>
          <p:cNvPr id="31781" name="Rectangle 38"/>
          <p:cNvSpPr>
            <a:spLocks noChangeArrowheads="1"/>
          </p:cNvSpPr>
          <p:nvPr/>
        </p:nvSpPr>
        <p:spPr bwMode="auto">
          <a:xfrm>
            <a:off x="7067119" y="4610786"/>
            <a:ext cx="87716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Calibri" panose="020F0502020204030204" pitchFamily="34" charset="0"/>
              </a:rPr>
              <a:t>Data </a:t>
            </a:r>
          </a:p>
          <a:p>
            <a:pPr algn="ctr" eaLnBrk="1" hangingPunct="1"/>
            <a:r>
              <a:rPr lang="en-US" altLang="en-US" sz="1800">
                <a:latin typeface="Calibri" panose="020F0502020204030204" pitchFamily="34" charset="0"/>
              </a:rPr>
              <a:t>Section</a:t>
            </a:r>
          </a:p>
        </p:txBody>
      </p:sp>
      <p:sp>
        <p:nvSpPr>
          <p:cNvPr id="31782" name="Text Box 39"/>
          <p:cNvSpPr txBox="1">
            <a:spLocks noChangeArrowheads="1"/>
          </p:cNvSpPr>
          <p:nvPr/>
        </p:nvSpPr>
        <p:spPr bwMode="auto">
          <a:xfrm>
            <a:off x="8567307" y="4583799"/>
            <a:ext cx="87716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Calibri" panose="020F0502020204030204" pitchFamily="34" charset="0"/>
              </a:rPr>
              <a:t>Data</a:t>
            </a:r>
          </a:p>
          <a:p>
            <a:pPr algn="ctr" eaLnBrk="1" hangingPunct="1"/>
            <a:r>
              <a:rPr lang="en-US" altLang="en-US" sz="1800">
                <a:latin typeface="Calibri" panose="020F0502020204030204" pitchFamily="34" charset="0"/>
              </a:rPr>
              <a:t>Section</a:t>
            </a:r>
          </a:p>
        </p:txBody>
      </p:sp>
      <p:sp>
        <p:nvSpPr>
          <p:cNvPr id="31783" name="Text Box 40"/>
          <p:cNvSpPr txBox="1">
            <a:spLocks noChangeArrowheads="1"/>
          </p:cNvSpPr>
          <p:nvPr/>
        </p:nvSpPr>
        <p:spPr bwMode="auto">
          <a:xfrm>
            <a:off x="4351129" y="5345799"/>
            <a:ext cx="66716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Calibri" panose="020F0502020204030204" pitchFamily="34" charset="0"/>
              </a:rPr>
              <a:t>Fn or</a:t>
            </a:r>
          </a:p>
          <a:p>
            <a:pPr algn="ctr" eaLnBrk="1" hangingPunct="1"/>
            <a:r>
              <a:rPr lang="en-US" altLang="en-US" sz="1800">
                <a:latin typeface="Calibri" panose="020F0502020204030204" pitchFamily="34" charset="0"/>
              </a:rPr>
              <a:t>{  }</a:t>
            </a:r>
          </a:p>
        </p:txBody>
      </p:sp>
      <p:sp>
        <p:nvSpPr>
          <p:cNvPr id="31784" name="Text Box 41"/>
          <p:cNvSpPr txBox="1">
            <a:spLocks noChangeArrowheads="1"/>
          </p:cNvSpPr>
          <p:nvPr/>
        </p:nvSpPr>
        <p:spPr bwMode="auto">
          <a:xfrm>
            <a:off x="5570329" y="5345799"/>
            <a:ext cx="66716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Calibri" panose="020F0502020204030204" pitchFamily="34" charset="0"/>
              </a:rPr>
              <a:t>Fn or</a:t>
            </a:r>
          </a:p>
          <a:p>
            <a:pPr algn="ctr" eaLnBrk="1" hangingPunct="1"/>
            <a:r>
              <a:rPr lang="en-US" altLang="en-US" sz="1800">
                <a:latin typeface="Calibri" panose="020F0502020204030204" pitchFamily="34" charset="0"/>
              </a:rPr>
              <a:t>{  }</a:t>
            </a:r>
          </a:p>
        </p:txBody>
      </p:sp>
      <p:sp>
        <p:nvSpPr>
          <p:cNvPr id="31785" name="Text Box 42"/>
          <p:cNvSpPr txBox="1">
            <a:spLocks noChangeArrowheads="1"/>
          </p:cNvSpPr>
          <p:nvPr/>
        </p:nvSpPr>
        <p:spPr bwMode="auto">
          <a:xfrm>
            <a:off x="8543254" y="5345799"/>
            <a:ext cx="107131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Calibri" panose="020F0502020204030204" pitchFamily="34" charset="0"/>
              </a:rPr>
              <a:t>Define 1</a:t>
            </a:r>
          </a:p>
          <a:p>
            <a:pPr algn="ctr" eaLnBrk="1" hangingPunct="1"/>
            <a:r>
              <a:rPr lang="en-US" altLang="en-US" sz="1800">
                <a:latin typeface="Calibri" panose="020F0502020204030204" pitchFamily="34" charset="0"/>
              </a:rPr>
              <a:t>Declare n</a:t>
            </a:r>
          </a:p>
        </p:txBody>
      </p:sp>
      <p:sp>
        <p:nvSpPr>
          <p:cNvPr id="31786" name="Text Box 43"/>
          <p:cNvSpPr txBox="1">
            <a:spLocks noChangeArrowheads="1"/>
          </p:cNvSpPr>
          <p:nvPr/>
        </p:nvSpPr>
        <p:spPr bwMode="auto">
          <a:xfrm>
            <a:off x="6978650" y="5348288"/>
            <a:ext cx="1073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Calibri" panose="020F0502020204030204" pitchFamily="34" charset="0"/>
              </a:rPr>
              <a:t>Within a </a:t>
            </a:r>
          </a:p>
          <a:p>
            <a:pPr algn="ctr" eaLnBrk="1" hangingPunct="1"/>
            <a:r>
              <a:rPr lang="en-US" altLang="en-US" sz="1800">
                <a:latin typeface="Calibri" panose="020F0502020204030204" pitchFamily="34" charset="0"/>
              </a:rPr>
              <a:t>function</a:t>
            </a:r>
          </a:p>
        </p:txBody>
      </p:sp>
      <p:sp>
        <p:nvSpPr>
          <p:cNvPr id="31787" name="Text Box 44"/>
          <p:cNvSpPr txBox="1">
            <a:spLocks noChangeArrowheads="1"/>
          </p:cNvSpPr>
          <p:nvPr/>
        </p:nvSpPr>
        <p:spPr bwMode="auto">
          <a:xfrm>
            <a:off x="4876800" y="3321051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US" altLang="en-US" sz="180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158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tx1"/>
                </a:solidFill>
              </a:rPr>
              <a:t>C++ Arrays	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362200" y="3886200"/>
            <a:ext cx="7467600" cy="1752600"/>
          </a:xfrm>
        </p:spPr>
        <p:txBody>
          <a:bodyPr/>
          <a:lstStyle/>
          <a:p>
            <a:pPr eaLnBrk="1" hangingPunct="1"/>
            <a:endParaRPr lang="en-US" altLang="en-US" sz="2800"/>
          </a:p>
          <a:p>
            <a:pPr eaLnBrk="1" hangingPunct="1"/>
            <a:endParaRPr lang="en-US" altLang="en-US" sz="2800"/>
          </a:p>
        </p:txBody>
      </p:sp>
    </p:spTree>
    <p:extLst>
      <p:ext uri="{BB962C8B-B14F-4D97-AF65-F5344CB8AC3E}">
        <p14:creationId xmlns:p14="http://schemas.microsoft.com/office/powerpoint/2010/main" val="75033103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81000"/>
            <a:ext cx="7772400" cy="609600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tx1"/>
                </a:solidFill>
              </a:rPr>
              <a:t>C++ Arrays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219200"/>
            <a:ext cx="7772400" cy="4876800"/>
          </a:xfrm>
        </p:spPr>
        <p:txBody>
          <a:bodyPr/>
          <a:lstStyle/>
          <a:p>
            <a:pPr eaLnBrk="1" hangingPunct="1"/>
            <a:r>
              <a:rPr lang="en-US" altLang="en-US" sz="2800"/>
              <a:t>An array is a consecutive group of memory locations.</a:t>
            </a:r>
          </a:p>
          <a:p>
            <a:pPr eaLnBrk="1" hangingPunct="1"/>
            <a:r>
              <a:rPr lang="en-US" altLang="en-US" sz="2800"/>
              <a:t>Each </a:t>
            </a:r>
            <a:r>
              <a:rPr lang="en-US" altLang="en-US" sz="2800" i="1"/>
              <a:t>group</a:t>
            </a:r>
            <a:r>
              <a:rPr lang="en-US" altLang="en-US" sz="2800"/>
              <a:t> is called an element of the array.</a:t>
            </a:r>
          </a:p>
          <a:p>
            <a:pPr eaLnBrk="1" hangingPunct="1"/>
            <a:r>
              <a:rPr lang="en-US" altLang="en-US" sz="2800"/>
              <a:t>The contents of each element are of the same </a:t>
            </a:r>
            <a:r>
              <a:rPr lang="en-US" altLang="en-US" sz="2800" i="1"/>
              <a:t>type</a:t>
            </a:r>
            <a:r>
              <a:rPr lang="en-US" altLang="en-US" sz="2800"/>
              <a:t>.</a:t>
            </a:r>
          </a:p>
          <a:p>
            <a:pPr lvl="1" eaLnBrk="1" hangingPunct="1"/>
            <a:r>
              <a:rPr lang="en-US" altLang="en-US" sz="2400"/>
              <a:t>Could be an array of int, double, char, …</a:t>
            </a:r>
          </a:p>
          <a:p>
            <a:pPr eaLnBrk="1" hangingPunct="1"/>
            <a:r>
              <a:rPr lang="en-US" altLang="en-US" sz="2800"/>
              <a:t>We can refer to individual </a:t>
            </a:r>
            <a:r>
              <a:rPr lang="en-US" altLang="en-US" sz="2800" i="1"/>
              <a:t>elements</a:t>
            </a:r>
            <a:r>
              <a:rPr lang="en-US" altLang="en-US" sz="2800"/>
              <a:t> by giving the position number (index) of the element in the array.</a:t>
            </a:r>
          </a:p>
        </p:txBody>
      </p:sp>
    </p:spTree>
    <p:extLst>
      <p:ext uri="{BB962C8B-B14F-4D97-AF65-F5344CB8AC3E}">
        <p14:creationId xmlns:p14="http://schemas.microsoft.com/office/powerpoint/2010/main" val="40724827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52400"/>
            <a:ext cx="4876800" cy="762000"/>
          </a:xfrm>
        </p:spPr>
        <p:txBody>
          <a:bodyPr/>
          <a:lstStyle/>
          <a:p>
            <a:pPr algn="l" eaLnBrk="1" hangingPunct="1"/>
            <a:r>
              <a:rPr lang="en-US" altLang="en-US" sz="4000">
                <a:solidFill>
                  <a:schemeClr val="tx1"/>
                </a:solidFill>
              </a:rPr>
              <a:t>Memory and Arrays</a:t>
            </a:r>
          </a:p>
        </p:txBody>
      </p:sp>
      <p:grpSp>
        <p:nvGrpSpPr>
          <p:cNvPr id="34819" name="Group 3"/>
          <p:cNvGrpSpPr>
            <a:grpSpLocks/>
          </p:cNvGrpSpPr>
          <p:nvPr/>
        </p:nvGrpSpPr>
        <p:grpSpPr bwMode="auto">
          <a:xfrm>
            <a:off x="6019800" y="1524000"/>
            <a:ext cx="2209800" cy="4724400"/>
            <a:chOff x="3504" y="864"/>
            <a:chExt cx="1392" cy="2976"/>
          </a:xfrm>
        </p:grpSpPr>
        <p:sp>
          <p:nvSpPr>
            <p:cNvPr id="34839" name="Rectangle 4"/>
            <p:cNvSpPr>
              <a:spLocks noChangeArrowheads="1"/>
            </p:cNvSpPr>
            <p:nvPr/>
          </p:nvSpPr>
          <p:spPr bwMode="auto">
            <a:xfrm>
              <a:off x="3504" y="1584"/>
              <a:ext cx="1392" cy="192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4840" name="Rectangle 5"/>
            <p:cNvSpPr>
              <a:spLocks noChangeArrowheads="1"/>
            </p:cNvSpPr>
            <p:nvPr/>
          </p:nvSpPr>
          <p:spPr bwMode="auto">
            <a:xfrm>
              <a:off x="3504" y="1776"/>
              <a:ext cx="1392" cy="192"/>
            </a:xfrm>
            <a:prstGeom prst="rect">
              <a:avLst/>
            </a:prstGeom>
            <a:solidFill>
              <a:srgbClr val="DDDDDD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4841" name="Rectangle 6"/>
            <p:cNvSpPr>
              <a:spLocks noChangeArrowheads="1"/>
            </p:cNvSpPr>
            <p:nvPr/>
          </p:nvSpPr>
          <p:spPr bwMode="auto">
            <a:xfrm>
              <a:off x="3504" y="1968"/>
              <a:ext cx="1392" cy="192"/>
            </a:xfrm>
            <a:prstGeom prst="rect">
              <a:avLst/>
            </a:prstGeom>
            <a:solidFill>
              <a:srgbClr val="DDDDDD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4842" name="Rectangle 7"/>
            <p:cNvSpPr>
              <a:spLocks noChangeArrowheads="1"/>
            </p:cNvSpPr>
            <p:nvPr/>
          </p:nvSpPr>
          <p:spPr bwMode="auto">
            <a:xfrm>
              <a:off x="3504" y="2160"/>
              <a:ext cx="1392" cy="192"/>
            </a:xfrm>
            <a:prstGeom prst="rect">
              <a:avLst/>
            </a:prstGeom>
            <a:solidFill>
              <a:srgbClr val="DDDDDD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4843" name="Rectangle 8"/>
            <p:cNvSpPr>
              <a:spLocks noChangeArrowheads="1"/>
            </p:cNvSpPr>
            <p:nvPr/>
          </p:nvSpPr>
          <p:spPr bwMode="auto">
            <a:xfrm>
              <a:off x="3504" y="2352"/>
              <a:ext cx="1392" cy="192"/>
            </a:xfrm>
            <a:prstGeom prst="rect">
              <a:avLst/>
            </a:prstGeom>
            <a:solidFill>
              <a:srgbClr val="DDDDDD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4844" name="Rectangle 9"/>
            <p:cNvSpPr>
              <a:spLocks noChangeArrowheads="1"/>
            </p:cNvSpPr>
            <p:nvPr/>
          </p:nvSpPr>
          <p:spPr bwMode="auto">
            <a:xfrm>
              <a:off x="3504" y="2544"/>
              <a:ext cx="1392" cy="192"/>
            </a:xfrm>
            <a:prstGeom prst="rect">
              <a:avLst/>
            </a:prstGeom>
            <a:solidFill>
              <a:srgbClr val="DDDDDD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4845" name="Rectangle 10"/>
            <p:cNvSpPr>
              <a:spLocks noChangeArrowheads="1"/>
            </p:cNvSpPr>
            <p:nvPr/>
          </p:nvSpPr>
          <p:spPr bwMode="auto">
            <a:xfrm>
              <a:off x="3504" y="2736"/>
              <a:ext cx="1392" cy="192"/>
            </a:xfrm>
            <a:prstGeom prst="rect">
              <a:avLst/>
            </a:prstGeom>
            <a:solidFill>
              <a:srgbClr val="DDDDDD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4846" name="Rectangle 11"/>
            <p:cNvSpPr>
              <a:spLocks noChangeArrowheads="1"/>
            </p:cNvSpPr>
            <p:nvPr/>
          </p:nvSpPr>
          <p:spPr bwMode="auto">
            <a:xfrm>
              <a:off x="3504" y="2928"/>
              <a:ext cx="1392" cy="192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34847" name="Group 12"/>
            <p:cNvGrpSpPr>
              <a:grpSpLocks/>
            </p:cNvGrpSpPr>
            <p:nvPr/>
          </p:nvGrpSpPr>
          <p:grpSpPr bwMode="auto">
            <a:xfrm>
              <a:off x="3504" y="864"/>
              <a:ext cx="1392" cy="384"/>
              <a:chOff x="3504" y="720"/>
              <a:chExt cx="1392" cy="384"/>
            </a:xfrm>
          </p:grpSpPr>
          <p:sp>
            <p:nvSpPr>
              <p:cNvPr id="34855" name="Rectangle 13"/>
              <p:cNvSpPr>
                <a:spLocks noChangeArrowheads="1"/>
              </p:cNvSpPr>
              <p:nvPr/>
            </p:nvSpPr>
            <p:spPr bwMode="auto">
              <a:xfrm>
                <a:off x="3504" y="720"/>
                <a:ext cx="1392" cy="192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4856" name="Rectangle 14"/>
              <p:cNvSpPr>
                <a:spLocks noChangeArrowheads="1"/>
              </p:cNvSpPr>
              <p:nvPr/>
            </p:nvSpPr>
            <p:spPr bwMode="auto">
              <a:xfrm>
                <a:off x="3504" y="912"/>
                <a:ext cx="1392" cy="192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grpSp>
          <p:nvGrpSpPr>
            <p:cNvPr id="34848" name="Group 15"/>
            <p:cNvGrpSpPr>
              <a:grpSpLocks/>
            </p:cNvGrpSpPr>
            <p:nvPr/>
          </p:nvGrpSpPr>
          <p:grpSpPr bwMode="auto">
            <a:xfrm>
              <a:off x="3504" y="3456"/>
              <a:ext cx="1392" cy="384"/>
              <a:chOff x="3504" y="720"/>
              <a:chExt cx="1392" cy="384"/>
            </a:xfrm>
          </p:grpSpPr>
          <p:sp>
            <p:nvSpPr>
              <p:cNvPr id="34853" name="Rectangle 16"/>
              <p:cNvSpPr>
                <a:spLocks noChangeArrowheads="1"/>
              </p:cNvSpPr>
              <p:nvPr/>
            </p:nvSpPr>
            <p:spPr bwMode="auto">
              <a:xfrm>
                <a:off x="3504" y="720"/>
                <a:ext cx="1392" cy="192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4854" name="Rectangle 17"/>
              <p:cNvSpPr>
                <a:spLocks noChangeArrowheads="1"/>
              </p:cNvSpPr>
              <p:nvPr/>
            </p:nvSpPr>
            <p:spPr bwMode="auto">
              <a:xfrm>
                <a:off x="3504" y="912"/>
                <a:ext cx="1392" cy="192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34849" name="Line 18"/>
            <p:cNvSpPr>
              <a:spLocks noChangeShapeType="1"/>
            </p:cNvSpPr>
            <p:nvPr/>
          </p:nvSpPr>
          <p:spPr bwMode="auto">
            <a:xfrm>
              <a:off x="3504" y="3120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850" name="Line 19"/>
            <p:cNvSpPr>
              <a:spLocks noChangeShapeType="1"/>
            </p:cNvSpPr>
            <p:nvPr/>
          </p:nvSpPr>
          <p:spPr bwMode="auto">
            <a:xfrm>
              <a:off x="4896" y="3120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851" name="Line 20"/>
            <p:cNvSpPr>
              <a:spLocks noChangeShapeType="1"/>
            </p:cNvSpPr>
            <p:nvPr/>
          </p:nvSpPr>
          <p:spPr bwMode="auto">
            <a:xfrm>
              <a:off x="3504" y="1248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852" name="Line 21"/>
            <p:cNvSpPr>
              <a:spLocks noChangeShapeType="1"/>
            </p:cNvSpPr>
            <p:nvPr/>
          </p:nvSpPr>
          <p:spPr bwMode="auto">
            <a:xfrm>
              <a:off x="4896" y="1248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4820" name="Text Box 22"/>
          <p:cNvSpPr txBox="1">
            <a:spLocks noChangeArrowheads="1"/>
          </p:cNvSpPr>
          <p:nvPr/>
        </p:nvSpPr>
        <p:spPr bwMode="auto">
          <a:xfrm>
            <a:off x="2514601" y="3657601"/>
            <a:ext cx="2524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800" b="1">
                <a:latin typeface="Courier New" panose="02070309020205020404" pitchFamily="49" charset="0"/>
              </a:rPr>
              <a:t>int foo[6];</a:t>
            </a:r>
          </a:p>
        </p:txBody>
      </p:sp>
      <p:sp>
        <p:nvSpPr>
          <p:cNvPr id="34821" name="Line 23"/>
          <p:cNvSpPr>
            <a:spLocks noChangeShapeType="1"/>
          </p:cNvSpPr>
          <p:nvPr/>
        </p:nvSpPr>
        <p:spPr bwMode="auto">
          <a:xfrm>
            <a:off x="5486400" y="2971800"/>
            <a:ext cx="0" cy="1828800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4822" name="Line 24"/>
          <p:cNvSpPr>
            <a:spLocks noChangeShapeType="1"/>
          </p:cNvSpPr>
          <p:nvPr/>
        </p:nvSpPr>
        <p:spPr bwMode="auto">
          <a:xfrm>
            <a:off x="5486400" y="4800600"/>
            <a:ext cx="304800" cy="0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4823" name="Line 25"/>
          <p:cNvSpPr>
            <a:spLocks noChangeShapeType="1"/>
          </p:cNvSpPr>
          <p:nvPr/>
        </p:nvSpPr>
        <p:spPr bwMode="auto">
          <a:xfrm>
            <a:off x="5486400" y="2971800"/>
            <a:ext cx="304800" cy="0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4824" name="Text Box 26"/>
          <p:cNvSpPr txBox="1">
            <a:spLocks noChangeArrowheads="1"/>
          </p:cNvSpPr>
          <p:nvPr/>
        </p:nvSpPr>
        <p:spPr bwMode="auto">
          <a:xfrm>
            <a:off x="8610600" y="2392363"/>
            <a:ext cx="1460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800" b="1">
                <a:latin typeface="Courier New" panose="02070309020205020404" pitchFamily="49" charset="0"/>
              </a:rPr>
              <a:t>foo[0]</a:t>
            </a:r>
          </a:p>
        </p:txBody>
      </p:sp>
      <p:sp>
        <p:nvSpPr>
          <p:cNvPr id="34825" name="Text Box 27"/>
          <p:cNvSpPr txBox="1">
            <a:spLocks noChangeArrowheads="1"/>
          </p:cNvSpPr>
          <p:nvPr/>
        </p:nvSpPr>
        <p:spPr bwMode="auto">
          <a:xfrm>
            <a:off x="8915400" y="3276601"/>
            <a:ext cx="1460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800" b="1">
                <a:latin typeface="Courier New" panose="02070309020205020404" pitchFamily="49" charset="0"/>
              </a:rPr>
              <a:t>foo[1]</a:t>
            </a:r>
          </a:p>
        </p:txBody>
      </p:sp>
      <p:sp>
        <p:nvSpPr>
          <p:cNvPr id="34826" name="Text Box 28"/>
          <p:cNvSpPr txBox="1">
            <a:spLocks noChangeArrowheads="1"/>
          </p:cNvSpPr>
          <p:nvPr/>
        </p:nvSpPr>
        <p:spPr bwMode="auto">
          <a:xfrm>
            <a:off x="8915400" y="4373563"/>
            <a:ext cx="1460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800" b="1">
                <a:latin typeface="Courier New" panose="02070309020205020404" pitchFamily="49" charset="0"/>
              </a:rPr>
              <a:t>foo[5]</a:t>
            </a:r>
          </a:p>
        </p:txBody>
      </p:sp>
      <p:sp>
        <p:nvSpPr>
          <p:cNvPr id="34827" name="Line 29"/>
          <p:cNvSpPr>
            <a:spLocks noChangeShapeType="1"/>
          </p:cNvSpPr>
          <p:nvPr/>
        </p:nvSpPr>
        <p:spPr bwMode="auto">
          <a:xfrm>
            <a:off x="7848600" y="4648200"/>
            <a:ext cx="1066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4828" name="Oval 30"/>
          <p:cNvSpPr>
            <a:spLocks noChangeArrowheads="1"/>
          </p:cNvSpPr>
          <p:nvPr/>
        </p:nvSpPr>
        <p:spPr bwMode="auto">
          <a:xfrm>
            <a:off x="7696200" y="45720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4829" name="Line 31"/>
          <p:cNvSpPr>
            <a:spLocks noChangeShapeType="1"/>
          </p:cNvSpPr>
          <p:nvPr/>
        </p:nvSpPr>
        <p:spPr bwMode="auto">
          <a:xfrm flipV="1">
            <a:off x="7848600" y="2819400"/>
            <a:ext cx="83820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4830" name="Oval 32"/>
          <p:cNvSpPr>
            <a:spLocks noChangeArrowheads="1"/>
          </p:cNvSpPr>
          <p:nvPr/>
        </p:nvSpPr>
        <p:spPr bwMode="auto">
          <a:xfrm>
            <a:off x="7696200" y="30480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4831" name="Line 33"/>
          <p:cNvSpPr>
            <a:spLocks noChangeShapeType="1"/>
          </p:cNvSpPr>
          <p:nvPr/>
        </p:nvSpPr>
        <p:spPr bwMode="auto">
          <a:xfrm>
            <a:off x="7848600" y="3429000"/>
            <a:ext cx="1066800" cy="152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4832" name="Oval 34"/>
          <p:cNvSpPr>
            <a:spLocks noChangeArrowheads="1"/>
          </p:cNvSpPr>
          <p:nvPr/>
        </p:nvSpPr>
        <p:spPr bwMode="auto">
          <a:xfrm>
            <a:off x="7696200" y="33528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4833" name="Line 35"/>
          <p:cNvSpPr>
            <a:spLocks noChangeShapeType="1"/>
          </p:cNvSpPr>
          <p:nvPr/>
        </p:nvSpPr>
        <p:spPr bwMode="auto">
          <a:xfrm>
            <a:off x="6019800" y="1066800"/>
            <a:ext cx="0" cy="228600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4834" name="Line 36"/>
          <p:cNvSpPr>
            <a:spLocks noChangeShapeType="1"/>
          </p:cNvSpPr>
          <p:nvPr/>
        </p:nvSpPr>
        <p:spPr bwMode="auto">
          <a:xfrm flipH="1">
            <a:off x="6019800" y="1181100"/>
            <a:ext cx="2209800" cy="0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4835" name="Line 37"/>
          <p:cNvSpPr>
            <a:spLocks noChangeShapeType="1"/>
          </p:cNvSpPr>
          <p:nvPr/>
        </p:nvSpPr>
        <p:spPr bwMode="auto">
          <a:xfrm>
            <a:off x="8229600" y="1066800"/>
            <a:ext cx="0" cy="228600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4836" name="Text Box 38"/>
          <p:cNvSpPr txBox="1">
            <a:spLocks noChangeArrowheads="1"/>
          </p:cNvSpPr>
          <p:nvPr/>
        </p:nvSpPr>
        <p:spPr bwMode="auto">
          <a:xfrm>
            <a:off x="6553200" y="914400"/>
            <a:ext cx="1055688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4 bytes</a:t>
            </a:r>
          </a:p>
        </p:txBody>
      </p:sp>
      <p:sp>
        <p:nvSpPr>
          <p:cNvPr id="34837" name="Text Box 39"/>
          <p:cNvSpPr txBox="1">
            <a:spLocks noChangeArrowheads="1"/>
          </p:cNvSpPr>
          <p:nvPr/>
        </p:nvSpPr>
        <p:spPr bwMode="auto">
          <a:xfrm rot="-1284709">
            <a:off x="2133601" y="1447800"/>
            <a:ext cx="2841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1">
                <a:solidFill>
                  <a:srgbClr val="777777"/>
                </a:solidFill>
                <a:latin typeface="Arial" panose="020B0604020202020204" pitchFamily="34" charset="0"/>
              </a:rPr>
              <a:t>Each int is 4 bytes</a:t>
            </a:r>
          </a:p>
        </p:txBody>
      </p:sp>
      <p:sp>
        <p:nvSpPr>
          <p:cNvPr id="34838" name="Line 40"/>
          <p:cNvSpPr>
            <a:spLocks noChangeShapeType="1"/>
          </p:cNvSpPr>
          <p:nvPr/>
        </p:nvSpPr>
        <p:spPr bwMode="auto">
          <a:xfrm>
            <a:off x="4953000" y="1219200"/>
            <a:ext cx="914400" cy="0"/>
          </a:xfrm>
          <a:prstGeom prst="line">
            <a:avLst/>
          </a:prstGeom>
          <a:noFill/>
          <a:ln w="5715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352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>
                <a:solidFill>
                  <a:schemeClr val="tx1"/>
                </a:solidFill>
              </a:rPr>
              <a:t>C++ Arrays start at 0 !!!!!!!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The first element is the 0</a:t>
            </a:r>
            <a:r>
              <a:rPr lang="en-US" altLang="en-US" sz="2800" baseline="30000"/>
              <a:t>th</a:t>
            </a:r>
            <a:r>
              <a:rPr lang="en-US" altLang="en-US" sz="2800"/>
              <a:t> element!</a:t>
            </a:r>
          </a:p>
          <a:p>
            <a:pPr eaLnBrk="1" hangingPunct="1"/>
            <a:r>
              <a:rPr lang="en-US" altLang="en-US" sz="2800"/>
              <a:t>If you declare an array of </a:t>
            </a:r>
            <a:r>
              <a:rPr lang="en-US" altLang="en-US" sz="2800" i="1"/>
              <a:t>n</a:t>
            </a:r>
            <a:r>
              <a:rPr lang="en-US" altLang="en-US" sz="2800"/>
              <a:t> elements, the last one is number </a:t>
            </a:r>
            <a:r>
              <a:rPr lang="en-US" altLang="en-US" sz="2800" i="1"/>
              <a:t>n-1</a:t>
            </a:r>
            <a:r>
              <a:rPr lang="en-US" altLang="en-US" sz="2800"/>
              <a:t>.</a:t>
            </a:r>
          </a:p>
          <a:p>
            <a:pPr eaLnBrk="1" hangingPunct="1"/>
            <a:r>
              <a:rPr lang="en-US" altLang="en-US" sz="2800"/>
              <a:t>If you try to access element number </a:t>
            </a:r>
            <a:r>
              <a:rPr lang="en-US" altLang="en-US" sz="2800" i="1"/>
              <a:t>n</a:t>
            </a:r>
            <a:r>
              <a:rPr lang="en-US" altLang="en-US" sz="2800"/>
              <a:t> it is an error!</a:t>
            </a:r>
          </a:p>
          <a:p>
            <a:pPr eaLnBrk="1" hangingPunct="1"/>
            <a:endParaRPr lang="en-US" altLang="en-US" sz="2800"/>
          </a:p>
          <a:p>
            <a:pPr algn="ctr" eaLnBrk="1" hangingPunct="1">
              <a:buFontTx/>
              <a:buNone/>
            </a:pPr>
            <a:r>
              <a:rPr lang="en-US" altLang="en-US" sz="2800"/>
              <a:t>If only millenniums started at 0 …</a:t>
            </a:r>
          </a:p>
          <a:p>
            <a:pPr algn="ctr" eaLnBrk="1" hangingPunct="1">
              <a:buFontTx/>
              <a:buNone/>
            </a:pPr>
            <a:endParaRPr lang="en-US" altLang="en-US" sz="2800"/>
          </a:p>
        </p:txBody>
      </p:sp>
    </p:spTree>
    <p:extLst>
      <p:ext uri="{BB962C8B-B14F-4D97-AF65-F5344CB8AC3E}">
        <p14:creationId xmlns:p14="http://schemas.microsoft.com/office/powerpoint/2010/main" val="18003451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>
                <a:solidFill>
                  <a:schemeClr val="tx1"/>
                </a:solidFill>
              </a:rPr>
              <a:t>Array Subscripts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981200"/>
            <a:ext cx="7772400" cy="13716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800"/>
              <a:t>The element numbers are called subscripts.</a:t>
            </a:r>
          </a:p>
          <a:p>
            <a:pPr algn="ctr" eaLnBrk="1" hangingPunct="1">
              <a:buFontTx/>
              <a:buNone/>
            </a:pPr>
            <a:r>
              <a:rPr lang="en-US" altLang="en-US" sz="2800" b="1">
                <a:latin typeface="Courier New" panose="02070309020205020404" pitchFamily="49" charset="0"/>
              </a:rPr>
              <a:t>foo[i]</a:t>
            </a:r>
          </a:p>
        </p:txBody>
      </p:sp>
      <p:sp>
        <p:nvSpPr>
          <p:cNvPr id="36868" name="Text Box 4"/>
          <p:cNvSpPr txBox="1">
            <a:spLocks noChangeArrowheads="1"/>
          </p:cNvSpPr>
          <p:nvPr/>
        </p:nvSpPr>
        <p:spPr bwMode="auto">
          <a:xfrm rot="-827921">
            <a:off x="3276601" y="3200400"/>
            <a:ext cx="1863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1">
                <a:solidFill>
                  <a:srgbClr val="777777"/>
                </a:solidFill>
                <a:latin typeface="Arial" panose="020B0604020202020204" pitchFamily="34" charset="0"/>
              </a:rPr>
              <a:t>Array name</a:t>
            </a:r>
          </a:p>
        </p:txBody>
      </p:sp>
      <p:sp>
        <p:nvSpPr>
          <p:cNvPr id="36869" name="Text Box 5"/>
          <p:cNvSpPr txBox="1">
            <a:spLocks noChangeArrowheads="1"/>
          </p:cNvSpPr>
          <p:nvPr/>
        </p:nvSpPr>
        <p:spPr bwMode="auto">
          <a:xfrm rot="1187921">
            <a:off x="7162800" y="3276600"/>
            <a:ext cx="155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1">
                <a:solidFill>
                  <a:srgbClr val="777777"/>
                </a:solidFill>
                <a:latin typeface="Arial" panose="020B0604020202020204" pitchFamily="34" charset="0"/>
              </a:rPr>
              <a:t>subscript</a:t>
            </a:r>
          </a:p>
        </p:txBody>
      </p:sp>
      <p:sp>
        <p:nvSpPr>
          <p:cNvPr id="36870" name="Line 6"/>
          <p:cNvSpPr>
            <a:spLocks noChangeShapeType="1"/>
          </p:cNvSpPr>
          <p:nvPr/>
        </p:nvSpPr>
        <p:spPr bwMode="auto">
          <a:xfrm flipV="1">
            <a:off x="5105400" y="2971800"/>
            <a:ext cx="228600" cy="228600"/>
          </a:xfrm>
          <a:prstGeom prst="line">
            <a:avLst/>
          </a:prstGeom>
          <a:noFill/>
          <a:ln w="5715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71" name="Line 7"/>
          <p:cNvSpPr>
            <a:spLocks noChangeShapeType="1"/>
          </p:cNvSpPr>
          <p:nvPr/>
        </p:nvSpPr>
        <p:spPr bwMode="auto">
          <a:xfrm flipH="1" flipV="1">
            <a:off x="6477000" y="3048000"/>
            <a:ext cx="609600" cy="228600"/>
          </a:xfrm>
          <a:prstGeom prst="line">
            <a:avLst/>
          </a:prstGeom>
          <a:noFill/>
          <a:ln w="5715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72" name="Rectangle 8"/>
          <p:cNvSpPr>
            <a:spLocks noChangeArrowheads="1"/>
          </p:cNvSpPr>
          <p:nvPr/>
        </p:nvSpPr>
        <p:spPr bwMode="auto">
          <a:xfrm>
            <a:off x="2286000" y="4267200"/>
            <a:ext cx="77724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US" sz="3200"/>
              <a:t>A subscript can be any integer expression:</a:t>
            </a:r>
          </a:p>
          <a:p>
            <a:pPr>
              <a:spcBef>
                <a:spcPct val="20000"/>
              </a:spcBef>
            </a:pPr>
            <a:r>
              <a:rPr lang="en-US" altLang="en-US" sz="3200"/>
              <a:t>These are all valid subscripts:  </a:t>
            </a:r>
          </a:p>
          <a:p>
            <a:pPr algn="ctr">
              <a:spcBef>
                <a:spcPct val="20000"/>
              </a:spcBef>
            </a:pPr>
            <a:r>
              <a:rPr lang="en-US" altLang="en-US" sz="3200" b="1">
                <a:latin typeface="Courier New" panose="02070309020205020404" pitchFamily="49" charset="0"/>
              </a:rPr>
              <a:t>foo[17]  foo[i+3] foo[a+b+c]</a:t>
            </a:r>
            <a:endParaRPr lang="en-US" altLang="en-US" sz="3200"/>
          </a:p>
        </p:txBody>
      </p:sp>
    </p:spTree>
    <p:extLst>
      <p:ext uri="{BB962C8B-B14F-4D97-AF65-F5344CB8AC3E}">
        <p14:creationId xmlns:p14="http://schemas.microsoft.com/office/powerpoint/2010/main" val="398342932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838200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tx1"/>
                </a:solidFill>
              </a:rPr>
              <a:t>Array Example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1143000"/>
            <a:ext cx="8534400" cy="5105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int main(void) {</a:t>
            </a:r>
          </a:p>
          <a:p>
            <a:pPr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	int facs[10];</a:t>
            </a:r>
          </a:p>
          <a:p>
            <a:pPr eaLnBrk="1" hangingPunct="1">
              <a:buFontTx/>
              <a:buNone/>
            </a:pPr>
            <a:endParaRPr lang="en-US" altLang="en-US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	for (int i=0;i&lt;10;i++)</a:t>
            </a:r>
          </a:p>
          <a:p>
            <a:pPr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		facs[i] = factorial(i);</a:t>
            </a:r>
          </a:p>
          <a:p>
            <a:pPr eaLnBrk="1" hangingPunct="1">
              <a:buFontTx/>
              <a:buNone/>
            </a:pPr>
            <a:endParaRPr lang="en-US" altLang="en-US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	for (int i=0;i&lt;10;i++)</a:t>
            </a:r>
          </a:p>
          <a:p>
            <a:pPr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    cout &lt;&lt; "factorial(" &lt;&lt; i &lt;&lt; ") is " &lt;&lt;</a:t>
            </a:r>
          </a:p>
          <a:p>
            <a:pPr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      facs[i] &lt;&lt; endl;</a:t>
            </a:r>
          </a:p>
          <a:p>
            <a:pPr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2373083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>
                <a:solidFill>
                  <a:schemeClr val="tx1"/>
                </a:solidFill>
              </a:rPr>
              <a:t>Declaring An Array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981200"/>
            <a:ext cx="8229600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element_type array_name[number_of_elements];</a:t>
            </a:r>
          </a:p>
          <a:p>
            <a:pPr eaLnBrk="1" hangingPunct="1">
              <a:buFontTx/>
              <a:buNone/>
            </a:pPr>
            <a:endParaRPr lang="en-US" altLang="en-US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element_type </a:t>
            </a:r>
            <a:r>
              <a:rPr lang="en-US" altLang="en-US" sz="2400"/>
              <a:t>can be any C++ variable type.</a:t>
            </a:r>
          </a:p>
          <a:p>
            <a:pPr eaLnBrk="1" hangingPunct="1">
              <a:buFontTx/>
              <a:buNone/>
            </a:pPr>
            <a:endParaRPr lang="en-US" altLang="en-US" sz="2400"/>
          </a:p>
          <a:p>
            <a:pPr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array_name</a:t>
            </a:r>
            <a:r>
              <a:rPr lang="en-US" altLang="en-US" sz="2400"/>
              <a:t> can be any valid variable name.</a:t>
            </a:r>
          </a:p>
          <a:p>
            <a:pPr eaLnBrk="1" hangingPunct="1">
              <a:buFontTx/>
              <a:buNone/>
            </a:pPr>
            <a:endParaRPr lang="en-US" altLang="en-US" sz="2400"/>
          </a:p>
          <a:p>
            <a:pPr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number_of_elements</a:t>
            </a:r>
            <a:r>
              <a:rPr lang="en-US" altLang="en-US" sz="2400"/>
              <a:t> can be an expression.</a:t>
            </a:r>
          </a:p>
        </p:txBody>
      </p:sp>
    </p:spTree>
    <p:extLst>
      <p:ext uri="{BB962C8B-B14F-4D97-AF65-F5344CB8AC3E}">
        <p14:creationId xmlns:p14="http://schemas.microsoft.com/office/powerpoint/2010/main" val="311404307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81000"/>
            <a:ext cx="7772400" cy="609600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tx1"/>
                </a:solidFill>
              </a:rPr>
              <a:t>Initialization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066800"/>
            <a:ext cx="7772400" cy="5029200"/>
          </a:xfrm>
        </p:spPr>
        <p:txBody>
          <a:bodyPr/>
          <a:lstStyle/>
          <a:p>
            <a:pPr eaLnBrk="1" hangingPunct="1"/>
            <a:r>
              <a:rPr lang="en-US" altLang="en-US" sz="2800"/>
              <a:t>You can initialize an array when you declare it (just like with variables):</a:t>
            </a:r>
          </a:p>
          <a:p>
            <a:pPr eaLnBrk="1" hangingPunct="1"/>
            <a:endParaRPr lang="en-US" altLang="en-US" sz="2800"/>
          </a:p>
          <a:p>
            <a:pPr eaLnBrk="1" hangingPunct="1"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int foo[5] = { 1,8,3,6,12};</a:t>
            </a:r>
          </a:p>
          <a:p>
            <a:pPr eaLnBrk="1" hangingPunct="1">
              <a:buFontTx/>
              <a:buNone/>
            </a:pPr>
            <a:endParaRPr lang="en-US" altLang="en-US" sz="2400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double d[2] = { 0.707, 0.707};</a:t>
            </a:r>
          </a:p>
          <a:p>
            <a:pPr eaLnBrk="1" hangingPunct="1">
              <a:buFontTx/>
              <a:buNone/>
            </a:pPr>
            <a:endParaRPr lang="en-US" altLang="en-US" sz="2400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char s[] = { 'R', 'P', 'I' };</a:t>
            </a:r>
          </a:p>
        </p:txBody>
      </p:sp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2727325" y="5678489"/>
            <a:ext cx="736573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1">
                <a:solidFill>
                  <a:srgbClr val="777777"/>
                </a:solidFill>
                <a:latin typeface="Arial" panose="020B0604020202020204" pitchFamily="34" charset="0"/>
              </a:rPr>
              <a:t>You don’t need to specify a size when initializing,</a:t>
            </a:r>
          </a:p>
          <a:p>
            <a:r>
              <a:rPr lang="en-US" altLang="en-US" b="1">
                <a:solidFill>
                  <a:srgbClr val="777777"/>
                </a:solidFill>
                <a:latin typeface="Arial" panose="020B0604020202020204" pitchFamily="34" charset="0"/>
              </a:rPr>
              <a:t> the compiler will count for you.</a:t>
            </a:r>
          </a:p>
        </p:txBody>
      </p:sp>
      <p:sp>
        <p:nvSpPr>
          <p:cNvPr id="39941" name="Line 5"/>
          <p:cNvSpPr>
            <a:spLocks noChangeShapeType="1"/>
          </p:cNvSpPr>
          <p:nvPr/>
        </p:nvSpPr>
        <p:spPr bwMode="auto">
          <a:xfrm flipH="1" flipV="1">
            <a:off x="3886200" y="5257800"/>
            <a:ext cx="152400" cy="457200"/>
          </a:xfrm>
          <a:prstGeom prst="line">
            <a:avLst/>
          </a:prstGeom>
          <a:noFill/>
          <a:ln w="5715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873181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609600"/>
            <a:ext cx="7772400" cy="838200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tx1"/>
                </a:solidFill>
              </a:rPr>
              <a:t>An array printing function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2819400"/>
            <a:ext cx="8458200" cy="3276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void print_array(int a[], int len) {</a:t>
            </a:r>
          </a:p>
          <a:p>
            <a:pPr eaLnBrk="1" hangingPunct="1"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	for (int i=0;i&lt;len;i++) </a:t>
            </a:r>
          </a:p>
          <a:p>
            <a:pPr eaLnBrk="1" hangingPunct="1"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		cout &lt;&lt; "[" &lt;&lt; i &lt;&lt; "] = " </a:t>
            </a:r>
          </a:p>
          <a:p>
            <a:pPr eaLnBrk="1" hangingPunct="1"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			&lt;&lt; a[i] &lt;&lt; endl;</a:t>
            </a:r>
          </a:p>
          <a:p>
            <a:pPr eaLnBrk="1" hangingPunct="1"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buFontTx/>
              <a:buNone/>
            </a:pPr>
            <a:endParaRPr lang="en-US" altLang="en-US" sz="2400" b="1">
              <a:latin typeface="Courier New" panose="02070309020205020404" pitchFamily="49" charset="0"/>
            </a:endParaRPr>
          </a:p>
        </p:txBody>
      </p:sp>
      <p:sp>
        <p:nvSpPr>
          <p:cNvPr id="40964" name="Text Box 4"/>
          <p:cNvSpPr txBox="1">
            <a:spLocks noChangeArrowheads="1"/>
          </p:cNvSpPr>
          <p:nvPr/>
        </p:nvSpPr>
        <p:spPr bwMode="auto">
          <a:xfrm rot="-209199">
            <a:off x="3567767" y="1516490"/>
            <a:ext cx="528824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1">
                <a:solidFill>
                  <a:srgbClr val="777777"/>
                </a:solidFill>
                <a:latin typeface="Arial" panose="020B0604020202020204" pitchFamily="34" charset="0"/>
              </a:rPr>
              <a:t>Can pass an array as a parameter.</a:t>
            </a:r>
          </a:p>
          <a:p>
            <a:r>
              <a:rPr lang="en-US" altLang="en-US" b="1">
                <a:solidFill>
                  <a:srgbClr val="777777"/>
                </a:solidFill>
                <a:latin typeface="Arial" panose="020B0604020202020204" pitchFamily="34" charset="0"/>
              </a:rPr>
              <a:t>You don't have to say how big it is!</a:t>
            </a:r>
          </a:p>
        </p:txBody>
      </p:sp>
      <p:sp>
        <p:nvSpPr>
          <p:cNvPr id="40965" name="Line 5"/>
          <p:cNvSpPr>
            <a:spLocks noChangeShapeType="1"/>
          </p:cNvSpPr>
          <p:nvPr/>
        </p:nvSpPr>
        <p:spPr bwMode="auto">
          <a:xfrm>
            <a:off x="6400800" y="2362200"/>
            <a:ext cx="76200" cy="533400"/>
          </a:xfrm>
          <a:prstGeom prst="line">
            <a:avLst/>
          </a:prstGeom>
          <a:noFill/>
          <a:ln w="5715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4273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905000" y="609600"/>
            <a:ext cx="8382000" cy="1143000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tx1"/>
                </a:solidFill>
              </a:rPr>
              <a:t>What if we want to print doubles?</a:t>
            </a:r>
          </a:p>
        </p:txBody>
      </p:sp>
      <p:sp>
        <p:nvSpPr>
          <p:cNvPr id="41987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The </a:t>
            </a:r>
            <a:r>
              <a:rPr lang="en-US" altLang="en-US" sz="2400" b="1">
                <a:latin typeface="Courier New" panose="02070309020205020404" pitchFamily="49" charset="0"/>
              </a:rPr>
              <a:t>print_array</a:t>
            </a:r>
            <a:r>
              <a:rPr lang="en-US" altLang="en-US" sz="2800"/>
              <a:t> function is declared to handle only </a:t>
            </a:r>
            <a:r>
              <a:rPr lang="en-US" altLang="en-US" sz="2400" b="1">
                <a:latin typeface="Courier New" panose="02070309020205020404" pitchFamily="49" charset="0"/>
              </a:rPr>
              <a:t>int</a:t>
            </a:r>
            <a:r>
              <a:rPr lang="en-US" altLang="en-US" sz="2800"/>
              <a:t>s.</a:t>
            </a:r>
          </a:p>
          <a:p>
            <a:pPr eaLnBrk="1" hangingPunct="1"/>
            <a:r>
              <a:rPr lang="en-US" altLang="en-US" sz="2800"/>
              <a:t>We can write another function that can be used to print doubles.</a:t>
            </a:r>
          </a:p>
          <a:p>
            <a:pPr eaLnBrk="1" hangingPunct="1"/>
            <a:r>
              <a:rPr lang="en-US" altLang="en-US" sz="2800"/>
              <a:t>We have to write another function (we can't use the same one).</a:t>
            </a:r>
          </a:p>
          <a:p>
            <a:pPr lvl="1" eaLnBrk="1" hangingPunct="1"/>
            <a:r>
              <a:rPr lang="en-US" altLang="en-US" sz="2400"/>
              <a:t>Not really true – this is what templates can do for you!</a:t>
            </a:r>
          </a:p>
        </p:txBody>
      </p:sp>
    </p:spTree>
    <p:extLst>
      <p:ext uri="{BB962C8B-B14F-4D97-AF65-F5344CB8AC3E}">
        <p14:creationId xmlns:p14="http://schemas.microsoft.com/office/powerpoint/2010/main" val="18114140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b="1">
                <a:solidFill>
                  <a:schemeClr val="tx1"/>
                </a:solidFill>
                <a:latin typeface="Courier New" panose="02070309020205020404" pitchFamily="49" charset="0"/>
              </a:rPr>
              <a:t>print_array()</a:t>
            </a:r>
            <a:r>
              <a:rPr lang="en-US" altLang="en-US" sz="4000">
                <a:solidFill>
                  <a:schemeClr val="tx1"/>
                </a:solidFill>
              </a:rPr>
              <a:t> for doubles</a:t>
            </a:r>
          </a:p>
        </p:txBody>
      </p:sp>
      <p:sp>
        <p:nvSpPr>
          <p:cNvPr id="4301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905000" y="1981200"/>
            <a:ext cx="8077200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void print_array(double a[], int len) {</a:t>
            </a:r>
          </a:p>
          <a:p>
            <a:pPr eaLnBrk="1" hangingPunct="1"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	for (int i=0;i&lt;len;i++) </a:t>
            </a:r>
          </a:p>
          <a:p>
            <a:pPr eaLnBrk="1" hangingPunct="1"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		cout &lt;&lt; "[" &lt;&lt; i &lt;&lt; "] = " </a:t>
            </a:r>
          </a:p>
          <a:p>
            <a:pPr eaLnBrk="1" hangingPunct="1"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			&lt;&lt; a[i] &lt;&lt; endl;</a:t>
            </a:r>
          </a:p>
          <a:p>
            <a:pPr eaLnBrk="1" hangingPunct="1"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}</a:t>
            </a:r>
          </a:p>
          <a:p>
            <a:pPr eaLnBrk="1" hangingPunct="1"/>
            <a:endParaRPr lang="en-US" altLang="en-US" sz="2800"/>
          </a:p>
        </p:txBody>
      </p:sp>
    </p:spTree>
    <p:extLst>
      <p:ext uri="{BB962C8B-B14F-4D97-AF65-F5344CB8AC3E}">
        <p14:creationId xmlns:p14="http://schemas.microsoft.com/office/powerpoint/2010/main" val="311432796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tx1"/>
                </a:solidFill>
              </a:rPr>
              <a:t>Which is it?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1143000"/>
            <a:ext cx="8839200" cy="4953000"/>
          </a:xfrm>
        </p:spPr>
        <p:txBody>
          <a:bodyPr/>
          <a:lstStyle/>
          <a:p>
            <a:pPr eaLnBrk="1" hangingPunct="1"/>
            <a:r>
              <a:rPr lang="en-US" altLang="en-US" sz="2800"/>
              <a:t>We now have two functions with the same name:</a:t>
            </a:r>
          </a:p>
          <a:p>
            <a:pPr eaLnBrk="1" hangingPunct="1"/>
            <a:endParaRPr lang="en-US" altLang="en-US" sz="2800"/>
          </a:p>
          <a:p>
            <a:pPr algn="ctr" eaLnBrk="1" hangingPunct="1"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void print_array(double a[], int len);</a:t>
            </a:r>
          </a:p>
          <a:p>
            <a:pPr algn="ctr" eaLnBrk="1" hangingPunct="1"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void print_array(int a[], int len);</a:t>
            </a:r>
          </a:p>
          <a:p>
            <a:pPr eaLnBrk="1" hangingPunct="1">
              <a:buFontTx/>
              <a:buNone/>
            </a:pPr>
            <a:endParaRPr lang="en-US" altLang="en-US" sz="2400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2800"/>
              <a:t>This is fine – as long as the prototypes are different everything works. </a:t>
            </a:r>
          </a:p>
          <a:p>
            <a:pPr eaLnBrk="1" hangingPunct="1">
              <a:buFontTx/>
              <a:buNone/>
            </a:pPr>
            <a:r>
              <a:rPr lang="en-US" altLang="en-US" sz="2800"/>
              <a:t>This is called "overloading", using the same name for two (or more) different functions. </a:t>
            </a:r>
            <a:endParaRPr lang="en-US" altLang="en-US" sz="2400" b="1">
              <a:latin typeface="Courier New" panose="02070309020205020404" pitchFamily="49" charset="0"/>
            </a:endParaRPr>
          </a:p>
          <a:p>
            <a:pPr eaLnBrk="1" hangingPunct="1"/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264489439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>
                <a:solidFill>
                  <a:schemeClr val="tx1"/>
                </a:solidFill>
              </a:rPr>
              <a:t>Arrays of </a:t>
            </a:r>
            <a:r>
              <a:rPr lang="en-US" altLang="en-US" sz="4000">
                <a:solidFill>
                  <a:schemeClr val="tx1"/>
                </a:solidFill>
                <a:latin typeface="Courier New" panose="02070309020205020404" pitchFamily="49" charset="0"/>
              </a:rPr>
              <a:t>char</a:t>
            </a:r>
            <a:r>
              <a:rPr lang="en-US" altLang="en-US" sz="4000">
                <a:solidFill>
                  <a:schemeClr val="tx1"/>
                </a:solidFill>
              </a:rPr>
              <a:t> are special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1905000"/>
            <a:ext cx="8382000" cy="4114800"/>
          </a:xfrm>
        </p:spPr>
        <p:txBody>
          <a:bodyPr/>
          <a:lstStyle/>
          <a:p>
            <a:pPr eaLnBrk="1" hangingPunct="1"/>
            <a:r>
              <a:rPr lang="en-US" altLang="en-US" sz="2800"/>
              <a:t>C++ provides a special way to deal with arrays of characters:</a:t>
            </a:r>
          </a:p>
          <a:p>
            <a:pPr eaLnBrk="1" hangingPunct="1"/>
            <a:endParaRPr lang="en-US" altLang="en-US" sz="2800"/>
          </a:p>
          <a:p>
            <a:pPr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char string1[] = </a:t>
            </a:r>
          </a:p>
          <a:p>
            <a:pPr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	"RPI without PI is like meat without eat";</a:t>
            </a:r>
          </a:p>
          <a:p>
            <a:pPr eaLnBrk="1" hangingPunct="1">
              <a:buFontTx/>
              <a:buNone/>
            </a:pPr>
            <a:endParaRPr lang="en-US" altLang="en-US" b="1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en-US" sz="2800"/>
              <a:t>char arrays can be initialized with string literals.</a:t>
            </a:r>
          </a:p>
        </p:txBody>
      </p:sp>
    </p:spTree>
    <p:extLst>
      <p:ext uri="{BB962C8B-B14F-4D97-AF65-F5344CB8AC3E}">
        <p14:creationId xmlns:p14="http://schemas.microsoft.com/office/powerpoint/2010/main" val="14736335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>
                <a:solidFill>
                  <a:schemeClr val="tx1"/>
                </a:solidFill>
              </a:rPr>
              <a:t>Arrays of Arrays</a:t>
            </a:r>
          </a:p>
        </p:txBody>
      </p:sp>
      <p:sp>
        <p:nvSpPr>
          <p:cNvPr id="4608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You can create an array of arrays:</a:t>
            </a:r>
          </a:p>
          <a:p>
            <a:pPr eaLnBrk="1" hangingPunct="1"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int a[2][2];</a:t>
            </a:r>
          </a:p>
          <a:p>
            <a:pPr eaLnBrk="1" hangingPunct="1"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	</a:t>
            </a:r>
          </a:p>
          <a:p>
            <a:pPr eaLnBrk="1" hangingPunct="1"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for (int i=0;i&lt;2;i++)</a:t>
            </a:r>
          </a:p>
          <a:p>
            <a:pPr eaLnBrk="1" hangingPunct="1"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	for (int j=0;j&lt;2;j++)</a:t>
            </a:r>
          </a:p>
          <a:p>
            <a:pPr eaLnBrk="1" hangingPunct="1"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		a[i][j] = i+j;</a:t>
            </a:r>
          </a:p>
          <a:p>
            <a:pPr eaLnBrk="1" hangingPunct="1">
              <a:buFontTx/>
              <a:buNone/>
            </a:pPr>
            <a:endParaRPr lang="en-US" altLang="en-US" sz="2400" b="1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331158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>
                <a:solidFill>
                  <a:schemeClr val="tx1"/>
                </a:solidFill>
              </a:rPr>
              <a:t>2-D Array: </a:t>
            </a:r>
            <a:r>
              <a:rPr lang="en-US" altLang="en-US" sz="4000" b="1">
                <a:solidFill>
                  <a:schemeClr val="tx1"/>
                </a:solidFill>
                <a:latin typeface="Courier New" panose="02070309020205020404" pitchFamily="49" charset="0"/>
              </a:rPr>
              <a:t>int A[3][4]</a:t>
            </a:r>
          </a:p>
        </p:txBody>
      </p:sp>
      <p:graphicFrame>
        <p:nvGraphicFramePr>
          <p:cNvPr id="68611" name="Group 1027"/>
          <p:cNvGraphicFramePr>
            <a:graphicFrameLocks noGrp="1"/>
          </p:cNvGraphicFramePr>
          <p:nvPr/>
        </p:nvGraphicFramePr>
        <p:xfrm>
          <a:off x="2438400" y="2286000"/>
          <a:ext cx="7620000" cy="2971800"/>
        </p:xfrm>
        <a:graphic>
          <a:graphicData uri="http://schemas.openxmlformats.org/drawingml/2006/table">
            <a:tbl>
              <a:tblPr/>
              <a:tblGrid>
                <a:gridCol w="1524000"/>
                <a:gridCol w="1524000"/>
                <a:gridCol w="1524000"/>
                <a:gridCol w="1524000"/>
                <a:gridCol w="1524000"/>
              </a:tblGrid>
              <a:tr h="742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Col 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Col 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Col 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Col 3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Row 0</a:t>
                      </a:r>
                    </a:p>
                  </a:txBody>
                  <a:tcPr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A[0][0]</a:t>
                      </a:r>
                    </a:p>
                  </a:txBody>
                  <a:tcPr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A[0][1]</a:t>
                      </a:r>
                    </a:p>
                  </a:txBody>
                  <a:tcPr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A[0][2]</a:t>
                      </a:r>
                    </a:p>
                  </a:txBody>
                  <a:tcPr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A[0][3]</a:t>
                      </a:r>
                    </a:p>
                  </a:txBody>
                  <a:tcPr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Row 1</a:t>
                      </a:r>
                    </a:p>
                  </a:txBody>
                  <a:tcPr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A[1][0]</a:t>
                      </a:r>
                    </a:p>
                  </a:txBody>
                  <a:tcPr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A[1][1]</a:t>
                      </a:r>
                    </a:p>
                  </a:txBody>
                  <a:tcPr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A[1][2]</a:t>
                      </a:r>
                    </a:p>
                  </a:txBody>
                  <a:tcPr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A[1][3]</a:t>
                      </a:r>
                    </a:p>
                  </a:txBody>
                  <a:tcPr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Row 2</a:t>
                      </a:r>
                    </a:p>
                  </a:txBody>
                  <a:tcPr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A[2][0]</a:t>
                      </a:r>
                    </a:p>
                  </a:txBody>
                  <a:tcPr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A[2][1]</a:t>
                      </a:r>
                    </a:p>
                  </a:txBody>
                  <a:tcPr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A[2][2]</a:t>
                      </a:r>
                    </a:p>
                  </a:txBody>
                  <a:tcPr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A[2][3]</a:t>
                      </a:r>
                    </a:p>
                  </a:txBody>
                  <a:tcPr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280365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9144000" cy="914400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tx1"/>
                </a:solidFill>
              </a:rPr>
              <a:t>2-D Memory Organization</a:t>
            </a:r>
          </a:p>
        </p:txBody>
      </p:sp>
      <p:sp>
        <p:nvSpPr>
          <p:cNvPr id="48131" name="Rectangle 3"/>
          <p:cNvSpPr>
            <a:spLocks noChangeArrowheads="1"/>
          </p:cNvSpPr>
          <p:nvPr/>
        </p:nvSpPr>
        <p:spPr bwMode="auto">
          <a:xfrm>
            <a:off x="7086600" y="1219200"/>
            <a:ext cx="457200" cy="400050"/>
          </a:xfrm>
          <a:prstGeom prst="rect">
            <a:avLst/>
          </a:prstGeom>
          <a:solidFill>
            <a:srgbClr val="B2B2B2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8132" name="Rectangle 4"/>
          <p:cNvSpPr>
            <a:spLocks noChangeArrowheads="1"/>
          </p:cNvSpPr>
          <p:nvPr/>
        </p:nvSpPr>
        <p:spPr bwMode="auto">
          <a:xfrm>
            <a:off x="7086600" y="1619250"/>
            <a:ext cx="457200" cy="400050"/>
          </a:xfrm>
          <a:prstGeom prst="rect">
            <a:avLst/>
          </a:prstGeom>
          <a:solidFill>
            <a:srgbClr val="B2B2B2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8133" name="Rectangle 5"/>
          <p:cNvSpPr>
            <a:spLocks noChangeArrowheads="1"/>
          </p:cNvSpPr>
          <p:nvPr/>
        </p:nvSpPr>
        <p:spPr bwMode="auto">
          <a:xfrm>
            <a:off x="7086600" y="2019300"/>
            <a:ext cx="457200" cy="400050"/>
          </a:xfrm>
          <a:prstGeom prst="rect">
            <a:avLst/>
          </a:prstGeom>
          <a:solidFill>
            <a:srgbClr val="B2B2B2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8134" name="Rectangle 6"/>
          <p:cNvSpPr>
            <a:spLocks noChangeArrowheads="1"/>
          </p:cNvSpPr>
          <p:nvPr/>
        </p:nvSpPr>
        <p:spPr bwMode="auto">
          <a:xfrm>
            <a:off x="7086600" y="2419350"/>
            <a:ext cx="457200" cy="40005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8135" name="Rectangle 7"/>
          <p:cNvSpPr>
            <a:spLocks noChangeArrowheads="1"/>
          </p:cNvSpPr>
          <p:nvPr/>
        </p:nvSpPr>
        <p:spPr bwMode="auto">
          <a:xfrm>
            <a:off x="7086600" y="2819400"/>
            <a:ext cx="457200" cy="40005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8136" name="Rectangle 8"/>
          <p:cNvSpPr>
            <a:spLocks noChangeArrowheads="1"/>
          </p:cNvSpPr>
          <p:nvPr/>
        </p:nvSpPr>
        <p:spPr bwMode="auto">
          <a:xfrm>
            <a:off x="7086600" y="3219450"/>
            <a:ext cx="457200" cy="40005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8137" name="Rectangle 9"/>
          <p:cNvSpPr>
            <a:spLocks noChangeArrowheads="1"/>
          </p:cNvSpPr>
          <p:nvPr/>
        </p:nvSpPr>
        <p:spPr bwMode="auto">
          <a:xfrm>
            <a:off x="7086600" y="3619500"/>
            <a:ext cx="457200" cy="400050"/>
          </a:xfrm>
          <a:prstGeom prst="rect">
            <a:avLst/>
          </a:prstGeom>
          <a:solidFill>
            <a:srgbClr val="B2B2B2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8138" name="Rectangle 10"/>
          <p:cNvSpPr>
            <a:spLocks noChangeArrowheads="1"/>
          </p:cNvSpPr>
          <p:nvPr/>
        </p:nvSpPr>
        <p:spPr bwMode="auto">
          <a:xfrm>
            <a:off x="7086600" y="4019550"/>
            <a:ext cx="457200" cy="400050"/>
          </a:xfrm>
          <a:prstGeom prst="rect">
            <a:avLst/>
          </a:prstGeom>
          <a:solidFill>
            <a:srgbClr val="B2B2B2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8139" name="Rectangle 11"/>
          <p:cNvSpPr>
            <a:spLocks noChangeArrowheads="1"/>
          </p:cNvSpPr>
          <p:nvPr/>
        </p:nvSpPr>
        <p:spPr bwMode="auto">
          <a:xfrm>
            <a:off x="7086600" y="4419600"/>
            <a:ext cx="457200" cy="400050"/>
          </a:xfrm>
          <a:prstGeom prst="rect">
            <a:avLst/>
          </a:prstGeom>
          <a:solidFill>
            <a:srgbClr val="B2B2B2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8140" name="Rectangle 12"/>
          <p:cNvSpPr>
            <a:spLocks noChangeArrowheads="1"/>
          </p:cNvSpPr>
          <p:nvPr/>
        </p:nvSpPr>
        <p:spPr bwMode="auto">
          <a:xfrm>
            <a:off x="7086600" y="4819650"/>
            <a:ext cx="457200" cy="40005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8141" name="Rectangle 13"/>
          <p:cNvSpPr>
            <a:spLocks noChangeArrowheads="1"/>
          </p:cNvSpPr>
          <p:nvPr/>
        </p:nvSpPr>
        <p:spPr bwMode="auto">
          <a:xfrm>
            <a:off x="7086600" y="5219700"/>
            <a:ext cx="457200" cy="40005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8142" name="Rectangle 14"/>
          <p:cNvSpPr>
            <a:spLocks noChangeArrowheads="1"/>
          </p:cNvSpPr>
          <p:nvPr/>
        </p:nvSpPr>
        <p:spPr bwMode="auto">
          <a:xfrm>
            <a:off x="7086600" y="5619750"/>
            <a:ext cx="457200" cy="40005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8143" name="Text Box 15"/>
          <p:cNvSpPr txBox="1">
            <a:spLocks noChangeArrowheads="1"/>
          </p:cNvSpPr>
          <p:nvPr/>
        </p:nvSpPr>
        <p:spPr bwMode="auto">
          <a:xfrm>
            <a:off x="1981201" y="1447801"/>
            <a:ext cx="2949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800" b="1">
                <a:latin typeface="Courier New" panose="02070309020205020404" pitchFamily="49" charset="0"/>
              </a:rPr>
              <a:t>char A[4][3];</a:t>
            </a:r>
          </a:p>
        </p:txBody>
      </p:sp>
      <p:sp>
        <p:nvSpPr>
          <p:cNvPr id="48144" name="Rectangle 16"/>
          <p:cNvSpPr>
            <a:spLocks noChangeArrowheads="1"/>
          </p:cNvSpPr>
          <p:nvPr/>
        </p:nvSpPr>
        <p:spPr bwMode="auto">
          <a:xfrm>
            <a:off x="7620000" y="1143000"/>
            <a:ext cx="1475084" cy="4967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b="1">
                <a:latin typeface="Courier New" panose="02070309020205020404" pitchFamily="49" charset="0"/>
              </a:rPr>
              <a:t>A[0][0]</a:t>
            </a:r>
          </a:p>
          <a:p>
            <a:pPr>
              <a:lnSpc>
                <a:spcPct val="110000"/>
              </a:lnSpc>
            </a:pPr>
            <a:r>
              <a:rPr lang="en-US" altLang="en-US" b="1">
                <a:latin typeface="Courier New" panose="02070309020205020404" pitchFamily="49" charset="0"/>
              </a:rPr>
              <a:t>A[0][1]</a:t>
            </a:r>
          </a:p>
          <a:p>
            <a:pPr>
              <a:lnSpc>
                <a:spcPct val="110000"/>
              </a:lnSpc>
            </a:pPr>
            <a:r>
              <a:rPr lang="en-US" altLang="en-US" b="1">
                <a:latin typeface="Courier New" panose="02070309020205020404" pitchFamily="49" charset="0"/>
              </a:rPr>
              <a:t>A[0][2]</a:t>
            </a:r>
          </a:p>
          <a:p>
            <a:pPr>
              <a:lnSpc>
                <a:spcPct val="110000"/>
              </a:lnSpc>
            </a:pPr>
            <a:r>
              <a:rPr lang="en-US" altLang="en-US" b="1">
                <a:latin typeface="Courier New" panose="02070309020205020404" pitchFamily="49" charset="0"/>
              </a:rPr>
              <a:t>A[1][0]</a:t>
            </a:r>
          </a:p>
          <a:p>
            <a:pPr>
              <a:lnSpc>
                <a:spcPct val="110000"/>
              </a:lnSpc>
            </a:pPr>
            <a:r>
              <a:rPr lang="en-US" altLang="en-US" b="1">
                <a:latin typeface="Courier New" panose="02070309020205020404" pitchFamily="49" charset="0"/>
              </a:rPr>
              <a:t>A[1][1]</a:t>
            </a:r>
          </a:p>
          <a:p>
            <a:pPr>
              <a:lnSpc>
                <a:spcPct val="110000"/>
              </a:lnSpc>
            </a:pPr>
            <a:r>
              <a:rPr lang="en-US" altLang="en-US" b="1">
                <a:latin typeface="Courier New" panose="02070309020205020404" pitchFamily="49" charset="0"/>
              </a:rPr>
              <a:t>A[1][2]</a:t>
            </a:r>
          </a:p>
          <a:p>
            <a:pPr>
              <a:lnSpc>
                <a:spcPct val="110000"/>
              </a:lnSpc>
            </a:pPr>
            <a:r>
              <a:rPr lang="en-US" altLang="en-US" b="1">
                <a:latin typeface="Courier New" panose="02070309020205020404" pitchFamily="49" charset="0"/>
              </a:rPr>
              <a:t>A[2][0]</a:t>
            </a:r>
          </a:p>
          <a:p>
            <a:pPr>
              <a:lnSpc>
                <a:spcPct val="110000"/>
              </a:lnSpc>
            </a:pPr>
            <a:r>
              <a:rPr lang="en-US" altLang="en-US" b="1">
                <a:latin typeface="Courier New" panose="02070309020205020404" pitchFamily="49" charset="0"/>
              </a:rPr>
              <a:t>A[2][1]</a:t>
            </a:r>
          </a:p>
          <a:p>
            <a:pPr>
              <a:lnSpc>
                <a:spcPct val="110000"/>
              </a:lnSpc>
            </a:pPr>
            <a:r>
              <a:rPr lang="en-US" altLang="en-US" b="1">
                <a:latin typeface="Courier New" panose="02070309020205020404" pitchFamily="49" charset="0"/>
              </a:rPr>
              <a:t>A[2][2]</a:t>
            </a:r>
          </a:p>
          <a:p>
            <a:pPr>
              <a:lnSpc>
                <a:spcPct val="110000"/>
              </a:lnSpc>
            </a:pPr>
            <a:r>
              <a:rPr lang="en-US" altLang="en-US" b="1">
                <a:latin typeface="Courier New" panose="02070309020205020404" pitchFamily="49" charset="0"/>
              </a:rPr>
              <a:t>A[3][0]</a:t>
            </a:r>
          </a:p>
          <a:p>
            <a:pPr>
              <a:lnSpc>
                <a:spcPct val="110000"/>
              </a:lnSpc>
            </a:pPr>
            <a:r>
              <a:rPr lang="en-US" altLang="en-US" b="1">
                <a:latin typeface="Courier New" panose="02070309020205020404" pitchFamily="49" charset="0"/>
              </a:rPr>
              <a:t>A[3][1]</a:t>
            </a:r>
          </a:p>
          <a:p>
            <a:pPr>
              <a:lnSpc>
                <a:spcPct val="110000"/>
              </a:lnSpc>
            </a:pPr>
            <a:r>
              <a:rPr lang="en-US" altLang="en-US" b="1">
                <a:latin typeface="Courier New" panose="02070309020205020404" pitchFamily="49" charset="0"/>
              </a:rPr>
              <a:t>A[3][2]</a:t>
            </a:r>
          </a:p>
        </p:txBody>
      </p:sp>
      <p:sp>
        <p:nvSpPr>
          <p:cNvPr id="48145" name="Rectangle 17"/>
          <p:cNvSpPr>
            <a:spLocks noChangeArrowheads="1"/>
          </p:cNvSpPr>
          <p:nvPr/>
        </p:nvSpPr>
        <p:spPr bwMode="auto">
          <a:xfrm>
            <a:off x="5791201" y="1600201"/>
            <a:ext cx="922047" cy="4561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b="1">
                <a:latin typeface="Courier New" panose="02070309020205020404" pitchFamily="49" charset="0"/>
              </a:rPr>
              <a:t>A[0]</a:t>
            </a:r>
          </a:p>
          <a:p>
            <a:pPr>
              <a:lnSpc>
                <a:spcPct val="110000"/>
              </a:lnSpc>
            </a:pPr>
            <a:endParaRPr lang="en-US" altLang="en-US" b="1">
              <a:latin typeface="Courier New" panose="02070309020205020404" pitchFamily="49" charset="0"/>
            </a:endParaRPr>
          </a:p>
          <a:p>
            <a:pPr>
              <a:lnSpc>
                <a:spcPct val="110000"/>
              </a:lnSpc>
            </a:pPr>
            <a:endParaRPr lang="en-US" altLang="en-US" b="1">
              <a:latin typeface="Courier New" panose="020703090202050204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en-US" b="1">
                <a:latin typeface="Courier New" panose="02070309020205020404" pitchFamily="49" charset="0"/>
              </a:rPr>
              <a:t>A[1]</a:t>
            </a:r>
          </a:p>
          <a:p>
            <a:pPr>
              <a:lnSpc>
                <a:spcPct val="110000"/>
              </a:lnSpc>
            </a:pPr>
            <a:endParaRPr lang="en-US" altLang="en-US" b="1">
              <a:latin typeface="Courier New" panose="02070309020205020404" pitchFamily="49" charset="0"/>
            </a:endParaRPr>
          </a:p>
          <a:p>
            <a:pPr>
              <a:lnSpc>
                <a:spcPct val="110000"/>
              </a:lnSpc>
            </a:pPr>
            <a:endParaRPr lang="en-US" altLang="en-US" b="1">
              <a:latin typeface="Courier New" panose="020703090202050204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en-US" b="1">
                <a:latin typeface="Courier New" panose="02070309020205020404" pitchFamily="49" charset="0"/>
              </a:rPr>
              <a:t>A[2]</a:t>
            </a:r>
          </a:p>
          <a:p>
            <a:pPr>
              <a:lnSpc>
                <a:spcPct val="110000"/>
              </a:lnSpc>
            </a:pPr>
            <a:r>
              <a:rPr lang="en-US" altLang="en-US" b="1"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altLang="en-US" b="1"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altLang="en-US" b="1">
                <a:latin typeface="Courier New" panose="02070309020205020404" pitchFamily="49" charset="0"/>
              </a:rPr>
              <a:t>A[3]</a:t>
            </a:r>
          </a:p>
          <a:p>
            <a:pPr>
              <a:lnSpc>
                <a:spcPct val="110000"/>
              </a:lnSpc>
            </a:pPr>
            <a:endParaRPr lang="en-US" altLang="en-US" b="1">
              <a:latin typeface="Courier New" panose="02070309020205020404" pitchFamily="49" charset="0"/>
            </a:endParaRPr>
          </a:p>
        </p:txBody>
      </p:sp>
      <p:sp>
        <p:nvSpPr>
          <p:cNvPr id="48146" name="Text Box 18"/>
          <p:cNvSpPr txBox="1">
            <a:spLocks noChangeArrowheads="1"/>
          </p:cNvSpPr>
          <p:nvPr/>
        </p:nvSpPr>
        <p:spPr bwMode="auto">
          <a:xfrm>
            <a:off x="6324600" y="838201"/>
            <a:ext cx="109855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2000">
                <a:latin typeface="Courier New" panose="02070309020205020404" pitchFamily="49" charset="0"/>
              </a:rPr>
              <a:t>{</a:t>
            </a:r>
          </a:p>
        </p:txBody>
      </p:sp>
      <p:sp>
        <p:nvSpPr>
          <p:cNvPr id="48147" name="Text Box 19"/>
          <p:cNvSpPr txBox="1">
            <a:spLocks noChangeArrowheads="1"/>
          </p:cNvSpPr>
          <p:nvPr/>
        </p:nvSpPr>
        <p:spPr bwMode="auto">
          <a:xfrm>
            <a:off x="6324600" y="3225801"/>
            <a:ext cx="109855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2000">
                <a:latin typeface="Courier New" panose="02070309020205020404" pitchFamily="49" charset="0"/>
              </a:rPr>
              <a:t>{</a:t>
            </a:r>
          </a:p>
        </p:txBody>
      </p:sp>
      <p:sp>
        <p:nvSpPr>
          <p:cNvPr id="48148" name="Text Box 20"/>
          <p:cNvSpPr txBox="1">
            <a:spLocks noChangeArrowheads="1"/>
          </p:cNvSpPr>
          <p:nvPr/>
        </p:nvSpPr>
        <p:spPr bwMode="auto">
          <a:xfrm>
            <a:off x="6324600" y="4419601"/>
            <a:ext cx="109855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2000">
                <a:latin typeface="Courier New" panose="02070309020205020404" pitchFamily="49" charset="0"/>
              </a:rPr>
              <a:t>{</a:t>
            </a:r>
          </a:p>
        </p:txBody>
      </p:sp>
      <p:sp>
        <p:nvSpPr>
          <p:cNvPr id="48149" name="Text Box 21"/>
          <p:cNvSpPr txBox="1">
            <a:spLocks noChangeArrowheads="1"/>
          </p:cNvSpPr>
          <p:nvPr/>
        </p:nvSpPr>
        <p:spPr bwMode="auto">
          <a:xfrm>
            <a:off x="6324600" y="2032001"/>
            <a:ext cx="109855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2000">
                <a:latin typeface="Courier New" panose="02070309020205020404" pitchFamily="49" charset="0"/>
              </a:rPr>
              <a:t>{</a:t>
            </a:r>
          </a:p>
        </p:txBody>
      </p:sp>
      <p:sp>
        <p:nvSpPr>
          <p:cNvPr id="48150" name="Text Box 22"/>
          <p:cNvSpPr txBox="1">
            <a:spLocks noChangeArrowheads="1"/>
          </p:cNvSpPr>
          <p:nvPr/>
        </p:nvSpPr>
        <p:spPr bwMode="auto">
          <a:xfrm>
            <a:off x="1752601" y="2362201"/>
            <a:ext cx="3868175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200"/>
              <a:t>A is an array of size 4.</a:t>
            </a:r>
          </a:p>
          <a:p>
            <a:endParaRPr lang="en-US" altLang="en-US" sz="3200"/>
          </a:p>
          <a:p>
            <a:r>
              <a:rPr lang="en-US" altLang="en-US" sz="3200"/>
              <a:t>Each element of A is</a:t>
            </a:r>
          </a:p>
          <a:p>
            <a:r>
              <a:rPr lang="en-US" altLang="en-US" sz="3200"/>
              <a:t> an array of 3 chars</a:t>
            </a:r>
          </a:p>
        </p:txBody>
      </p:sp>
    </p:spTree>
    <p:extLst>
      <p:ext uri="{BB962C8B-B14F-4D97-AF65-F5344CB8AC3E}">
        <p14:creationId xmlns:p14="http://schemas.microsoft.com/office/powerpoint/2010/main" val="412510073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533400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tx1"/>
                </a:solidFill>
              </a:rPr>
              <a:t>2-D Array Example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295400"/>
            <a:ext cx="7772400" cy="48006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const int NumStudents = 10;</a:t>
            </a:r>
          </a:p>
          <a:p>
            <a:pPr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const int NumHW = 3;</a:t>
            </a:r>
          </a:p>
          <a:p>
            <a:pPr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double grades[NumStudents][NumHW];</a:t>
            </a:r>
          </a:p>
          <a:p>
            <a:pPr eaLnBrk="1" hangingPunct="1">
              <a:buFontTx/>
              <a:buNone/>
            </a:pPr>
            <a:endParaRPr lang="en-US" altLang="en-US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for (int i=0;i&lt;NumStudents;i++) {</a:t>
            </a:r>
          </a:p>
          <a:p>
            <a:pPr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	for (int j=0;j&lt;NumHW;j++) {</a:t>
            </a:r>
          </a:p>
          <a:p>
            <a:pPr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		cout &lt;&lt; “Enter HW “ &lt;&lt; j &lt;&lt; </a:t>
            </a:r>
          </a:p>
          <a:p>
            <a:pPr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			  “ Grade for student number “ &lt;&lt; </a:t>
            </a:r>
          </a:p>
          <a:p>
            <a:pPr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              i &lt;&lt; endl;</a:t>
            </a:r>
          </a:p>
          <a:p>
            <a:pPr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		cin &gt;&gt; grades[i][j];</a:t>
            </a:r>
          </a:p>
          <a:p>
            <a:pPr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	}</a:t>
            </a:r>
          </a:p>
          <a:p>
            <a:pPr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46347051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533400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tx1"/>
                </a:solidFill>
              </a:rPr>
              <a:t>2-D Array (cont.)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2667000"/>
            <a:ext cx="8534400" cy="3429000"/>
          </a:xfrm>
        </p:spPr>
        <p:txBody>
          <a:bodyPr/>
          <a:lstStyle/>
          <a:p>
            <a:pPr eaLnBrk="1" hangingPunct="1">
              <a:buFontTx/>
              <a:buNone/>
            </a:pPr>
            <a:endParaRPr lang="en-US" altLang="en-US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double student_average( double g[][NumHW], int stu) {</a:t>
            </a:r>
          </a:p>
          <a:p>
            <a:pPr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	double sum = 0.0;</a:t>
            </a:r>
          </a:p>
          <a:p>
            <a:pPr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	for (int i=0;i&lt;NumHW;i++)</a:t>
            </a:r>
          </a:p>
          <a:p>
            <a:pPr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		sum += g[stu][i];</a:t>
            </a:r>
          </a:p>
          <a:p>
            <a:pPr eaLnBrk="1" hangingPunct="1">
              <a:buFontTx/>
              <a:buNone/>
            </a:pPr>
            <a:endParaRPr lang="en-US" altLang="en-US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	return(sum/NumHW);</a:t>
            </a:r>
          </a:p>
          <a:p>
            <a:pPr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buFontTx/>
              <a:buNone/>
            </a:pPr>
            <a:endParaRPr lang="en-US" altLang="en-US" b="1">
              <a:latin typeface="Courier New" panose="02070309020205020404" pitchFamily="49" charset="0"/>
            </a:endParaRPr>
          </a:p>
        </p:txBody>
      </p:sp>
      <p:sp>
        <p:nvSpPr>
          <p:cNvPr id="50180" name="Text Box 4"/>
          <p:cNvSpPr txBox="1">
            <a:spLocks noChangeArrowheads="1"/>
          </p:cNvSpPr>
          <p:nvPr/>
        </p:nvSpPr>
        <p:spPr bwMode="auto">
          <a:xfrm rot="-215839">
            <a:off x="1800477" y="1367265"/>
            <a:ext cx="832593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1">
                <a:solidFill>
                  <a:schemeClr val="bg2"/>
                </a:solidFill>
                <a:latin typeface="Arial" panose="020B0604020202020204" pitchFamily="34" charset="0"/>
              </a:rPr>
              <a:t>You don’t need to specify the size of the first dimension</a:t>
            </a:r>
          </a:p>
          <a:p>
            <a:r>
              <a:rPr lang="en-US" altLang="en-US" b="1">
                <a:solidFill>
                  <a:schemeClr val="bg2"/>
                </a:solidFill>
                <a:latin typeface="Arial" panose="020B0604020202020204" pitchFamily="34" charset="0"/>
              </a:rPr>
              <a:t>You must include all other sizes!</a:t>
            </a:r>
          </a:p>
        </p:txBody>
      </p:sp>
      <p:sp>
        <p:nvSpPr>
          <p:cNvPr id="50181" name="Line 5"/>
          <p:cNvSpPr>
            <a:spLocks noChangeShapeType="1"/>
          </p:cNvSpPr>
          <p:nvPr/>
        </p:nvSpPr>
        <p:spPr bwMode="auto">
          <a:xfrm>
            <a:off x="6248400" y="2209800"/>
            <a:ext cx="533400" cy="838200"/>
          </a:xfrm>
          <a:prstGeom prst="line">
            <a:avLst/>
          </a:prstGeom>
          <a:noFill/>
          <a:ln w="5715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749663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>
                <a:solidFill>
                  <a:schemeClr val="tx1"/>
                </a:solidFill>
              </a:rPr>
              <a:t>Another way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double array_average( double a[], int len) {</a:t>
            </a:r>
          </a:p>
          <a:p>
            <a:pPr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	double sum = 0.0;</a:t>
            </a:r>
          </a:p>
          <a:p>
            <a:pPr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	for (int i=0;i&lt;len;i++)</a:t>
            </a:r>
          </a:p>
          <a:p>
            <a:pPr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		sum += a[i];</a:t>
            </a:r>
          </a:p>
          <a:p>
            <a:pPr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	</a:t>
            </a:r>
          </a:p>
          <a:p>
            <a:pPr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if (len==0)</a:t>
            </a:r>
          </a:p>
          <a:p>
            <a:pPr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		return(0);</a:t>
            </a:r>
          </a:p>
          <a:p>
            <a:pPr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	else</a:t>
            </a:r>
          </a:p>
          <a:p>
            <a:pPr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		return(sum/len);</a:t>
            </a:r>
          </a:p>
          <a:p>
            <a:pPr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}</a:t>
            </a:r>
            <a:endParaRPr lang="en-US" altLang="en-US" smtClean="0"/>
          </a:p>
        </p:txBody>
      </p:sp>
      <p:sp>
        <p:nvSpPr>
          <p:cNvPr id="51204" name="Text Box 4"/>
          <p:cNvSpPr txBox="1">
            <a:spLocks noChangeArrowheads="1"/>
          </p:cNvSpPr>
          <p:nvPr/>
        </p:nvSpPr>
        <p:spPr bwMode="auto">
          <a:xfrm rot="-1123716">
            <a:off x="6397626" y="3406775"/>
            <a:ext cx="38211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1">
                <a:solidFill>
                  <a:schemeClr val="bg2"/>
                </a:solidFill>
                <a:latin typeface="Arial" panose="020B0604020202020204" pitchFamily="34" charset="0"/>
              </a:rPr>
              <a:t>Division by 0 is bad idea!</a:t>
            </a:r>
          </a:p>
        </p:txBody>
      </p:sp>
      <p:sp>
        <p:nvSpPr>
          <p:cNvPr id="51205" name="Line 5"/>
          <p:cNvSpPr>
            <a:spLocks noChangeShapeType="1"/>
          </p:cNvSpPr>
          <p:nvPr/>
        </p:nvSpPr>
        <p:spPr bwMode="auto">
          <a:xfrm flipH="1">
            <a:off x="5410200" y="4267200"/>
            <a:ext cx="1066800" cy="457200"/>
          </a:xfrm>
          <a:prstGeom prst="line">
            <a:avLst/>
          </a:prstGeom>
          <a:noFill/>
          <a:ln w="5715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84787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81000"/>
            <a:ext cx="7772400" cy="1371600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tx1"/>
                </a:solidFill>
              </a:rPr>
              <a:t>Arrays and pass-by-reference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Arrays are always passed by reference</a:t>
            </a:r>
          </a:p>
          <a:p>
            <a:pPr lvl="1" eaLnBrk="1" hangingPunct="1"/>
            <a:r>
              <a:rPr lang="en-US" altLang="en-US" sz="2400"/>
              <a:t>Inside a function any changes you make to array values are for keeps!</a:t>
            </a:r>
          </a:p>
          <a:p>
            <a:pPr lvl="1" eaLnBrk="1" hangingPunct="1"/>
            <a:r>
              <a:rPr lang="en-US" altLang="en-US" sz="2400"/>
              <a:t>You can write functions that modify the contents of an array.</a:t>
            </a:r>
          </a:p>
          <a:p>
            <a:pPr lvl="1" eaLnBrk="1" hangingPunct="1"/>
            <a:r>
              <a:rPr lang="en-US" altLang="en-US" sz="2400"/>
              <a:t>You need to make sure that a function knows how big the array is!!!</a:t>
            </a:r>
          </a:p>
        </p:txBody>
      </p:sp>
    </p:spTree>
    <p:extLst>
      <p:ext uri="{BB962C8B-B14F-4D97-AF65-F5344CB8AC3E}">
        <p14:creationId xmlns:p14="http://schemas.microsoft.com/office/powerpoint/2010/main" val="187448781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tx1"/>
                </a:solidFill>
              </a:rPr>
              <a:t>A Bad Idea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066800"/>
            <a:ext cx="7772400" cy="50292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int read_array( int a[] )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	int i=0;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	int val;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	do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		cout &lt;&lt; “Enter next value, 0 to end\n“;		cin &gt;&gt; val;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		if (val) a[i++] = val;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	} while (val);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	return(i); // returns the number or numbers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800"/>
              <a:t>The problem is that the function might go beyond the size of the array.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800"/>
              <a:t>Result: Segmentation Violation (or worse!).</a:t>
            </a:r>
            <a:endParaRPr lang="en-US" altLang="en-US" b="1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856353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28600"/>
            <a:ext cx="8382000" cy="762000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tx1"/>
                </a:solidFill>
              </a:rPr>
              <a:t>C++ does not have </a:t>
            </a:r>
            <a:r>
              <a:rPr lang="en-US" altLang="en-US" sz="4000" i="1">
                <a:solidFill>
                  <a:schemeClr val="tx1"/>
                </a:solidFill>
              </a:rPr>
              <a:t>bounds checking</a:t>
            </a:r>
            <a:endParaRPr lang="en-US" altLang="en-US" sz="4000">
              <a:solidFill>
                <a:schemeClr val="tx1"/>
              </a:solidFill>
            </a:endParaRPr>
          </a:p>
        </p:txBody>
      </p:sp>
      <p:grpSp>
        <p:nvGrpSpPr>
          <p:cNvPr id="54275" name="Group 3"/>
          <p:cNvGrpSpPr>
            <a:grpSpLocks/>
          </p:cNvGrpSpPr>
          <p:nvPr/>
        </p:nvGrpSpPr>
        <p:grpSpPr bwMode="auto">
          <a:xfrm>
            <a:off x="7010400" y="1447800"/>
            <a:ext cx="2209800" cy="4724400"/>
            <a:chOff x="3504" y="864"/>
            <a:chExt cx="1392" cy="2976"/>
          </a:xfrm>
        </p:grpSpPr>
        <p:sp>
          <p:nvSpPr>
            <p:cNvPr id="54284" name="Rectangle 4"/>
            <p:cNvSpPr>
              <a:spLocks noChangeArrowheads="1"/>
            </p:cNvSpPr>
            <p:nvPr/>
          </p:nvSpPr>
          <p:spPr bwMode="auto">
            <a:xfrm>
              <a:off x="3504" y="1584"/>
              <a:ext cx="1392" cy="192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4285" name="Rectangle 5"/>
            <p:cNvSpPr>
              <a:spLocks noChangeArrowheads="1"/>
            </p:cNvSpPr>
            <p:nvPr/>
          </p:nvSpPr>
          <p:spPr bwMode="auto">
            <a:xfrm>
              <a:off x="3504" y="1776"/>
              <a:ext cx="1392" cy="192"/>
            </a:xfrm>
            <a:prstGeom prst="rect">
              <a:avLst/>
            </a:prstGeom>
            <a:solidFill>
              <a:srgbClr val="DDDDDD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4286" name="Rectangle 6"/>
            <p:cNvSpPr>
              <a:spLocks noChangeArrowheads="1"/>
            </p:cNvSpPr>
            <p:nvPr/>
          </p:nvSpPr>
          <p:spPr bwMode="auto">
            <a:xfrm>
              <a:off x="3504" y="1968"/>
              <a:ext cx="1392" cy="192"/>
            </a:xfrm>
            <a:prstGeom prst="rect">
              <a:avLst/>
            </a:prstGeom>
            <a:solidFill>
              <a:srgbClr val="DDDDDD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4287" name="Rectangle 7"/>
            <p:cNvSpPr>
              <a:spLocks noChangeArrowheads="1"/>
            </p:cNvSpPr>
            <p:nvPr/>
          </p:nvSpPr>
          <p:spPr bwMode="auto">
            <a:xfrm>
              <a:off x="3504" y="2160"/>
              <a:ext cx="1392" cy="192"/>
            </a:xfrm>
            <a:prstGeom prst="rect">
              <a:avLst/>
            </a:prstGeom>
            <a:solidFill>
              <a:srgbClr val="DDDDDD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4288" name="Rectangle 8"/>
            <p:cNvSpPr>
              <a:spLocks noChangeArrowheads="1"/>
            </p:cNvSpPr>
            <p:nvPr/>
          </p:nvSpPr>
          <p:spPr bwMode="auto">
            <a:xfrm>
              <a:off x="3504" y="2352"/>
              <a:ext cx="1392" cy="192"/>
            </a:xfrm>
            <a:prstGeom prst="rect">
              <a:avLst/>
            </a:prstGeom>
            <a:solidFill>
              <a:srgbClr val="DDDDDD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4289" name="Rectangle 9"/>
            <p:cNvSpPr>
              <a:spLocks noChangeArrowheads="1"/>
            </p:cNvSpPr>
            <p:nvPr/>
          </p:nvSpPr>
          <p:spPr bwMode="auto">
            <a:xfrm>
              <a:off x="3504" y="2544"/>
              <a:ext cx="1392" cy="192"/>
            </a:xfrm>
            <a:prstGeom prst="rect">
              <a:avLst/>
            </a:prstGeom>
            <a:solidFill>
              <a:srgbClr val="DDDDDD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4290" name="Rectangle 10"/>
            <p:cNvSpPr>
              <a:spLocks noChangeArrowheads="1"/>
            </p:cNvSpPr>
            <p:nvPr/>
          </p:nvSpPr>
          <p:spPr bwMode="auto">
            <a:xfrm>
              <a:off x="3504" y="2736"/>
              <a:ext cx="1392" cy="192"/>
            </a:xfrm>
            <a:prstGeom prst="rect">
              <a:avLst/>
            </a:prstGeom>
            <a:solidFill>
              <a:srgbClr val="DDDDDD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4291" name="Rectangle 11"/>
            <p:cNvSpPr>
              <a:spLocks noChangeArrowheads="1"/>
            </p:cNvSpPr>
            <p:nvPr/>
          </p:nvSpPr>
          <p:spPr bwMode="auto">
            <a:xfrm>
              <a:off x="3504" y="2928"/>
              <a:ext cx="1392" cy="192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54292" name="Group 12"/>
            <p:cNvGrpSpPr>
              <a:grpSpLocks/>
            </p:cNvGrpSpPr>
            <p:nvPr/>
          </p:nvGrpSpPr>
          <p:grpSpPr bwMode="auto">
            <a:xfrm>
              <a:off x="3504" y="864"/>
              <a:ext cx="1392" cy="384"/>
              <a:chOff x="3504" y="720"/>
              <a:chExt cx="1392" cy="384"/>
            </a:xfrm>
          </p:grpSpPr>
          <p:sp>
            <p:nvSpPr>
              <p:cNvPr id="54300" name="Rectangle 13"/>
              <p:cNvSpPr>
                <a:spLocks noChangeArrowheads="1"/>
              </p:cNvSpPr>
              <p:nvPr/>
            </p:nvSpPr>
            <p:spPr bwMode="auto">
              <a:xfrm>
                <a:off x="3504" y="720"/>
                <a:ext cx="1392" cy="192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4301" name="Rectangle 14"/>
              <p:cNvSpPr>
                <a:spLocks noChangeArrowheads="1"/>
              </p:cNvSpPr>
              <p:nvPr/>
            </p:nvSpPr>
            <p:spPr bwMode="auto">
              <a:xfrm>
                <a:off x="3504" y="912"/>
                <a:ext cx="1392" cy="192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grpSp>
          <p:nvGrpSpPr>
            <p:cNvPr id="54293" name="Group 15"/>
            <p:cNvGrpSpPr>
              <a:grpSpLocks/>
            </p:cNvGrpSpPr>
            <p:nvPr/>
          </p:nvGrpSpPr>
          <p:grpSpPr bwMode="auto">
            <a:xfrm>
              <a:off x="3504" y="3456"/>
              <a:ext cx="1392" cy="384"/>
              <a:chOff x="3504" y="720"/>
              <a:chExt cx="1392" cy="384"/>
            </a:xfrm>
          </p:grpSpPr>
          <p:sp>
            <p:nvSpPr>
              <p:cNvPr id="54298" name="Rectangle 16"/>
              <p:cNvSpPr>
                <a:spLocks noChangeArrowheads="1"/>
              </p:cNvSpPr>
              <p:nvPr/>
            </p:nvSpPr>
            <p:spPr bwMode="auto">
              <a:xfrm>
                <a:off x="3504" y="720"/>
                <a:ext cx="1392" cy="192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4299" name="Rectangle 17"/>
              <p:cNvSpPr>
                <a:spLocks noChangeArrowheads="1"/>
              </p:cNvSpPr>
              <p:nvPr/>
            </p:nvSpPr>
            <p:spPr bwMode="auto">
              <a:xfrm>
                <a:off x="3504" y="912"/>
                <a:ext cx="1392" cy="192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54294" name="Line 18"/>
            <p:cNvSpPr>
              <a:spLocks noChangeShapeType="1"/>
            </p:cNvSpPr>
            <p:nvPr/>
          </p:nvSpPr>
          <p:spPr bwMode="auto">
            <a:xfrm>
              <a:off x="3504" y="3120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295" name="Line 19"/>
            <p:cNvSpPr>
              <a:spLocks noChangeShapeType="1"/>
            </p:cNvSpPr>
            <p:nvPr/>
          </p:nvSpPr>
          <p:spPr bwMode="auto">
            <a:xfrm>
              <a:off x="4896" y="3120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296" name="Line 20"/>
            <p:cNvSpPr>
              <a:spLocks noChangeShapeType="1"/>
            </p:cNvSpPr>
            <p:nvPr/>
          </p:nvSpPr>
          <p:spPr bwMode="auto">
            <a:xfrm>
              <a:off x="3504" y="1248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297" name="Line 21"/>
            <p:cNvSpPr>
              <a:spLocks noChangeShapeType="1"/>
            </p:cNvSpPr>
            <p:nvPr/>
          </p:nvSpPr>
          <p:spPr bwMode="auto">
            <a:xfrm>
              <a:off x="4896" y="1248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4276" name="Text Box 22"/>
          <p:cNvSpPr txBox="1">
            <a:spLocks noChangeArrowheads="1"/>
          </p:cNvSpPr>
          <p:nvPr/>
        </p:nvSpPr>
        <p:spPr bwMode="auto">
          <a:xfrm>
            <a:off x="3124201" y="3429001"/>
            <a:ext cx="3013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800" b="1">
                <a:solidFill>
                  <a:schemeClr val="bg2"/>
                </a:solidFill>
                <a:latin typeface="Arial" panose="020B0604020202020204" pitchFamily="34" charset="0"/>
              </a:rPr>
              <a:t>This is the array </a:t>
            </a:r>
            <a:endParaRPr lang="en-US" altLang="en-US"/>
          </a:p>
        </p:txBody>
      </p:sp>
      <p:sp>
        <p:nvSpPr>
          <p:cNvPr id="54277" name="Line 23"/>
          <p:cNvSpPr>
            <a:spLocks noChangeShapeType="1"/>
          </p:cNvSpPr>
          <p:nvPr/>
        </p:nvSpPr>
        <p:spPr bwMode="auto">
          <a:xfrm flipV="1">
            <a:off x="5943600" y="3124200"/>
            <a:ext cx="914400" cy="381000"/>
          </a:xfrm>
          <a:prstGeom prst="line">
            <a:avLst/>
          </a:prstGeom>
          <a:noFill/>
          <a:ln w="5715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4278" name="Line 24"/>
          <p:cNvSpPr>
            <a:spLocks noChangeShapeType="1"/>
          </p:cNvSpPr>
          <p:nvPr/>
        </p:nvSpPr>
        <p:spPr bwMode="auto">
          <a:xfrm>
            <a:off x="5943600" y="4114800"/>
            <a:ext cx="990600" cy="457200"/>
          </a:xfrm>
          <a:prstGeom prst="line">
            <a:avLst/>
          </a:prstGeom>
          <a:noFill/>
          <a:ln w="5715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4279" name="Text Box 25"/>
          <p:cNvSpPr txBox="1">
            <a:spLocks noChangeArrowheads="1"/>
          </p:cNvSpPr>
          <p:nvPr/>
        </p:nvSpPr>
        <p:spPr bwMode="auto">
          <a:xfrm>
            <a:off x="1981200" y="4572001"/>
            <a:ext cx="40020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800" b="1">
                <a:solidFill>
                  <a:schemeClr val="tx2"/>
                </a:solidFill>
                <a:latin typeface="Arial" panose="020B0604020202020204" pitchFamily="34" charset="0"/>
              </a:rPr>
              <a:t>This is something else</a:t>
            </a:r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54280" name="Text Box 26"/>
          <p:cNvSpPr txBox="1">
            <a:spLocks noChangeArrowheads="1"/>
          </p:cNvSpPr>
          <p:nvPr/>
        </p:nvSpPr>
        <p:spPr bwMode="auto">
          <a:xfrm>
            <a:off x="7391401" y="915988"/>
            <a:ext cx="14081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800">
                <a:solidFill>
                  <a:schemeClr val="tx2"/>
                </a:solidFill>
              </a:rPr>
              <a:t>Memory</a:t>
            </a:r>
          </a:p>
        </p:txBody>
      </p:sp>
      <p:sp>
        <p:nvSpPr>
          <p:cNvPr id="54281" name="Line 27"/>
          <p:cNvSpPr>
            <a:spLocks noChangeShapeType="1"/>
          </p:cNvSpPr>
          <p:nvPr/>
        </p:nvSpPr>
        <p:spPr bwMode="auto">
          <a:xfrm>
            <a:off x="5943600" y="4876800"/>
            <a:ext cx="990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4282" name="Text Box 28"/>
          <p:cNvSpPr txBox="1">
            <a:spLocks noChangeArrowheads="1"/>
          </p:cNvSpPr>
          <p:nvPr/>
        </p:nvSpPr>
        <p:spPr bwMode="auto">
          <a:xfrm>
            <a:off x="9296401" y="2922589"/>
            <a:ext cx="922047" cy="2160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b="1">
                <a:latin typeface="Courier New" panose="02070309020205020404" pitchFamily="49" charset="0"/>
              </a:rPr>
              <a:t>a[0]</a:t>
            </a:r>
          </a:p>
          <a:p>
            <a:pPr>
              <a:lnSpc>
                <a:spcPct val="80000"/>
              </a:lnSpc>
            </a:pPr>
            <a:r>
              <a:rPr lang="en-US" altLang="en-US" b="1">
                <a:latin typeface="Courier New" panose="02070309020205020404" pitchFamily="49" charset="0"/>
              </a:rPr>
              <a:t>a[1]</a:t>
            </a:r>
          </a:p>
          <a:p>
            <a:pPr>
              <a:lnSpc>
                <a:spcPct val="80000"/>
              </a:lnSpc>
            </a:pPr>
            <a:r>
              <a:rPr lang="en-US" altLang="en-US" b="1">
                <a:latin typeface="Courier New" panose="02070309020205020404" pitchFamily="49" charset="0"/>
              </a:rPr>
              <a:t>a[2]</a:t>
            </a:r>
          </a:p>
          <a:p>
            <a:pPr>
              <a:lnSpc>
                <a:spcPct val="80000"/>
              </a:lnSpc>
            </a:pPr>
            <a:r>
              <a:rPr lang="en-US" altLang="en-US" b="1">
                <a:latin typeface="Courier New" panose="02070309020205020404" pitchFamily="49" charset="0"/>
              </a:rPr>
              <a:t>a[3]</a:t>
            </a:r>
          </a:p>
          <a:p>
            <a:pPr>
              <a:lnSpc>
                <a:spcPct val="80000"/>
              </a:lnSpc>
            </a:pPr>
            <a:r>
              <a:rPr lang="en-US" altLang="en-US" b="1">
                <a:latin typeface="Courier New" panose="02070309020205020404" pitchFamily="49" charset="0"/>
              </a:rPr>
              <a:t>a[4]</a:t>
            </a:r>
          </a:p>
          <a:p>
            <a:pPr>
              <a:lnSpc>
                <a:spcPct val="80000"/>
              </a:lnSpc>
            </a:pPr>
            <a:r>
              <a:rPr lang="en-US" altLang="en-US" b="1">
                <a:latin typeface="Courier New" panose="02070309020205020404" pitchFamily="49" charset="0"/>
              </a:rPr>
              <a:t>a[5]</a:t>
            </a:r>
          </a:p>
          <a:p>
            <a:pPr>
              <a:lnSpc>
                <a:spcPct val="80000"/>
              </a:lnSpc>
            </a:pPr>
            <a:r>
              <a:rPr lang="en-US" altLang="en-US" b="1">
                <a:latin typeface="Courier New" panose="02070309020205020404" pitchFamily="49" charset="0"/>
              </a:rPr>
              <a:t>foo</a:t>
            </a:r>
          </a:p>
        </p:txBody>
      </p:sp>
      <p:sp>
        <p:nvSpPr>
          <p:cNvPr id="54283" name="Text Box 29"/>
          <p:cNvSpPr txBox="1">
            <a:spLocks noChangeArrowheads="1"/>
          </p:cNvSpPr>
          <p:nvPr/>
        </p:nvSpPr>
        <p:spPr bwMode="auto">
          <a:xfrm>
            <a:off x="2286001" y="1512888"/>
            <a:ext cx="238442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200" b="1">
                <a:solidFill>
                  <a:schemeClr val="tx2"/>
                </a:solidFill>
                <a:latin typeface="Courier New" panose="02070309020205020404" pitchFamily="49" charset="0"/>
              </a:rPr>
              <a:t>int a[6];</a:t>
            </a:r>
          </a:p>
          <a:p>
            <a:r>
              <a:rPr lang="en-US" altLang="en-US" sz="3200" b="1">
                <a:solidFill>
                  <a:schemeClr val="tx2"/>
                </a:solidFill>
                <a:latin typeface="Courier New" panose="02070309020205020404" pitchFamily="49" charset="0"/>
              </a:rPr>
              <a:t>int foo;</a:t>
            </a:r>
            <a:endParaRPr lang="en-US" alt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49638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721100" y="228601"/>
            <a:ext cx="5956300" cy="1249363"/>
          </a:xfrm>
        </p:spPr>
        <p:txBody>
          <a:bodyPr/>
          <a:lstStyle/>
          <a:p>
            <a:pPr eaLnBrk="1" hangingPunct="1"/>
            <a:r>
              <a:rPr lang="en-US" altLang="en-US" sz="3600">
                <a:solidFill>
                  <a:schemeClr val="tx1"/>
                </a:solidFill>
              </a:rPr>
              <a:t>1 D Character Array -&gt;String   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362200" y="2057400"/>
            <a:ext cx="7316788" cy="3886200"/>
          </a:xfrm>
        </p:spPr>
        <p:txBody>
          <a:bodyPr>
            <a:normAutofit fontScale="85000" lnSpcReduction="10000"/>
          </a:bodyPr>
          <a:lstStyle/>
          <a:p>
            <a:pPr eaLnBrk="1" hangingPunct="1">
              <a:lnSpc>
                <a:spcPct val="70000"/>
              </a:lnSpc>
            </a:pPr>
            <a:r>
              <a:rPr lang="en-US" altLang="en-US" sz="2400"/>
              <a:t>Strings are nothing but a single dimensional character array.</a:t>
            </a:r>
          </a:p>
          <a:p>
            <a:pPr eaLnBrk="1" hangingPunct="1">
              <a:lnSpc>
                <a:spcPct val="70000"/>
              </a:lnSpc>
            </a:pPr>
            <a:endParaRPr lang="en-US" altLang="en-US" sz="2400"/>
          </a:p>
          <a:p>
            <a:pPr eaLnBrk="1" hangingPunct="1">
              <a:lnSpc>
                <a:spcPct val="70000"/>
              </a:lnSpc>
            </a:pPr>
            <a:r>
              <a:rPr lang="en-US" altLang="en-US" sz="2400"/>
              <a:t>Strings i.e character arrays are used for text processing.</a:t>
            </a:r>
          </a:p>
          <a:p>
            <a:pPr eaLnBrk="1" hangingPunct="1">
              <a:lnSpc>
                <a:spcPct val="70000"/>
              </a:lnSpc>
            </a:pPr>
            <a:endParaRPr lang="en-US" altLang="en-US" sz="2400"/>
          </a:p>
          <a:p>
            <a:pPr eaLnBrk="1" hangingPunct="1">
              <a:lnSpc>
                <a:spcPct val="70000"/>
              </a:lnSpc>
            </a:pPr>
            <a:r>
              <a:rPr lang="en-US" altLang="en-US" sz="2400"/>
              <a:t>Declaration for character array is  char ArrName[size];</a:t>
            </a:r>
          </a:p>
          <a:p>
            <a:pPr eaLnBrk="1" hangingPunct="1">
              <a:lnSpc>
                <a:spcPct val="70000"/>
              </a:lnSpc>
            </a:pPr>
            <a:endParaRPr lang="en-US" altLang="en-US" sz="2400"/>
          </a:p>
          <a:p>
            <a:pPr eaLnBrk="1" hangingPunct="1">
              <a:lnSpc>
                <a:spcPct val="70000"/>
              </a:lnSpc>
            </a:pPr>
            <a:r>
              <a:rPr lang="en-US" altLang="en-US" sz="2400"/>
              <a:t>Every string ends with a ‘\0’ character whose ASCII value is zero .	</a:t>
            </a:r>
          </a:p>
          <a:p>
            <a:pPr eaLnBrk="1" hangingPunct="1">
              <a:lnSpc>
                <a:spcPct val="70000"/>
              </a:lnSpc>
            </a:pPr>
            <a:r>
              <a:rPr lang="en-US" altLang="en-US" sz="2400"/>
              <a:t> Null character is automatically inserted by the compiler at the end of string.</a:t>
            </a:r>
          </a:p>
          <a:p>
            <a:pPr eaLnBrk="1" hangingPunct="1">
              <a:lnSpc>
                <a:spcPct val="70000"/>
              </a:lnSpc>
            </a:pPr>
            <a:r>
              <a:rPr lang="en-US" altLang="en-US" sz="2400"/>
              <a:t> %s is the format specifier used for strings</a:t>
            </a:r>
          </a:p>
          <a:p>
            <a:pPr eaLnBrk="1" hangingPunct="1">
              <a:lnSpc>
                <a:spcPct val="70000"/>
              </a:lnSpc>
            </a:pPr>
            <a:endParaRPr lang="en-US" altLang="en-US" sz="2400"/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altLang="en-US" sz="18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51827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436814" y="912813"/>
            <a:ext cx="6173787" cy="685800"/>
          </a:xfrm>
        </p:spPr>
        <p:txBody>
          <a:bodyPr/>
          <a:lstStyle/>
          <a:p>
            <a:pPr eaLnBrk="1" hangingPunct="1"/>
            <a:r>
              <a:rPr lang="en-US" altLang="en-US" sz="3600">
                <a:solidFill>
                  <a:schemeClr val="tx1"/>
                </a:solidFill>
              </a:rPr>
              <a:t>Standard library function for strings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97138" y="2189164"/>
            <a:ext cx="6907212" cy="3741737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70000"/>
              </a:lnSpc>
            </a:pPr>
            <a:r>
              <a:rPr lang="en-US" altLang="en-US" sz="2100"/>
              <a:t> </a:t>
            </a:r>
            <a:r>
              <a:rPr lang="en-US" altLang="en-US" sz="2400"/>
              <a:t>all standard string functions are in header file&lt;string.h&gt;</a:t>
            </a:r>
          </a:p>
          <a:p>
            <a:pPr eaLnBrk="1" hangingPunct="1">
              <a:lnSpc>
                <a:spcPct val="70000"/>
              </a:lnSpc>
            </a:pPr>
            <a:r>
              <a:rPr lang="en-US" altLang="en-US" sz="2400"/>
              <a:t> commonly used standard string functions</a:t>
            </a:r>
          </a:p>
          <a:p>
            <a:pPr lvl="1" eaLnBrk="1" hangingPunct="1">
              <a:lnSpc>
                <a:spcPct val="70000"/>
              </a:lnSpc>
            </a:pPr>
            <a:r>
              <a:rPr lang="en-US" altLang="en-US"/>
              <a:t> </a:t>
            </a:r>
            <a:r>
              <a:rPr lang="en-US" altLang="en-US" sz="2000"/>
              <a:t>strlen(stringname):- calculates string length</a:t>
            </a:r>
          </a:p>
          <a:p>
            <a:pPr lvl="1" eaLnBrk="1" hangingPunct="1">
              <a:lnSpc>
                <a:spcPct val="70000"/>
              </a:lnSpc>
            </a:pPr>
            <a:r>
              <a:rPr lang="en-US" altLang="en-US" sz="2000"/>
              <a:t> strcpy(stringname,stringname):- copies one string into another</a:t>
            </a:r>
          </a:p>
          <a:p>
            <a:pPr lvl="1" eaLnBrk="1" hangingPunct="1">
              <a:lnSpc>
                <a:spcPct val="70000"/>
              </a:lnSpc>
            </a:pPr>
            <a:r>
              <a:rPr lang="en-US" altLang="en-US" sz="2000"/>
              <a:t> strcmp(stringname,stringname):-compare one string with another</a:t>
            </a:r>
          </a:p>
          <a:p>
            <a:pPr lvl="2" eaLnBrk="1" hangingPunct="1">
              <a:lnSpc>
                <a:spcPct val="70000"/>
              </a:lnSpc>
            </a:pPr>
            <a:r>
              <a:rPr lang="en-US" altLang="en-US" sz="2000"/>
              <a:t> returns 0 if strings are similar</a:t>
            </a:r>
          </a:p>
          <a:p>
            <a:pPr lvl="2" eaLnBrk="1" hangingPunct="1">
              <a:lnSpc>
                <a:spcPct val="70000"/>
              </a:lnSpc>
            </a:pPr>
            <a:r>
              <a:rPr lang="en-US" altLang="en-US" sz="2000"/>
              <a:t> returns &gt;0 if first is greater than another</a:t>
            </a:r>
          </a:p>
          <a:p>
            <a:pPr lvl="2" eaLnBrk="1" hangingPunct="1">
              <a:lnSpc>
                <a:spcPct val="70000"/>
              </a:lnSpc>
            </a:pPr>
            <a:r>
              <a:rPr lang="en-US" altLang="en-US" sz="2000"/>
              <a:t> returns &lt;0 if first is less than another</a:t>
            </a:r>
          </a:p>
          <a:p>
            <a:pPr lvl="1" eaLnBrk="1" hangingPunct="1">
              <a:lnSpc>
                <a:spcPct val="70000"/>
              </a:lnSpc>
            </a:pPr>
            <a:r>
              <a:rPr lang="en-US" altLang="en-US" sz="2000"/>
              <a:t> strcat(stringname,stringname):-concates one string at the end of another</a:t>
            </a:r>
          </a:p>
        </p:txBody>
      </p:sp>
    </p:spTree>
    <p:extLst>
      <p:ext uri="{BB962C8B-B14F-4D97-AF65-F5344CB8AC3E}">
        <p14:creationId xmlns:p14="http://schemas.microsoft.com/office/powerpoint/2010/main" val="2455887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  Strings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763965"/>
              </p:ext>
            </p:extLst>
          </p:nvPr>
        </p:nvGraphicFramePr>
        <p:xfrm>
          <a:off x="1026942" y="1822222"/>
          <a:ext cx="10508566" cy="4353608"/>
        </p:xfrm>
        <a:graphic>
          <a:graphicData uri="http://schemas.openxmlformats.org/drawingml/2006/table">
            <a:tbl>
              <a:tblPr/>
              <a:tblGrid>
                <a:gridCol w="525429"/>
                <a:gridCol w="9983137"/>
              </a:tblGrid>
              <a:tr h="712898"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chemeClr val="bg1"/>
                          </a:solidFill>
                          <a:effectLst/>
                        </a:rPr>
                        <a:t>S.N.</a:t>
                      </a:r>
                    </a:p>
                  </a:txBody>
                  <a:tcPr marL="36976" marR="36976" marT="36976" marB="36976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chemeClr val="bg1"/>
                          </a:solidFill>
                          <a:effectLst/>
                        </a:rPr>
                        <a:t>Function &amp; Purpose</a:t>
                      </a:r>
                    </a:p>
                  </a:txBody>
                  <a:tcPr marL="36976" marR="36976" marT="36976" marB="36976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99916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</a:p>
                  </a:txBody>
                  <a:tcPr marL="36976" marR="36976" marT="36976" marB="36976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 err="1">
                          <a:solidFill>
                            <a:schemeClr val="bg1"/>
                          </a:solidFill>
                          <a:effectLst/>
                        </a:rPr>
                        <a:t>strcpy</a:t>
                      </a:r>
                      <a:r>
                        <a:rPr lang="en-IN" sz="1400" b="1" dirty="0">
                          <a:solidFill>
                            <a:schemeClr val="bg1"/>
                          </a:solidFill>
                          <a:effectLst/>
                        </a:rPr>
                        <a:t>(s1, s2);</a:t>
                      </a:r>
                      <a:r>
                        <a:rPr lang="en-IN" sz="1400" dirty="0">
                          <a:solidFill>
                            <a:schemeClr val="bg1"/>
                          </a:solidFill>
                          <a:effectLst/>
                        </a:rPr>
                        <a:t/>
                      </a:r>
                      <a:br>
                        <a:rPr lang="en-IN" sz="14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IN" sz="1400" dirty="0">
                          <a:solidFill>
                            <a:schemeClr val="bg1"/>
                          </a:solidFill>
                          <a:effectLst/>
                        </a:rPr>
                        <a:t>Copies string s2 into string s1.</a:t>
                      </a:r>
                    </a:p>
                  </a:txBody>
                  <a:tcPr marL="36976" marR="36976" marT="36976" marB="36976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499916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</a:p>
                  </a:txBody>
                  <a:tcPr marL="36976" marR="36976" marT="36976" marB="36976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 err="1">
                          <a:solidFill>
                            <a:schemeClr val="bg1"/>
                          </a:solidFill>
                          <a:effectLst/>
                        </a:rPr>
                        <a:t>strcat</a:t>
                      </a:r>
                      <a:r>
                        <a:rPr lang="en-IN" sz="1400" b="1" dirty="0">
                          <a:solidFill>
                            <a:schemeClr val="bg1"/>
                          </a:solidFill>
                          <a:effectLst/>
                        </a:rPr>
                        <a:t>(s1, s2);</a:t>
                      </a:r>
                      <a:r>
                        <a:rPr lang="en-IN" sz="1400" dirty="0">
                          <a:solidFill>
                            <a:schemeClr val="bg1"/>
                          </a:solidFill>
                          <a:effectLst/>
                        </a:rPr>
                        <a:t/>
                      </a:r>
                      <a:br>
                        <a:rPr lang="en-IN" sz="14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IN" sz="1400" dirty="0">
                          <a:solidFill>
                            <a:schemeClr val="bg1"/>
                          </a:solidFill>
                          <a:effectLst/>
                        </a:rPr>
                        <a:t>Concatenates string s2 onto the end of string s1.</a:t>
                      </a:r>
                    </a:p>
                  </a:txBody>
                  <a:tcPr marL="36976" marR="36976" marT="36976" marB="36976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499916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</a:p>
                  </a:txBody>
                  <a:tcPr marL="36976" marR="36976" marT="36976" marB="36976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 err="1">
                          <a:solidFill>
                            <a:schemeClr val="bg1"/>
                          </a:solidFill>
                          <a:effectLst/>
                        </a:rPr>
                        <a:t>strlen</a:t>
                      </a:r>
                      <a:r>
                        <a:rPr lang="en-IN" sz="1400" b="1" dirty="0">
                          <a:solidFill>
                            <a:schemeClr val="bg1"/>
                          </a:solidFill>
                          <a:effectLst/>
                        </a:rPr>
                        <a:t>(s1);</a:t>
                      </a:r>
                      <a:r>
                        <a:rPr lang="en-IN" sz="1400" dirty="0">
                          <a:solidFill>
                            <a:schemeClr val="bg1"/>
                          </a:solidFill>
                          <a:effectLst/>
                        </a:rPr>
                        <a:t/>
                      </a:r>
                      <a:br>
                        <a:rPr lang="en-IN" sz="14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IN" sz="1400" dirty="0">
                          <a:solidFill>
                            <a:schemeClr val="bg1"/>
                          </a:solidFill>
                          <a:effectLst/>
                        </a:rPr>
                        <a:t>Returns the length of string s1.</a:t>
                      </a:r>
                    </a:p>
                  </a:txBody>
                  <a:tcPr marL="36976" marR="36976" marT="36976" marB="36976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712898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</a:p>
                  </a:txBody>
                  <a:tcPr marL="36976" marR="36976" marT="36976" marB="36976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 err="1">
                          <a:solidFill>
                            <a:schemeClr val="bg1"/>
                          </a:solidFill>
                          <a:effectLst/>
                        </a:rPr>
                        <a:t>strcmp</a:t>
                      </a:r>
                      <a:r>
                        <a:rPr lang="en-IN" sz="1400" b="1" dirty="0">
                          <a:solidFill>
                            <a:schemeClr val="bg1"/>
                          </a:solidFill>
                          <a:effectLst/>
                        </a:rPr>
                        <a:t>(s1, s2);</a:t>
                      </a:r>
                      <a:r>
                        <a:rPr lang="en-IN" sz="1400" dirty="0">
                          <a:solidFill>
                            <a:schemeClr val="bg1"/>
                          </a:solidFill>
                          <a:effectLst/>
                        </a:rPr>
                        <a:t/>
                      </a:r>
                      <a:br>
                        <a:rPr lang="en-IN" sz="14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IN" sz="1400" dirty="0">
                          <a:solidFill>
                            <a:schemeClr val="bg1"/>
                          </a:solidFill>
                          <a:effectLst/>
                        </a:rPr>
                        <a:t>Returns 0 if s1 and s2 are the same; less than 0 if s1&lt;s2; greater than 0 if s1&gt;s2.</a:t>
                      </a:r>
                    </a:p>
                  </a:txBody>
                  <a:tcPr marL="36976" marR="36976" marT="36976" marB="36976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712898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</a:p>
                  </a:txBody>
                  <a:tcPr marL="36976" marR="36976" marT="36976" marB="36976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 err="1">
                          <a:solidFill>
                            <a:schemeClr val="bg1"/>
                          </a:solidFill>
                          <a:effectLst/>
                        </a:rPr>
                        <a:t>strchr</a:t>
                      </a:r>
                      <a:r>
                        <a:rPr lang="en-IN" sz="1400" b="1" dirty="0">
                          <a:solidFill>
                            <a:schemeClr val="bg1"/>
                          </a:solidFill>
                          <a:effectLst/>
                        </a:rPr>
                        <a:t>(s1, </a:t>
                      </a:r>
                      <a:r>
                        <a:rPr lang="en-IN" sz="1400" b="1" dirty="0" err="1">
                          <a:solidFill>
                            <a:schemeClr val="bg1"/>
                          </a:solidFill>
                          <a:effectLst/>
                        </a:rPr>
                        <a:t>ch</a:t>
                      </a:r>
                      <a:r>
                        <a:rPr lang="en-IN" sz="1400" b="1" dirty="0">
                          <a:solidFill>
                            <a:schemeClr val="bg1"/>
                          </a:solidFill>
                          <a:effectLst/>
                        </a:rPr>
                        <a:t>);</a:t>
                      </a:r>
                      <a:r>
                        <a:rPr lang="en-IN" sz="1400" dirty="0">
                          <a:solidFill>
                            <a:schemeClr val="bg1"/>
                          </a:solidFill>
                          <a:effectLst/>
                        </a:rPr>
                        <a:t/>
                      </a:r>
                      <a:br>
                        <a:rPr lang="en-IN" sz="14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IN" sz="1400" dirty="0">
                          <a:solidFill>
                            <a:schemeClr val="bg1"/>
                          </a:solidFill>
                          <a:effectLst/>
                        </a:rPr>
                        <a:t>Returns a pointer to the first occurrence of character </a:t>
                      </a:r>
                      <a:r>
                        <a:rPr lang="en-IN" sz="1400" dirty="0" err="1">
                          <a:solidFill>
                            <a:schemeClr val="bg1"/>
                          </a:solidFill>
                          <a:effectLst/>
                        </a:rPr>
                        <a:t>ch</a:t>
                      </a:r>
                      <a:r>
                        <a:rPr lang="en-IN" sz="1400" dirty="0">
                          <a:solidFill>
                            <a:schemeClr val="bg1"/>
                          </a:solidFill>
                          <a:effectLst/>
                        </a:rPr>
                        <a:t> in string s1.</a:t>
                      </a:r>
                    </a:p>
                  </a:txBody>
                  <a:tcPr marL="36976" marR="36976" marT="36976" marB="36976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712898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</a:p>
                  </a:txBody>
                  <a:tcPr marL="36976" marR="36976" marT="36976" marB="36976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 err="1">
                          <a:solidFill>
                            <a:schemeClr val="bg1"/>
                          </a:solidFill>
                          <a:effectLst/>
                        </a:rPr>
                        <a:t>strstr</a:t>
                      </a:r>
                      <a:r>
                        <a:rPr lang="en-IN" sz="1400" b="1" dirty="0">
                          <a:solidFill>
                            <a:schemeClr val="bg1"/>
                          </a:solidFill>
                          <a:effectLst/>
                        </a:rPr>
                        <a:t>(s1, s2);</a:t>
                      </a:r>
                      <a:r>
                        <a:rPr lang="en-IN" sz="1400" dirty="0">
                          <a:solidFill>
                            <a:schemeClr val="bg1"/>
                          </a:solidFill>
                          <a:effectLst/>
                        </a:rPr>
                        <a:t/>
                      </a:r>
                      <a:br>
                        <a:rPr lang="en-IN" sz="14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IN" sz="1400" dirty="0">
                          <a:solidFill>
                            <a:schemeClr val="bg1"/>
                          </a:solidFill>
                          <a:effectLst/>
                        </a:rPr>
                        <a:t>Returns a pointer to the first occurrence of string s2 in string s1.</a:t>
                      </a:r>
                    </a:p>
                  </a:txBody>
                  <a:tcPr marL="36976" marR="36976" marT="36976" marB="36976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4542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69038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 smtClean="0"/>
              <a:t>#include &lt;</a:t>
            </a:r>
            <a:r>
              <a:rPr lang="en-IN" sz="1800" dirty="0" err="1" smtClean="0"/>
              <a:t>iostream</a:t>
            </a:r>
            <a:r>
              <a:rPr lang="en-IN" sz="1800" dirty="0" smtClean="0"/>
              <a:t>&gt;</a:t>
            </a:r>
          </a:p>
          <a:p>
            <a:pPr marL="0" indent="0">
              <a:buNone/>
            </a:pPr>
            <a:r>
              <a:rPr lang="en-IN" sz="1800" dirty="0" smtClean="0"/>
              <a:t>#include &lt;</a:t>
            </a:r>
            <a:r>
              <a:rPr lang="en-IN" sz="1800" dirty="0" err="1" smtClean="0"/>
              <a:t>cstring</a:t>
            </a:r>
            <a:r>
              <a:rPr lang="en-IN" sz="1800" dirty="0" smtClean="0"/>
              <a:t>&gt;</a:t>
            </a:r>
          </a:p>
          <a:p>
            <a:pPr marL="0" indent="0">
              <a:buNone/>
            </a:pPr>
            <a:r>
              <a:rPr lang="en-IN" sz="1800" dirty="0" smtClean="0"/>
              <a:t>using namespace </a:t>
            </a:r>
            <a:r>
              <a:rPr lang="en-IN" sz="1800" dirty="0" err="1" smtClean="0"/>
              <a:t>std</a:t>
            </a:r>
            <a:r>
              <a:rPr lang="en-IN" sz="1800" dirty="0" smtClean="0"/>
              <a:t>;</a:t>
            </a:r>
          </a:p>
          <a:p>
            <a:pPr marL="0" indent="0">
              <a:buNone/>
            </a:pPr>
            <a:r>
              <a:rPr lang="en-IN" sz="1800" dirty="0" err="1" smtClean="0"/>
              <a:t>int</a:t>
            </a:r>
            <a:r>
              <a:rPr lang="en-IN" sz="1800" dirty="0" smtClean="0"/>
              <a:t> main ()</a:t>
            </a:r>
          </a:p>
          <a:p>
            <a:pPr marL="0" indent="0">
              <a:buNone/>
            </a:pPr>
            <a:r>
              <a:rPr lang="en-IN" sz="1800" dirty="0" smtClean="0"/>
              <a:t>{</a:t>
            </a:r>
          </a:p>
          <a:p>
            <a:pPr marL="0" indent="0">
              <a:buNone/>
            </a:pPr>
            <a:r>
              <a:rPr lang="en-IN" sz="1800" dirty="0" smtClean="0"/>
              <a:t>   char str1[10] = "Hello";</a:t>
            </a:r>
          </a:p>
          <a:p>
            <a:pPr marL="0" indent="0">
              <a:buNone/>
            </a:pPr>
            <a:r>
              <a:rPr lang="en-IN" sz="1800" dirty="0" smtClean="0"/>
              <a:t>   char str2[10] = "World";</a:t>
            </a:r>
          </a:p>
          <a:p>
            <a:pPr marL="0" indent="0">
              <a:buNone/>
            </a:pPr>
            <a:r>
              <a:rPr lang="en-IN" sz="1800" dirty="0" smtClean="0"/>
              <a:t>   char str3[10];</a:t>
            </a:r>
          </a:p>
          <a:p>
            <a:pPr marL="0" indent="0">
              <a:buNone/>
            </a:pPr>
            <a:r>
              <a:rPr lang="en-IN" sz="1800" dirty="0" smtClean="0"/>
              <a:t>   </a:t>
            </a:r>
            <a:r>
              <a:rPr lang="en-IN" sz="1800" dirty="0" err="1" smtClean="0"/>
              <a:t>int</a:t>
            </a:r>
            <a:r>
              <a:rPr lang="en-IN" sz="1800" dirty="0" smtClean="0"/>
              <a:t>  </a:t>
            </a:r>
            <a:r>
              <a:rPr lang="en-IN" sz="1800" dirty="0" err="1" smtClean="0"/>
              <a:t>len</a:t>
            </a:r>
            <a:r>
              <a:rPr lang="en-IN" sz="1800" dirty="0" smtClean="0"/>
              <a:t> ;</a:t>
            </a:r>
          </a:p>
          <a:p>
            <a:pPr marL="0" indent="0">
              <a:buNone/>
            </a:pPr>
            <a:r>
              <a:rPr lang="en-IN" sz="1800" dirty="0" smtClean="0"/>
              <a:t>   // copy str1 into str3</a:t>
            </a:r>
          </a:p>
          <a:p>
            <a:pPr marL="0" indent="0">
              <a:buNone/>
            </a:pPr>
            <a:r>
              <a:rPr lang="en-IN" sz="1800" dirty="0" smtClean="0"/>
              <a:t>   </a:t>
            </a:r>
            <a:r>
              <a:rPr lang="en-IN" sz="1800" dirty="0" err="1" smtClean="0"/>
              <a:t>strcpy</a:t>
            </a:r>
            <a:r>
              <a:rPr lang="en-IN" sz="1800" dirty="0" smtClean="0"/>
              <a:t>( str3, str1);</a:t>
            </a:r>
          </a:p>
          <a:p>
            <a:pPr marL="0" indent="0">
              <a:buNone/>
            </a:pPr>
            <a:r>
              <a:rPr lang="en-IN" sz="1800" dirty="0" smtClean="0"/>
              <a:t>   </a:t>
            </a:r>
            <a:r>
              <a:rPr lang="en-IN" sz="1800" dirty="0" err="1" smtClean="0"/>
              <a:t>cout</a:t>
            </a:r>
            <a:r>
              <a:rPr lang="en-IN" sz="1800" dirty="0" smtClean="0"/>
              <a:t> &lt;&lt; "</a:t>
            </a:r>
            <a:r>
              <a:rPr lang="en-IN" sz="1800" dirty="0" err="1" smtClean="0"/>
              <a:t>strcpy</a:t>
            </a:r>
            <a:r>
              <a:rPr lang="en-IN" sz="1800" dirty="0" smtClean="0"/>
              <a:t>( str3, str1) : " &lt;&lt; str3 &lt;&lt; </a:t>
            </a:r>
            <a:r>
              <a:rPr lang="en-IN" sz="1800" dirty="0" err="1" smtClean="0"/>
              <a:t>endl</a:t>
            </a:r>
            <a:r>
              <a:rPr lang="en-IN" sz="1800" dirty="0" smtClean="0"/>
              <a:t>;</a:t>
            </a:r>
          </a:p>
          <a:p>
            <a:pPr marL="0" indent="0">
              <a:buNone/>
            </a:pPr>
            <a:r>
              <a:rPr lang="en-IN" sz="1800" dirty="0" smtClean="0"/>
              <a:t>   // concatenates str1 and str2</a:t>
            </a:r>
          </a:p>
          <a:p>
            <a:pPr marL="0" indent="0">
              <a:buNone/>
            </a:pPr>
            <a:r>
              <a:rPr lang="en-IN" sz="1800" dirty="0" smtClean="0"/>
              <a:t>   </a:t>
            </a:r>
            <a:r>
              <a:rPr lang="en-IN" sz="1800" dirty="0" err="1" smtClean="0"/>
              <a:t>strcat</a:t>
            </a:r>
            <a:r>
              <a:rPr lang="en-IN" sz="1800" dirty="0" smtClean="0"/>
              <a:t>( str1, str2);</a:t>
            </a:r>
          </a:p>
          <a:p>
            <a:pPr marL="0" indent="0">
              <a:buNone/>
            </a:pPr>
            <a:r>
              <a:rPr lang="en-IN" sz="1800" dirty="0" smtClean="0"/>
              <a:t>   </a:t>
            </a:r>
            <a:r>
              <a:rPr lang="en-IN" sz="1800" dirty="0" err="1" smtClean="0"/>
              <a:t>cout</a:t>
            </a:r>
            <a:r>
              <a:rPr lang="en-IN" sz="1800" dirty="0" smtClean="0"/>
              <a:t> &lt;&lt; "</a:t>
            </a:r>
            <a:r>
              <a:rPr lang="en-IN" sz="1800" dirty="0" err="1" smtClean="0"/>
              <a:t>strcat</a:t>
            </a:r>
            <a:r>
              <a:rPr lang="en-IN" sz="1800" dirty="0" smtClean="0"/>
              <a:t>( str1, str2): " &lt;&lt; str1 &lt;&lt; </a:t>
            </a:r>
            <a:r>
              <a:rPr lang="en-IN" sz="1800" dirty="0" err="1" smtClean="0"/>
              <a:t>endl</a:t>
            </a:r>
            <a:r>
              <a:rPr lang="en-IN" sz="1800" dirty="0" smtClean="0"/>
              <a:t>;</a:t>
            </a:r>
          </a:p>
          <a:p>
            <a:pPr marL="0" indent="0">
              <a:buNone/>
            </a:pPr>
            <a:r>
              <a:rPr lang="en-IN" sz="1800" dirty="0" smtClean="0"/>
              <a:t>   // total </a:t>
            </a:r>
            <a:r>
              <a:rPr lang="en-IN" sz="1800" dirty="0" err="1" smtClean="0"/>
              <a:t>lenghth</a:t>
            </a:r>
            <a:r>
              <a:rPr lang="en-IN" sz="1800" dirty="0" smtClean="0"/>
              <a:t> of str1 after concatenation</a:t>
            </a:r>
          </a:p>
          <a:p>
            <a:pPr marL="0" indent="0">
              <a:buNone/>
            </a:pPr>
            <a:r>
              <a:rPr lang="en-IN" sz="1800" dirty="0" smtClean="0"/>
              <a:t>   </a:t>
            </a:r>
            <a:r>
              <a:rPr lang="en-IN" sz="1800" dirty="0" err="1" smtClean="0"/>
              <a:t>len</a:t>
            </a:r>
            <a:r>
              <a:rPr lang="en-IN" sz="1800" dirty="0" smtClean="0"/>
              <a:t> = </a:t>
            </a:r>
            <a:r>
              <a:rPr lang="en-IN" sz="1800" dirty="0" err="1" smtClean="0"/>
              <a:t>strlen</a:t>
            </a:r>
            <a:r>
              <a:rPr lang="en-IN" sz="1800" dirty="0" smtClean="0"/>
              <a:t>(str1);</a:t>
            </a:r>
          </a:p>
          <a:p>
            <a:pPr marL="0" indent="0">
              <a:buNone/>
            </a:pPr>
            <a:r>
              <a:rPr lang="en-IN" sz="1800" dirty="0" smtClean="0"/>
              <a:t>   </a:t>
            </a:r>
            <a:r>
              <a:rPr lang="en-IN" sz="1800" dirty="0" err="1" smtClean="0"/>
              <a:t>cout</a:t>
            </a:r>
            <a:r>
              <a:rPr lang="en-IN" sz="1800" dirty="0" smtClean="0"/>
              <a:t> &lt;&lt; "</a:t>
            </a:r>
            <a:r>
              <a:rPr lang="en-IN" sz="1800" dirty="0" err="1" smtClean="0"/>
              <a:t>strlen</a:t>
            </a:r>
            <a:r>
              <a:rPr lang="en-IN" sz="1800" dirty="0" smtClean="0"/>
              <a:t>(str1) : " &lt;&lt; </a:t>
            </a:r>
            <a:r>
              <a:rPr lang="en-IN" sz="1800" dirty="0" err="1" smtClean="0"/>
              <a:t>len</a:t>
            </a:r>
            <a:r>
              <a:rPr lang="en-IN" sz="1800" dirty="0" smtClean="0"/>
              <a:t> &lt;&lt; </a:t>
            </a:r>
            <a:r>
              <a:rPr lang="en-IN" sz="1800" dirty="0" err="1" smtClean="0"/>
              <a:t>endl</a:t>
            </a:r>
            <a:r>
              <a:rPr lang="en-IN" sz="1800" dirty="0" smtClean="0"/>
              <a:t>;</a:t>
            </a:r>
          </a:p>
          <a:p>
            <a:pPr marL="0" indent="0">
              <a:buNone/>
            </a:pPr>
            <a:r>
              <a:rPr lang="en-IN" sz="1800" dirty="0" smtClean="0"/>
              <a:t>   return 0;</a:t>
            </a:r>
          </a:p>
          <a:p>
            <a:pPr marL="0" indent="0">
              <a:buNone/>
            </a:pPr>
            <a:r>
              <a:rPr lang="en-IN" sz="1800" dirty="0" smtClean="0"/>
              <a:t>}</a:t>
            </a:r>
          </a:p>
          <a:p>
            <a:pPr marL="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475790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 smtClean="0"/>
              <a:t>strcpy</a:t>
            </a:r>
            <a:r>
              <a:rPr lang="en-IN" dirty="0" smtClean="0"/>
              <a:t>( str3, str1) : Hello</a:t>
            </a:r>
          </a:p>
          <a:p>
            <a:pPr marL="0" indent="0">
              <a:buNone/>
            </a:pPr>
            <a:r>
              <a:rPr lang="en-IN" dirty="0" err="1" smtClean="0"/>
              <a:t>strcat</a:t>
            </a:r>
            <a:r>
              <a:rPr lang="en-IN" dirty="0" smtClean="0"/>
              <a:t>( str1, str2): </a:t>
            </a:r>
            <a:r>
              <a:rPr lang="en-IN" dirty="0" err="1" smtClean="0"/>
              <a:t>HelloWorld</a:t>
            </a: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strlen</a:t>
            </a:r>
            <a:r>
              <a:rPr lang="en-IN" dirty="0" smtClean="0"/>
              <a:t>(str1) : 10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292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3.xml><?xml version="1.0" encoding="utf-8"?>
<a:theme xmlns:a="http://schemas.openxmlformats.org/drawingml/2006/main" name="1_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4.xml><?xml version="1.0" encoding="utf-8"?>
<a:theme xmlns:a="http://schemas.openxmlformats.org/drawingml/2006/main" name="2_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5.xml><?xml version="1.0" encoding="utf-8"?>
<a:theme xmlns:a="http://schemas.openxmlformats.org/drawingml/2006/main" name="3_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3610</Words>
  <Application>Microsoft Office PowerPoint</Application>
  <PresentationFormat>Widescreen</PresentationFormat>
  <Paragraphs>1013</Paragraphs>
  <Slides>77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77</vt:i4>
      </vt:variant>
    </vt:vector>
  </HeadingPairs>
  <TitlesOfParts>
    <vt:vector size="97" baseType="lpstr">
      <vt:lpstr>SimSun</vt:lpstr>
      <vt:lpstr>SimSun</vt:lpstr>
      <vt:lpstr>Arial</vt:lpstr>
      <vt:lpstr>Calibri</vt:lpstr>
      <vt:lpstr>Calibri Light</vt:lpstr>
      <vt:lpstr>Century Gothic</vt:lpstr>
      <vt:lpstr>Courier New</vt:lpstr>
      <vt:lpstr>楷体_GB2312</vt:lpstr>
      <vt:lpstr>Lucida Console</vt:lpstr>
      <vt:lpstr>Monotype Sorts</vt:lpstr>
      <vt:lpstr>Symbol</vt:lpstr>
      <vt:lpstr>Times New Roman</vt:lpstr>
      <vt:lpstr>Verdana</vt:lpstr>
      <vt:lpstr>Wingdings</vt:lpstr>
      <vt:lpstr>Wingdings 3</vt:lpstr>
      <vt:lpstr>Office Theme</vt:lpstr>
      <vt:lpstr>Ion</vt:lpstr>
      <vt:lpstr>1_Ion</vt:lpstr>
      <vt:lpstr>2_Ion</vt:lpstr>
      <vt:lpstr>3_Ion</vt:lpstr>
      <vt:lpstr>Functions</vt:lpstr>
      <vt:lpstr>Introduction</vt:lpstr>
      <vt:lpstr>Function Declaration</vt:lpstr>
      <vt:lpstr>Function Definition</vt:lpstr>
      <vt:lpstr>Function Definition(Contd..)</vt:lpstr>
      <vt:lpstr>Calling Functions</vt:lpstr>
      <vt:lpstr>Calling a Function before defining</vt:lpstr>
      <vt:lpstr>Calling a standard operating system function</vt:lpstr>
      <vt:lpstr>Returning a Value</vt:lpstr>
      <vt:lpstr>PowerPoint Presentation</vt:lpstr>
      <vt:lpstr> Example</vt:lpstr>
      <vt:lpstr>Passing parameters to a C++ program</vt:lpstr>
      <vt:lpstr>Example</vt:lpstr>
      <vt:lpstr>  Argument Passing</vt:lpstr>
      <vt:lpstr>  Argument Passing(continued)</vt:lpstr>
      <vt:lpstr>  Argument Passing(continued)</vt:lpstr>
      <vt:lpstr> Argument Passing(continued)</vt:lpstr>
      <vt:lpstr>   Argument Passing(continued)</vt:lpstr>
      <vt:lpstr>  Argument Passing(continued)</vt:lpstr>
      <vt:lpstr> Argument Passing(continued)</vt:lpstr>
      <vt:lpstr>Argument Passing(continued)</vt:lpstr>
      <vt:lpstr>Argument Passing(continued)</vt:lpstr>
      <vt:lpstr>Argument Passing(continued)</vt:lpstr>
      <vt:lpstr>  Inline Functions</vt:lpstr>
      <vt:lpstr>Inline Functions(continued)</vt:lpstr>
      <vt:lpstr> Inline Functions(continued)</vt:lpstr>
      <vt:lpstr>  Inline Functions(continued)</vt:lpstr>
      <vt:lpstr>  Overloaded Function Names</vt:lpstr>
      <vt:lpstr>  Overloaded Function Names(continued)</vt:lpstr>
      <vt:lpstr> Overloaded Function Names(continued)</vt:lpstr>
      <vt:lpstr> Overloaded Function Names(continued)</vt:lpstr>
      <vt:lpstr>Overloaded Function Names(continued)</vt:lpstr>
      <vt:lpstr>Overloaded Function Names(continued)</vt:lpstr>
      <vt:lpstr> Overloaded Function Names(continued)</vt:lpstr>
      <vt:lpstr>Overloaded Function Names(continued)</vt:lpstr>
      <vt:lpstr>Overloaded Function Names(continued)</vt:lpstr>
      <vt:lpstr> Overloaded Function Names(continued)</vt:lpstr>
      <vt:lpstr> Default Arguments</vt:lpstr>
      <vt:lpstr>Default Arguments(continued)</vt:lpstr>
      <vt:lpstr> Default Arguments(continued)</vt:lpstr>
      <vt:lpstr>   Default Arguments(continued)</vt:lpstr>
      <vt:lpstr> Recursion </vt:lpstr>
      <vt:lpstr> Recursion </vt:lpstr>
      <vt:lpstr> Recursion </vt:lpstr>
      <vt:lpstr> Example Using Recursion: The Fibonacci Series</vt:lpstr>
      <vt:lpstr>  The Fibonacci Series</vt:lpstr>
      <vt:lpstr>Storage class: Concept</vt:lpstr>
      <vt:lpstr>More about Storage Classes</vt:lpstr>
      <vt:lpstr> Structure of .exe file in the memory </vt:lpstr>
      <vt:lpstr>Complete View : Storage Classes</vt:lpstr>
      <vt:lpstr>C++ Arrays </vt:lpstr>
      <vt:lpstr>C++ Arrays</vt:lpstr>
      <vt:lpstr>Memory and Arrays</vt:lpstr>
      <vt:lpstr>C++ Arrays start at 0 !!!!!!!</vt:lpstr>
      <vt:lpstr>Array Subscripts</vt:lpstr>
      <vt:lpstr>Array Example</vt:lpstr>
      <vt:lpstr>Declaring An Array</vt:lpstr>
      <vt:lpstr>Initialization</vt:lpstr>
      <vt:lpstr>An array printing function</vt:lpstr>
      <vt:lpstr>What if we want to print doubles?</vt:lpstr>
      <vt:lpstr>print_array() for doubles</vt:lpstr>
      <vt:lpstr>Which is it?</vt:lpstr>
      <vt:lpstr>Arrays of char are special</vt:lpstr>
      <vt:lpstr>Arrays of Arrays</vt:lpstr>
      <vt:lpstr>2-D Array: int A[3][4]</vt:lpstr>
      <vt:lpstr>2-D Memory Organization</vt:lpstr>
      <vt:lpstr>2-D Array Example</vt:lpstr>
      <vt:lpstr>2-D Array (cont.)</vt:lpstr>
      <vt:lpstr>Another way</vt:lpstr>
      <vt:lpstr>Arrays and pass-by-reference</vt:lpstr>
      <vt:lpstr>A Bad Idea</vt:lpstr>
      <vt:lpstr>C++ does not have bounds checking</vt:lpstr>
      <vt:lpstr>1 D Character Array -&gt;String   </vt:lpstr>
      <vt:lpstr>Standard library function for strings</vt:lpstr>
      <vt:lpstr>   Strings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Functions</dc:title>
  <dc:creator>ashutosh gupta</dc:creator>
  <cp:lastModifiedBy>ashutosh gupta</cp:lastModifiedBy>
  <cp:revision>15</cp:revision>
  <dcterms:created xsi:type="dcterms:W3CDTF">2015-02-22T03:44:21Z</dcterms:created>
  <dcterms:modified xsi:type="dcterms:W3CDTF">2015-02-22T18:31:20Z</dcterms:modified>
</cp:coreProperties>
</file>